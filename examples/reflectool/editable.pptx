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adf8570654fe2" /><Relationship Type="http://schemas.openxmlformats.org/officeDocument/2006/relationships/extended-properties" Target="/docProps/app.xml" Id="R858e3e98e0fb4b6c" /><Relationship Type="http://schemas.openxmlformats.org/officeDocument/2006/relationships/officeDocument" Target="/ppt/presentation.xml" Id="R08d57025eaaf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54781cf5df4385"/>
  </p:sldMasterIdLst>
  <p:notesMasterIdLst>
    <p:notesMasterId xmlns:r="http://schemas.openxmlformats.org/officeDocument/2006/relationships" r:id="Rf78a7692860d4b27"/>
  </p:notesMasterIdLst>
  <p:sldIdLst>
    <p:sldId xmlns:r="http://schemas.openxmlformats.org/officeDocument/2006/relationships" id="256" r:id="R0e2f69ee571d4ca9"/>
  </p:sldIdLst>
  <p:sldSz cx="15030450" cy="10229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431832c3834a6d" /><Relationship Type="http://schemas.openxmlformats.org/officeDocument/2006/relationships/slideMaster" Target="/ppt/slideMasters/slideMaster1.xml" Id="Ra354781cf5df4385" /><Relationship Type="http://schemas.openxmlformats.org/officeDocument/2006/relationships/notesMaster" Target="/ppt/notesMasters/notesMaster1.xml" Id="Rf78a7692860d4b27" /><Relationship Type="http://schemas.openxmlformats.org/officeDocument/2006/relationships/presProps" Target="/ppt/presProps.xml" Id="Rb626111f044349b9" /><Relationship Type="http://schemas.openxmlformats.org/officeDocument/2006/relationships/tableStyles" Target="/ppt/tableStyles.xml" Id="R42277bf111f34f5e" /><Relationship Type="http://schemas.openxmlformats.org/officeDocument/2006/relationships/slide" Target="/ppt/slides/slide1.xml" Id="R0e2f69ee571d4c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d8614ce0647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96274457624d36" /><Relationship Type="http://schemas.openxmlformats.org/officeDocument/2006/relationships/notesMaster" Target="/ppt/notesMasters/notesMaster1.xml" Id="R25df3039b3e0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Figure 2, ReflecTool: Towards Reflection-Aware Tool-Augmented Clinical Agents, Yusheng Liao, Shuyang Jiang, Yanfeng Wang and Yu Wang, ACL 2025. https://aclanthology.org/2025.acl-long.663/ (CC BY 4.0). Rebuilt as native editable text, panels, highlights, candidate nodes and paths; website icons are independent replaceable images. Source abbreviations and [...] retained; no omitted clinical detail inferred. Fonts: Comic Sans MS for diagram labels, Arial for body text. Some semantic icons are substituted with a coherent website collection; brand names retain their identity. Continuous paths have fixed geometry and need adjustment if modules move.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Asset credits and source records:</a:t>
            </a:r>
          </a:p>
          <a:p xmlns:a="http://schemas.openxmlformats.org/drawingml/2006/main">
            <a:r>
              <a:t>robot: OpenMoji contributors / HfG Schwäbisch Gmünd — https://github.com/hfg-gmuend/openmoji/blob/master/color/svg/1F916.svg</a:t>
            </a:r>
          </a:p>
          <a:p xmlns:a="http://schemas.openxmlformats.org/drawingml/2006/main">
            <a:r>
              <a:t>CC BY-SA 4.0; None; raster format conversion only; transparent exterior padding cropped; artwork unchanged</a:t>
            </a:r>
          </a:p>
          <a:p xmlns:a="http://schemas.openxmlformats.org/drawingml/2006/main">
            <a:r>
              <a:t>reflector: OpenMoji contributors / HfG Schwäbisch Gmünd — https://github.com/hfg-gmuend/openmoji/blob/master/color/svg/1F4AC.svg</a:t>
            </a:r>
          </a:p>
          <a:p xmlns:a="http://schemas.openxmlformats.org/drawingml/2006/main">
            <a:r>
              <a:t>CC BY-SA 4.0; None; raster format conversion only; transparent exterior padding cropped; artwork unchanged</a:t>
            </a:r>
          </a:p>
          <a:p xmlns:a="http://schemas.openxmlformats.org/drawingml/2006/main">
            <a:r>
              <a:t>toolbox: OpenMoji contributors / HfG Schwäbisch Gmünd — https://github.com/hfg-gmuend/openmoji/blob/master/color/svg/1F9F0.svg</a:t>
            </a:r>
          </a:p>
          <a:p xmlns:a="http://schemas.openxmlformats.org/drawingml/2006/main">
            <a:r>
              <a:t>CC BY-SA 4.0; None; raster format conversion only; transparent exterior padding cropped; artwork unchanged</a:t>
            </a:r>
          </a:p>
          <a:p xmlns:a="http://schemas.openxmlformats.org/drawingml/2006/main">
            <a:r>
              <a:t>think: OpenMoji contributors / HfG Schwäbisch Gmünd — https://github.com/hfg-gmuend/openmoji/blob/master/color/svg/1F4A1.svg</a:t>
            </a:r>
          </a:p>
          <a:p xmlns:a="http://schemas.openxmlformats.org/drawingml/2006/main">
            <a:r>
              <a:t>CC BY-SA 4.0; None; raster format conversion only; transparent exterior padding cropped; artwork unchanged</a:t>
            </a:r>
          </a:p>
          <a:p xmlns:a="http://schemas.openxmlformats.org/drawingml/2006/main">
            <a:r>
              <a:t>memory: OpenMoji contributors / HfG Schwäbisch Gmünd — https://github.com/hfg-gmuend/openmoji/blob/master/color/svg/1F9E0.svg</a:t>
            </a:r>
          </a:p>
          <a:p xmlns:a="http://schemas.openxmlformats.org/drawingml/2006/main">
            <a:r>
              <a:t>CC BY-SA 4.0; None; raster format conversion only; transparent exterior padding cropped; artwork unchanged</a:t>
            </a:r>
          </a:p>
          <a:p xmlns:a="http://schemas.openxmlformats.org/drawingml/2006/main">
            <a:r>
              <a:t>medrag: OpenMoji contributors / HfG Schwäbisch Gmünd — https://github.com/hfg-gmuend/openmoji/blob/master/color/svg/1F4D6.svg</a:t>
            </a:r>
          </a:p>
          <a:p xmlns:a="http://schemas.openxmlformats.org/drawingml/2006/main">
            <a:r>
              <a:t>CC BY-SA 4.0; None; raster format conversion only; transparent exterior padding cropped; artwork unchanged</a:t>
            </a:r>
          </a:p>
          <a:p xmlns:a="http://schemas.openxmlformats.org/drawingml/2006/main">
            <a:r>
              <a:t>calculator: Pictogrammers / Material Design Icons contributors — https://pictogrammers.com/library/mdi/icon/calculator-variant-outline/</a:t>
            </a:r>
          </a:p>
          <a:p xmlns:a="http://schemas.openxmlformats.org/drawingml/2006/main">
            <a:r>
              <a:t>Apache 2.0; None; original PNG; transparent exterior padding cropped; artwork unchanged</a:t>
            </a:r>
          </a:p>
          <a:p xmlns:a="http://schemas.openxmlformats.org/drawingml/2006/main">
            <a:r>
              <a:t>umls: Pictogrammers / Material Design Icons contributors — https://pictogrammers.com/library/mdi/icon/graph-outline/</a:t>
            </a:r>
          </a:p>
          <a:p xmlns:a="http://schemas.openxmlformats.org/drawingml/2006/main">
            <a:r>
              <a:t>Apache 2.0; None; SVG-to-PNG format conversion only; transparent exterior padding cropped; artwork unchanged</a:t>
            </a:r>
          </a:p>
          <a:p xmlns:a="http://schemas.openxmlformats.org/drawingml/2006/main">
            <a:r>
              <a:t>bing: Microsoft Corporation; SVG optimized by VulcanSphere — https://commons.wikimedia.org/wiki/File:Bing_logo_(2016).svg</a:t>
            </a:r>
          </a:p>
          <a:p xmlns:a="http://schemas.openxmlformats.org/drawingml/2006/main">
            <a:r>
              <a:t>Public-domain simple text/geometric logo per Commons; trademark identity retained; Isolated the original b-symbol path from downloaded original SVG; preserved path geometry, fill and aspect ratio; no redrawing. Full source retained as assets/bing-full.svg. PNG conversion only thereafter.; transparent exterior padding cropped; artwork unchanged
Public showcase adaptation: calculator symbol replaced with Pictogrammers calculator-variant-outline (Apache 2.0). Adaptation offered under CC BY-SA 4.0; original figure retains CC BY 4.0; trademark rights retained. https://creativecommons.org/licenses/by-sa/4.0/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955e0b21f41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f8ce3f77e4f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e7cb044a142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72717b52448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92b147b864e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34e4a2b2243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639532-B407-4D83-9E8C-A5418B5816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3045" y="3864610"/>
            <a:ext cx="12024360" cy="1477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03886D-9565-41D1-9E22-221E192655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54568" y="5626418"/>
            <a:ext cx="10521315" cy="113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6FA044-F668-4912-8ED0-C6255D1DE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3045" y="4262438"/>
            <a:ext cx="1202436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2AEF2-1CCA-4474-9AEA-DE72E447E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5463" y="795655"/>
            <a:ext cx="13339524" cy="125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837653-3AAC-48EC-B2F6-DBA7C6BB67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463" y="2841625"/>
            <a:ext cx="13339524" cy="636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821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7582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3343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09105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84866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0627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36388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12150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87911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4C1E3F-CB80-459E-9661-8CFE4C537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5463" y="795655"/>
            <a:ext cx="13339524" cy="125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E2D798-44D1-4077-98C5-5DE86FBA52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463" y="2841625"/>
            <a:ext cx="6200061" cy="636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821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7582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3343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09105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84866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0627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36388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12150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87911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CE8BD18-0030-435E-9FE3-9DCC20810B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984927" y="2841625"/>
            <a:ext cx="6200061" cy="636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821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7582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3343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09105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84866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0627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36388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12150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87911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58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6498E-16F3-428B-AB5D-A026930B5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5463" y="795655"/>
            <a:ext cx="13339524" cy="125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F9BA32-EBAB-41A0-A8E3-B29CF29DFE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463" y="2841625"/>
            <a:ext cx="6200061" cy="636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821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7582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3343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09105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84866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0627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36388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12150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87911" indent="-281821" algn="l">
              <a:lnSpc>
                <a:spcPct val="110000"/>
              </a:lnSpc>
              <a:spcBef>
                <a:spcPts val="0"/>
              </a:spcBef>
              <a:spcAft>
                <a:spcPts val="1479"/>
              </a:spcAft>
              <a:buChar char="•"/>
              <a:defRPr sz="277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5ba3aa8f1d4660" /><Relationship Type="http://schemas.openxmlformats.org/officeDocument/2006/relationships/slideLayout" Target="/ppt/slideLayouts/slideLayout1.xml" Id="Rdcdd1034c080455c" /><Relationship Type="http://schemas.openxmlformats.org/officeDocument/2006/relationships/slideLayout" Target="/ppt/slideLayouts/slideLayout2.xml" Id="R29b11b8197a34385" /><Relationship Type="http://schemas.openxmlformats.org/officeDocument/2006/relationships/slideLayout" Target="/ppt/slideLayouts/slideLayout3.xml" Id="Rbcd28245981e46f7" /><Relationship Type="http://schemas.openxmlformats.org/officeDocument/2006/relationships/slideLayout" Target="/ppt/slideLayouts/slideLayout4.xml" Id="Re2324c9702f34f25" /><Relationship Type="http://schemas.openxmlformats.org/officeDocument/2006/relationships/slideLayout" Target="/ppt/slideLayouts/slideLayout5.xml" Id="R3249845c06604a71" /><Relationship Type="http://schemas.openxmlformats.org/officeDocument/2006/relationships/slideLayout" Target="/ppt/slideLayouts/slideLayout6.xml" Id="Rd31b221f26d7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d1034c080455c"/>
    <p:sldLayoutId xmlns:r="http://schemas.openxmlformats.org/officeDocument/2006/relationships" id="2147483650" r:id="R29b11b8197a34385"/>
    <p:sldLayoutId xmlns:r="http://schemas.openxmlformats.org/officeDocument/2006/relationships" id="2147483651" r:id="Rbcd28245981e46f7"/>
    <p:sldLayoutId xmlns:r="http://schemas.openxmlformats.org/officeDocument/2006/relationships" id="2147483652" r:id="Re2324c9702f34f25"/>
    <p:sldLayoutId xmlns:r="http://schemas.openxmlformats.org/officeDocument/2006/relationships" id="2147483653" r:id="R3249845c06604a71"/>
    <p:sldLayoutId xmlns:r="http://schemas.openxmlformats.org/officeDocument/2006/relationships" id="2147483654" r:id="Rd31b221f26d7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82da693e74315" /><Relationship Type="http://schemas.openxmlformats.org/officeDocument/2006/relationships/image" Target="/ppt/media/image.png" Id="R1f76f775514d4af3" /><Relationship Type="http://schemas.openxmlformats.org/officeDocument/2006/relationships/image" Target="/ppt/media/image2.png" Id="R6178deaade8b44af" /><Relationship Type="http://schemas.openxmlformats.org/officeDocument/2006/relationships/image" Target="/ppt/media/image3.png" Id="R4d8564b980294895" /><Relationship Type="http://schemas.openxmlformats.org/officeDocument/2006/relationships/image" Target="/ppt/media/image4.png" Id="Raea63f78ed9442d0" /><Relationship Type="http://schemas.openxmlformats.org/officeDocument/2006/relationships/image" Target="/ppt/media/image5.png" Id="R8c9950159d3e4c2e" /><Relationship Type="http://schemas.openxmlformats.org/officeDocument/2006/relationships/image" Target="/ppt/media/image6.png" Id="R68bbc3b0d42d4b2d" /><Relationship Type="http://schemas.openxmlformats.org/officeDocument/2006/relationships/image" Target="/ppt/media/image7.png" Id="Rebfcb88c35d641df" /><Relationship Type="http://schemas.openxmlformats.org/officeDocument/2006/relationships/image" Target="/ppt/media/image8.png" Id="R4e7baee3104c4511" /><Relationship Type="http://schemas.openxmlformats.org/officeDocument/2006/relationships/image" Target="/ppt/media/image9.png" Id="R5aae57488a6a4c31" /><Relationship Type="http://schemas.openxmlformats.org/officeDocument/2006/relationships/image" Target="/ppt/media/image10.png" Id="R6c7c6124e6c94fec" /><Relationship Type="http://schemas.openxmlformats.org/officeDocument/2006/relationships/image" Target="/ppt/media/image11.png" Id="Rfd8658372880413a" /><Relationship Type="http://schemas.openxmlformats.org/officeDocument/2006/relationships/image" Target="/ppt/media/image12.png" Id="Ra70725f50b184cbe" /><Relationship Type="http://schemas.openxmlformats.org/officeDocument/2006/relationships/image" Target="/ppt/media/image13.png" Id="Rf88d9284f7b2412b" /><Relationship Type="http://schemas.openxmlformats.org/officeDocument/2006/relationships/image" Target="/ppt/media/image14.png" Id="Rd6cf23ef3b6d4182" /><Relationship Type="http://schemas.openxmlformats.org/officeDocument/2006/relationships/image" Target="/ppt/media/image15.png" Id="Rc43b18a4e0e04b74" /><Relationship Type="http://schemas.openxmlformats.org/officeDocument/2006/relationships/image" Target="/ppt/media/image16.png" Id="R4e99e41d597f447e" /><Relationship Type="http://schemas.openxmlformats.org/officeDocument/2006/relationships/image" Target="/ppt/media/image17.png" Id="Re472c8b52dfe444a" /><Relationship Type="http://schemas.openxmlformats.org/officeDocument/2006/relationships/image" Target="/ppt/media/image18.png" Id="Radf6a54ba97d49c0" /><Relationship Type="http://schemas.openxmlformats.org/officeDocument/2006/relationships/image" Target="/ppt/media/image19.png" Id="R163b1b8e56aa49f8" /><Relationship Type="http://schemas.openxmlformats.org/officeDocument/2006/relationships/image" Target="/ppt/media/image20.png" Id="Rcb73281ad15b4afb" /><Relationship Type="http://schemas.openxmlformats.org/officeDocument/2006/relationships/image" Target="/ppt/media/image21.png" Id="Rf30da98c8061444c" /><Relationship Type="http://schemas.openxmlformats.org/officeDocument/2006/relationships/image" Target="/ppt/media/image22.png" Id="Radae10b5a1d34633" /><Relationship Type="http://schemas.openxmlformats.org/officeDocument/2006/relationships/image" Target="/ppt/media/image23.png" Id="Raf08315fe4fc41f1" /><Relationship Type="http://schemas.openxmlformats.org/officeDocument/2006/relationships/notesSlide" Target="/ppt/notesSlides/notesSlide1.xml" Id="R45ccfffdede54d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2" name="optimization-trial-region">
            <a:extLst xmlns:a="http://schemas.openxmlformats.org/drawingml/2006/main">
              <a:ext uri="{FF2B5EF4-FFF2-40B4-BE49-F238E27FC236}">
                <a16:creationId xmlns:a16="http://schemas.microsoft.com/office/drawing/2014/main" id="{D2B90C1D-2EBC-4406-A744-F7A954AE4E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0525" y="552450"/>
            <a:ext cx="102584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B"/>
          </a:solidFill>
          <a:ln xmlns:a="http://schemas.openxmlformats.org/drawingml/2006/main" w="19050">
            <a:solidFill>
              <a:srgbClr val="E10000"/>
            </a:solidFill>
            <a:prstDash val="dash"/>
          </a:ln>
        </p:spPr>
      </p:sp>
      <p:sp>
        <p:nvSpPr>
          <p:cNvPr id="2" name="optimization-refinement-region">
            <a:extLst xmlns:a="http://schemas.openxmlformats.org/drawingml/2006/main">
              <a:ext uri="{FF2B5EF4-FFF2-40B4-BE49-F238E27FC236}">
                <a16:creationId xmlns:a16="http://schemas.microsoft.com/office/drawing/2014/main" id="{18857072-50C2-4028-A64E-D8C1C5F794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3790950"/>
            <a:ext cx="102584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EFB"/>
          </a:solidFill>
          <a:ln xmlns:a="http://schemas.openxmlformats.org/drawingml/2006/main" w="19050">
            <a:solidFill>
              <a:srgbClr val="628C48"/>
            </a:solidFill>
            <a:prstDash val="dash"/>
          </a:ln>
        </p:spPr>
      </p:sp>
      <p:sp>
        <p:nvSpPr>
          <p:cNvPr id="3" name="experience-region">
            <a:extLst xmlns:a="http://schemas.openxmlformats.org/drawingml/2006/main">
              <a:ext uri="{FF2B5EF4-FFF2-40B4-BE49-F238E27FC236}">
                <a16:creationId xmlns:a16="http://schemas.microsoft.com/office/drawing/2014/main" id="{7D58417A-CB20-4A1B-9386-83BB88A144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96575" y="552450"/>
            <a:ext cx="3886200" cy="608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19050">
            <a:solidFill>
              <a:srgbClr val="41659B"/>
            </a:solidFill>
            <a:prstDash val="dash"/>
          </a:ln>
        </p:spPr>
      </p:sp>
      <p:sp>
        <p:nvSpPr>
          <p:cNvPr id="4" name="optimization-stage-title">
            <a:extLst xmlns:a="http://schemas.openxmlformats.org/drawingml/2006/main">
              <a:ext uri="{FF2B5EF4-FFF2-40B4-BE49-F238E27FC236}">
                <a16:creationId xmlns:a16="http://schemas.microsoft.com/office/drawing/2014/main" id="{40524343-347B-4A65-B1B1-B1CDEB6BEB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1047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Optimization-Stage</a:t>
            </a:r>
          </a:p>
        </p:txBody>
      </p:sp>
      <p:sp>
        <p:nvSpPr>
          <p:cNvPr id="5" name="optimization-title-underline">
            <a:extLst xmlns:a="http://schemas.openxmlformats.org/drawingml/2006/main">
              <a:ext uri="{FF2B5EF4-FFF2-40B4-BE49-F238E27FC236}">
                <a16:creationId xmlns:a16="http://schemas.microsoft.com/office/drawing/2014/main" id="{1D26662E-6828-4481-826C-9E6F409DD0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485775"/>
            <a:ext cx="2828925" cy="953"/>
          </a:xfrm>
          <a:custGeom xmlns:a="http://schemas.openxmlformats.org/drawingml/2006/main">
            <a:pathLst>
              <a:path w="2828925" h="953">
                <a:moveTo>
                  <a:pt x="0" y="0"/>
                </a:moveTo>
                <a:lnTo>
                  <a:pt x="2828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6" name="inference-stage-title">
            <a:extLst xmlns:a="http://schemas.openxmlformats.org/drawingml/2006/main">
              <a:ext uri="{FF2B5EF4-FFF2-40B4-BE49-F238E27FC236}">
                <a16:creationId xmlns:a16="http://schemas.microsoft.com/office/drawing/2014/main" id="{28E7A2AA-9DB1-4C27-BB28-4798906796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" y="674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4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Inference-Stage</a:t>
            </a:r>
          </a:p>
        </p:txBody>
      </p:sp>
      <p:sp>
        <p:nvSpPr>
          <p:cNvPr id="7" name="inference-title-underline">
            <a:extLst xmlns:a="http://schemas.openxmlformats.org/drawingml/2006/main">
              <a:ext uri="{FF2B5EF4-FFF2-40B4-BE49-F238E27FC236}">
                <a16:creationId xmlns:a16="http://schemas.microsoft.com/office/drawing/2014/main" id="{E1B47BE9-CB9C-46BF-A6BC-D76E7D33612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" y="7115175"/>
            <a:ext cx="2409825" cy="953"/>
          </a:xfrm>
          <a:custGeom xmlns:a="http://schemas.openxmlformats.org/drawingml/2006/main">
            <a:pathLst>
              <a:path w="2409825" h="953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answer-to-reflector-body">
            <a:extLst xmlns:a="http://schemas.openxmlformats.org/drawingml/2006/main">
              <a:ext uri="{FF2B5EF4-FFF2-40B4-BE49-F238E27FC236}">
                <a16:creationId xmlns:a16="http://schemas.microsoft.com/office/drawing/2014/main" id="{765FFFA0-8EF7-49B4-B19A-07F89FD511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43450" y="942975"/>
            <a:ext cx="1000125" cy="257175"/>
          </a:xfrm>
          <a:custGeom xmlns:a="http://schemas.openxmlformats.org/drawingml/2006/main">
            <a:pathLst>
              <a:path w="1000125" h="257175">
                <a:moveTo>
                  <a:pt x="0" y="0"/>
                </a:moveTo>
                <a:lnTo>
                  <a:pt x="1000125" y="0"/>
                </a:lnTo>
                <a:lnTo>
                  <a:pt x="100012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E78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swer-to-reflector-chevron-0">
            <a:extLst xmlns:a="http://schemas.openxmlformats.org/drawingml/2006/main">
              <a:ext uri="{FF2B5EF4-FFF2-40B4-BE49-F238E27FC236}">
                <a16:creationId xmlns:a16="http://schemas.microsoft.com/office/drawing/2014/main" id="{77EBC7A5-D7B3-46B2-993C-53FD83CF16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91075" y="95250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123825" y="0"/>
                </a:moveTo>
                <a:lnTo>
                  <a:pt x="0" y="119063"/>
                </a:lnTo>
                <a:lnTo>
                  <a:pt x="12382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0" name="answer-to-reflector-chevron-1">
            <a:extLst xmlns:a="http://schemas.openxmlformats.org/drawingml/2006/main">
              <a:ext uri="{FF2B5EF4-FFF2-40B4-BE49-F238E27FC236}">
                <a16:creationId xmlns:a16="http://schemas.microsoft.com/office/drawing/2014/main" id="{0261B4F9-09E1-40C3-99A7-CAF41C9EA0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95875" y="95250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123825" y="0"/>
                </a:moveTo>
                <a:lnTo>
                  <a:pt x="0" y="119063"/>
                </a:lnTo>
                <a:lnTo>
                  <a:pt x="12382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1" name="answer-to-reflector-chevron-2">
            <a:extLst xmlns:a="http://schemas.openxmlformats.org/drawingml/2006/main">
              <a:ext uri="{FF2B5EF4-FFF2-40B4-BE49-F238E27FC236}">
                <a16:creationId xmlns:a16="http://schemas.microsoft.com/office/drawing/2014/main" id="{412FFDDB-A0EA-4B74-B631-C1238E0828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00675" y="95250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123825" y="0"/>
                </a:moveTo>
                <a:lnTo>
                  <a:pt x="0" y="119063"/>
                </a:lnTo>
                <a:lnTo>
                  <a:pt x="12382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2" name="reflector-to-reflection-body">
            <a:extLst xmlns:a="http://schemas.openxmlformats.org/drawingml/2006/main">
              <a:ext uri="{FF2B5EF4-FFF2-40B4-BE49-F238E27FC236}">
                <a16:creationId xmlns:a16="http://schemas.microsoft.com/office/drawing/2014/main" id="{1B985BCB-948C-4234-A397-9A01ADDE7C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1304925"/>
            <a:ext cx="257175" cy="314325"/>
          </a:xfrm>
          <a:custGeom xmlns:a="http://schemas.openxmlformats.org/drawingml/2006/main">
            <a:pathLst>
              <a:path w="257175" h="314325">
                <a:moveTo>
                  <a:pt x="0" y="0"/>
                </a:moveTo>
                <a:lnTo>
                  <a:pt x="257175" y="0"/>
                </a:lnTo>
                <a:lnTo>
                  <a:pt x="257175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E78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flector-to-reflection-chevron-0">
            <a:extLst xmlns:a="http://schemas.openxmlformats.org/drawingml/2006/main">
              <a:ext uri="{FF2B5EF4-FFF2-40B4-BE49-F238E27FC236}">
                <a16:creationId xmlns:a16="http://schemas.microsoft.com/office/drawing/2014/main" id="{0F51A11E-646E-4341-9BF6-EC76167B05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52725" y="13620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19063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4" name="reflection-to-agent-body">
            <a:extLst xmlns:a="http://schemas.openxmlformats.org/drawingml/2006/main">
              <a:ext uri="{FF2B5EF4-FFF2-40B4-BE49-F238E27FC236}">
                <a16:creationId xmlns:a16="http://schemas.microsoft.com/office/drawing/2014/main" id="{34028BA7-8A40-4C5A-8C49-D226936581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2667000"/>
            <a:ext cx="257175" cy="295275"/>
          </a:xfrm>
          <a:custGeom xmlns:a="http://schemas.openxmlformats.org/drawingml/2006/main">
            <a:pathLst>
              <a:path w="257175" h="295275">
                <a:moveTo>
                  <a:pt x="0" y="0"/>
                </a:moveTo>
                <a:lnTo>
                  <a:pt x="257175" y="0"/>
                </a:lnTo>
                <a:lnTo>
                  <a:pt x="257175" y="295275"/>
                </a:lnTo>
                <a:lnTo>
                  <a:pt x="0" y="295275"/>
                </a:lnTo>
                <a:close/>
              </a:path>
            </a:pathLst>
          </a:custGeom>
          <a:solidFill xmlns:a="http://schemas.openxmlformats.org/drawingml/2006/main">
            <a:srgbClr val="E78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flection-to-agent-chevron-0">
            <a:extLst xmlns:a="http://schemas.openxmlformats.org/drawingml/2006/main">
              <a:ext uri="{FF2B5EF4-FFF2-40B4-BE49-F238E27FC236}">
                <a16:creationId xmlns:a16="http://schemas.microsoft.com/office/drawing/2014/main" id="{69073B2D-A312-45CC-B1C9-BB1516CDC0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52725" y="2724150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19063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6" name="agent-to-first-trajectory-body">
            <a:extLst xmlns:a="http://schemas.openxmlformats.org/drawingml/2006/main">
              <a:ext uri="{FF2B5EF4-FFF2-40B4-BE49-F238E27FC236}">
                <a16:creationId xmlns:a16="http://schemas.microsoft.com/office/drawing/2014/main" id="{08BADA0E-5628-478F-A763-AE1E14F271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05350" y="3171825"/>
            <a:ext cx="1038225" cy="257175"/>
          </a:xfrm>
          <a:custGeom xmlns:a="http://schemas.openxmlformats.org/drawingml/2006/main">
            <a:pathLst>
              <a:path w="1038225" h="257175">
                <a:moveTo>
                  <a:pt x="0" y="0"/>
                </a:moveTo>
                <a:lnTo>
                  <a:pt x="1038225" y="0"/>
                </a:lnTo>
                <a:lnTo>
                  <a:pt x="103822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E78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gent-to-first-trajectory-chevron-0">
            <a:extLst xmlns:a="http://schemas.openxmlformats.org/drawingml/2006/main">
              <a:ext uri="{FF2B5EF4-FFF2-40B4-BE49-F238E27FC236}">
                <a16:creationId xmlns:a16="http://schemas.microsoft.com/office/drawing/2014/main" id="{012993B8-8C7D-450B-84D1-9538EE4130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0" y="31813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8" name="agent-to-first-trajectory-chevron-1">
            <a:extLst xmlns:a="http://schemas.openxmlformats.org/drawingml/2006/main">
              <a:ext uri="{FF2B5EF4-FFF2-40B4-BE49-F238E27FC236}">
                <a16:creationId xmlns:a16="http://schemas.microsoft.com/office/drawing/2014/main" id="{5C3A6287-EF40-49B6-AE9B-DEC829E9E96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67300" y="31813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9" name="agent-to-first-trajectory-chevron-2">
            <a:extLst xmlns:a="http://schemas.openxmlformats.org/drawingml/2006/main">
              <a:ext uri="{FF2B5EF4-FFF2-40B4-BE49-F238E27FC236}">
                <a16:creationId xmlns:a16="http://schemas.microsoft.com/office/drawing/2014/main" id="{8BAA7CC0-5471-4D4C-B9AD-63A5277B1F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72100" y="31813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0" name="first-trajectory-to-task-answer-body">
            <a:extLst xmlns:a="http://schemas.openxmlformats.org/drawingml/2006/main">
              <a:ext uri="{FF2B5EF4-FFF2-40B4-BE49-F238E27FC236}">
                <a16:creationId xmlns:a16="http://schemas.microsoft.com/office/drawing/2014/main" id="{0AF4059F-9EF0-42C1-9577-D0E54796DE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34325" y="1343025"/>
            <a:ext cx="257175" cy="323850"/>
          </a:xfrm>
          <a:custGeom xmlns:a="http://schemas.openxmlformats.org/drawingml/2006/main">
            <a:pathLst>
              <a:path w="257175" h="323850">
                <a:moveTo>
                  <a:pt x="0" y="128588"/>
                </a:moveTo>
                <a:lnTo>
                  <a:pt x="128588" y="0"/>
                </a:lnTo>
                <a:lnTo>
                  <a:pt x="257175" y="128588"/>
                </a:lnTo>
                <a:lnTo>
                  <a:pt x="2571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78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irst-trajectory-to-task-answer-chevron-0">
            <a:extLst xmlns:a="http://schemas.openxmlformats.org/drawingml/2006/main">
              <a:ext uri="{FF2B5EF4-FFF2-40B4-BE49-F238E27FC236}">
                <a16:creationId xmlns:a16="http://schemas.microsoft.com/office/drawing/2014/main" id="{89634BD6-E550-4DB9-B8BA-13C99306F8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43850" y="1409700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123825"/>
                </a:moveTo>
                <a:lnTo>
                  <a:pt x="119063" y="0"/>
                </a:lnTo>
                <a:lnTo>
                  <a:pt x="2381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2" name="input-to-agent-body">
            <a:extLst xmlns:a="http://schemas.openxmlformats.org/drawingml/2006/main">
              <a:ext uri="{FF2B5EF4-FFF2-40B4-BE49-F238E27FC236}">
                <a16:creationId xmlns:a16="http://schemas.microsoft.com/office/drawing/2014/main" id="{D1295ABE-83DE-4A58-BBC6-C73F69F36B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4705350"/>
            <a:ext cx="257175" cy="552450"/>
          </a:xfrm>
          <a:custGeom xmlns:a="http://schemas.openxmlformats.org/drawingml/2006/main">
            <a:pathLst>
              <a:path w="257175" h="552450">
                <a:moveTo>
                  <a:pt x="0" y="128588"/>
                </a:moveTo>
                <a:lnTo>
                  <a:pt x="128588" y="0"/>
                </a:lnTo>
                <a:lnTo>
                  <a:pt x="257175" y="128588"/>
                </a:lnTo>
                <a:lnTo>
                  <a:pt x="257175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A9C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put-to-agent-chevron-0">
            <a:extLst xmlns:a="http://schemas.openxmlformats.org/drawingml/2006/main">
              <a:ext uri="{FF2B5EF4-FFF2-40B4-BE49-F238E27FC236}">
                <a16:creationId xmlns:a16="http://schemas.microsoft.com/office/drawing/2014/main" id="{5FFA404A-D46E-4995-94F3-1293B40B7B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477202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123825"/>
                </a:moveTo>
                <a:lnTo>
                  <a:pt x="119063" y="0"/>
                </a:lnTo>
                <a:lnTo>
                  <a:pt x="2381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4" name="input-to-agent-chevron-1">
            <a:extLst xmlns:a="http://schemas.openxmlformats.org/drawingml/2006/main">
              <a:ext uri="{FF2B5EF4-FFF2-40B4-BE49-F238E27FC236}">
                <a16:creationId xmlns:a16="http://schemas.microsoft.com/office/drawing/2014/main" id="{4DC888CC-475C-498D-B091-13B3241AA8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507682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123825"/>
                </a:moveTo>
                <a:lnTo>
                  <a:pt x="119063" y="0"/>
                </a:lnTo>
                <a:lnTo>
                  <a:pt x="2381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5" name="agent-to-second-trajectory-body">
            <a:extLst xmlns:a="http://schemas.openxmlformats.org/drawingml/2006/main">
              <a:ext uri="{FF2B5EF4-FFF2-40B4-BE49-F238E27FC236}">
                <a16:creationId xmlns:a16="http://schemas.microsoft.com/office/drawing/2014/main" id="{6170E05E-1F4B-436A-B3E8-60AC53DAFC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05350" y="4210050"/>
            <a:ext cx="1028700" cy="257175"/>
          </a:xfrm>
          <a:custGeom xmlns:a="http://schemas.openxmlformats.org/drawingml/2006/main">
            <a:pathLst>
              <a:path w="1028700" h="257175">
                <a:moveTo>
                  <a:pt x="0" y="0"/>
                </a:moveTo>
                <a:lnTo>
                  <a:pt x="1028700" y="0"/>
                </a:lnTo>
                <a:lnTo>
                  <a:pt x="1028700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A9C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gent-to-second-trajectory-chevron-0">
            <a:extLst xmlns:a="http://schemas.openxmlformats.org/drawingml/2006/main">
              <a:ext uri="{FF2B5EF4-FFF2-40B4-BE49-F238E27FC236}">
                <a16:creationId xmlns:a16="http://schemas.microsoft.com/office/drawing/2014/main" id="{FF39BA49-D8C8-4EAF-A54D-6994427B07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0" y="4219575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7" name="agent-to-second-trajectory-chevron-1">
            <a:extLst xmlns:a="http://schemas.openxmlformats.org/drawingml/2006/main">
              <a:ext uri="{FF2B5EF4-FFF2-40B4-BE49-F238E27FC236}">
                <a16:creationId xmlns:a16="http://schemas.microsoft.com/office/drawing/2014/main" id="{F5B285A6-ACAD-4810-9AFF-9B8C33F831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67300" y="4219575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8" name="agent-to-second-trajectory-chevron-2">
            <a:extLst xmlns:a="http://schemas.openxmlformats.org/drawingml/2006/main">
              <a:ext uri="{FF2B5EF4-FFF2-40B4-BE49-F238E27FC236}">
                <a16:creationId xmlns:a16="http://schemas.microsoft.com/office/drawing/2014/main" id="{E2020C06-F432-4A6E-AE56-0BABA428A1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72100" y="4219575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9" name="first-trajectory-to-summarizer-body">
            <a:extLst xmlns:a="http://schemas.openxmlformats.org/drawingml/2006/main">
              <a:ext uri="{FF2B5EF4-FFF2-40B4-BE49-F238E27FC236}">
                <a16:creationId xmlns:a16="http://schemas.microsoft.com/office/drawing/2014/main" id="{5CF26D59-E068-42E4-A2ED-64A652B86A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63200" y="2400300"/>
            <a:ext cx="514350" cy="2657475"/>
          </a:xfrm>
          <a:custGeom xmlns:a="http://schemas.openxmlformats.org/drawingml/2006/main">
            <a:pathLst>
              <a:path w="514350" h="2657475">
                <a:moveTo>
                  <a:pt x="0" y="0"/>
                </a:moveTo>
                <a:lnTo>
                  <a:pt x="514350" y="0"/>
                </a:lnTo>
                <a:lnTo>
                  <a:pt x="514350" y="2524125"/>
                </a:lnTo>
                <a:lnTo>
                  <a:pt x="390525" y="2657475"/>
                </a:lnTo>
                <a:lnTo>
                  <a:pt x="257175" y="2524125"/>
                </a:lnTo>
                <a:lnTo>
                  <a:pt x="25717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E78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irst-to-summary-horizontal-chevron">
            <a:extLst xmlns:a="http://schemas.openxmlformats.org/drawingml/2006/main">
              <a:ext uri="{FF2B5EF4-FFF2-40B4-BE49-F238E27FC236}">
                <a16:creationId xmlns:a16="http://schemas.microsoft.com/office/drawing/2014/main" id="{D88A68B1-2875-405E-82B0-109AB87A46F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58450" y="2409825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4300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31" name="first-to-summary-vertical-chevron-0">
            <a:extLst xmlns:a="http://schemas.openxmlformats.org/drawingml/2006/main">
              <a:ext uri="{FF2B5EF4-FFF2-40B4-BE49-F238E27FC236}">
                <a16:creationId xmlns:a16="http://schemas.microsoft.com/office/drawing/2014/main" id="{8D592705-C8CB-4B66-A57F-0289253404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29900" y="27336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23825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32" name="first-to-summary-vertical-chevron-1">
            <a:extLst xmlns:a="http://schemas.openxmlformats.org/drawingml/2006/main">
              <a:ext uri="{FF2B5EF4-FFF2-40B4-BE49-F238E27FC236}">
                <a16:creationId xmlns:a16="http://schemas.microsoft.com/office/drawing/2014/main" id="{2EAAE67B-ADCA-4163-BD60-79A49EE88A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29900" y="30384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23825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33" name="first-to-summary-vertical-chevron-2">
            <a:extLst xmlns:a="http://schemas.openxmlformats.org/drawingml/2006/main">
              <a:ext uri="{FF2B5EF4-FFF2-40B4-BE49-F238E27FC236}">
                <a16:creationId xmlns:a16="http://schemas.microsoft.com/office/drawing/2014/main" id="{7B67EAAD-68A5-4377-8721-949E682DF6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29900" y="33432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23825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34" name="first-to-summary-vertical-chevron-3">
            <a:extLst xmlns:a="http://schemas.openxmlformats.org/drawingml/2006/main">
              <a:ext uri="{FF2B5EF4-FFF2-40B4-BE49-F238E27FC236}">
                <a16:creationId xmlns:a16="http://schemas.microsoft.com/office/drawing/2014/main" id="{CD75091E-5521-4C03-949C-F25394194F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29900" y="36480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23825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35" name="first-to-summary-vertical-chevron-4">
            <a:extLst xmlns:a="http://schemas.openxmlformats.org/drawingml/2006/main">
              <a:ext uri="{FF2B5EF4-FFF2-40B4-BE49-F238E27FC236}">
                <a16:creationId xmlns:a16="http://schemas.microsoft.com/office/drawing/2014/main" id="{EBC2102A-819F-47F6-8413-3EF82AACEB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29900" y="39528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23825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36" name="first-to-summary-vertical-chevron-5">
            <a:extLst xmlns:a="http://schemas.openxmlformats.org/drawingml/2006/main">
              <a:ext uri="{FF2B5EF4-FFF2-40B4-BE49-F238E27FC236}">
                <a16:creationId xmlns:a16="http://schemas.microsoft.com/office/drawing/2014/main" id="{E3CF9A66-8B12-4164-961B-658D6C7104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29900" y="42576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23825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37" name="first-to-summary-vertical-chevron-6">
            <a:extLst xmlns:a="http://schemas.openxmlformats.org/drawingml/2006/main">
              <a:ext uri="{FF2B5EF4-FFF2-40B4-BE49-F238E27FC236}">
                <a16:creationId xmlns:a16="http://schemas.microsoft.com/office/drawing/2014/main" id="{C3DEAC8D-4CA2-4467-9588-2EC19BF1506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629900" y="45624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23825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38" name="second-trajectory-to-summarizer-body">
            <a:extLst xmlns:a="http://schemas.openxmlformats.org/drawingml/2006/main">
              <a:ext uri="{FF2B5EF4-FFF2-40B4-BE49-F238E27FC236}">
                <a16:creationId xmlns:a16="http://schemas.microsoft.com/office/drawing/2014/main" id="{EAFF3F81-2970-4274-A3EC-1A935C9532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53675" y="4924425"/>
            <a:ext cx="400050" cy="257175"/>
          </a:xfrm>
          <a:custGeom xmlns:a="http://schemas.openxmlformats.org/drawingml/2006/main">
            <a:pathLst>
              <a:path w="400050" h="257175">
                <a:moveTo>
                  <a:pt x="0" y="0"/>
                </a:moveTo>
                <a:lnTo>
                  <a:pt x="271463" y="0"/>
                </a:lnTo>
                <a:lnTo>
                  <a:pt x="400050" y="128588"/>
                </a:lnTo>
                <a:lnTo>
                  <a:pt x="271463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A9C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econd-trajectory-to-summarizer-chevron-0">
            <a:extLst xmlns:a="http://schemas.openxmlformats.org/drawingml/2006/main">
              <a:ext uri="{FF2B5EF4-FFF2-40B4-BE49-F238E27FC236}">
                <a16:creationId xmlns:a16="http://schemas.microsoft.com/office/drawing/2014/main" id="{0BB5CEC6-3A86-473B-A962-0D6AE3F8A8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10825" y="49339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40" name="merged-trajectories-to-summarizer-body">
            <a:extLst xmlns:a="http://schemas.openxmlformats.org/drawingml/2006/main">
              <a:ext uri="{FF2B5EF4-FFF2-40B4-BE49-F238E27FC236}">
                <a16:creationId xmlns:a16="http://schemas.microsoft.com/office/drawing/2014/main" id="{BA5C3295-BC30-47D8-856A-581CD54082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77550" y="4924425"/>
            <a:ext cx="638175" cy="257175"/>
          </a:xfrm>
          <a:custGeom xmlns:a="http://schemas.openxmlformats.org/drawingml/2006/main">
            <a:pathLst>
              <a:path w="638175" h="257175">
                <a:moveTo>
                  <a:pt x="0" y="0"/>
                </a:moveTo>
                <a:lnTo>
                  <a:pt x="638175" y="0"/>
                </a:lnTo>
                <a:lnTo>
                  <a:pt x="63817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A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merged-trajectories-to-summarizer-chevron-0">
            <a:extLst xmlns:a="http://schemas.openxmlformats.org/drawingml/2006/main">
              <a:ext uri="{FF2B5EF4-FFF2-40B4-BE49-F238E27FC236}">
                <a16:creationId xmlns:a16="http://schemas.microsoft.com/office/drawing/2014/main" id="{6B4F8F66-E32C-4B66-A315-AD215389F6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34700" y="49339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42" name="merged-trajectories-to-summarizer-chevron-1">
            <a:extLst xmlns:a="http://schemas.openxmlformats.org/drawingml/2006/main">
              <a:ext uri="{FF2B5EF4-FFF2-40B4-BE49-F238E27FC236}">
                <a16:creationId xmlns:a16="http://schemas.microsoft.com/office/drawing/2014/main" id="{A01C3E8D-B18D-433F-A5B1-DE09F108BE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39500" y="49339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43" name="summarizer-to-experience-body">
            <a:extLst xmlns:a="http://schemas.openxmlformats.org/drawingml/2006/main">
              <a:ext uri="{FF2B5EF4-FFF2-40B4-BE49-F238E27FC236}">
                <a16:creationId xmlns:a16="http://schemas.microsoft.com/office/drawing/2014/main" id="{750F5E1D-CD30-4CF8-8649-31777DEF01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58725" y="4438650"/>
            <a:ext cx="257175" cy="276225"/>
          </a:xfrm>
          <a:custGeom xmlns:a="http://schemas.openxmlformats.org/drawingml/2006/main">
            <a:pathLst>
              <a:path w="257175" h="276225">
                <a:moveTo>
                  <a:pt x="0" y="128588"/>
                </a:moveTo>
                <a:lnTo>
                  <a:pt x="128588" y="0"/>
                </a:lnTo>
                <a:lnTo>
                  <a:pt x="257175" y="128588"/>
                </a:lnTo>
                <a:lnTo>
                  <a:pt x="257175" y="276225"/>
                </a:lnTo>
                <a:lnTo>
                  <a:pt x="0" y="276225"/>
                </a:lnTo>
                <a:close/>
              </a:path>
            </a:pathLst>
          </a:custGeom>
          <a:solidFill xmlns:a="http://schemas.openxmlformats.org/drawingml/2006/main">
            <a:srgbClr val="A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ummarizer-to-experience-chevron-0">
            <a:extLst xmlns:a="http://schemas.openxmlformats.org/drawingml/2006/main">
              <a:ext uri="{FF2B5EF4-FFF2-40B4-BE49-F238E27FC236}">
                <a16:creationId xmlns:a16="http://schemas.microsoft.com/office/drawing/2014/main" id="{27BE54C4-C03F-441D-A7DF-49BEF81DA1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68250" y="450532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123825"/>
                </a:moveTo>
                <a:lnTo>
                  <a:pt x="119063" y="0"/>
                </a:lnTo>
                <a:lnTo>
                  <a:pt x="2381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45" name="experience-to-verifier-body">
            <a:extLst xmlns:a="http://schemas.openxmlformats.org/drawingml/2006/main">
              <a:ext uri="{FF2B5EF4-FFF2-40B4-BE49-F238E27FC236}">
                <a16:creationId xmlns:a16="http://schemas.microsoft.com/office/drawing/2014/main" id="{7DC1D55E-98F6-4041-A07F-ACBD13BBFD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49200" y="1095375"/>
            <a:ext cx="257175" cy="304800"/>
          </a:xfrm>
          <a:custGeom xmlns:a="http://schemas.openxmlformats.org/drawingml/2006/main">
            <a:pathLst>
              <a:path w="257175" h="304800">
                <a:moveTo>
                  <a:pt x="0" y="128588"/>
                </a:moveTo>
                <a:lnTo>
                  <a:pt x="128588" y="0"/>
                </a:lnTo>
                <a:lnTo>
                  <a:pt x="257175" y="128588"/>
                </a:lnTo>
                <a:lnTo>
                  <a:pt x="25717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A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experience-to-verifier-chevron-0">
            <a:extLst xmlns:a="http://schemas.openxmlformats.org/drawingml/2006/main">
              <a:ext uri="{FF2B5EF4-FFF2-40B4-BE49-F238E27FC236}">
                <a16:creationId xmlns:a16="http://schemas.microsoft.com/office/drawing/2014/main" id="{C86589B0-919F-4C74-9CD2-A1E84C6C7F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58725" y="1162050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123825"/>
                </a:moveTo>
                <a:lnTo>
                  <a:pt x="119063" y="0"/>
                </a:lnTo>
                <a:lnTo>
                  <a:pt x="2381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47" name="second-trajectory-to-memory-body">
            <a:extLst xmlns:a="http://schemas.openxmlformats.org/drawingml/2006/main">
              <a:ext uri="{FF2B5EF4-FFF2-40B4-BE49-F238E27FC236}">
                <a16:creationId xmlns:a16="http://schemas.microsoft.com/office/drawing/2014/main" id="{311057FF-A58C-4FBB-BF7C-99C207609B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63200" y="5762625"/>
            <a:ext cx="904875" cy="257175"/>
          </a:xfrm>
          <a:custGeom xmlns:a="http://schemas.openxmlformats.org/drawingml/2006/main">
            <a:pathLst>
              <a:path w="904875" h="257175">
                <a:moveTo>
                  <a:pt x="0" y="0"/>
                </a:moveTo>
                <a:lnTo>
                  <a:pt x="904875" y="0"/>
                </a:lnTo>
                <a:lnTo>
                  <a:pt x="90487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A9C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econd-trajectory-to-memory-chevron-0">
            <a:extLst xmlns:a="http://schemas.openxmlformats.org/drawingml/2006/main">
              <a:ext uri="{FF2B5EF4-FFF2-40B4-BE49-F238E27FC236}">
                <a16:creationId xmlns:a16="http://schemas.microsoft.com/office/drawing/2014/main" id="{BEDB73DD-B96C-4AF6-AA78-CE528AE69D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20350" y="57721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49" name="second-trajectory-to-memory-chevron-1">
            <a:extLst xmlns:a="http://schemas.openxmlformats.org/drawingml/2006/main">
              <a:ext uri="{FF2B5EF4-FFF2-40B4-BE49-F238E27FC236}">
                <a16:creationId xmlns:a16="http://schemas.microsoft.com/office/drawing/2014/main" id="{38EFABF2-2A82-4752-B288-E0909C69B6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25150" y="57721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50" name="second-trajectory-to-memory-chevron-2">
            <a:extLst xmlns:a="http://schemas.openxmlformats.org/drawingml/2006/main">
              <a:ext uri="{FF2B5EF4-FFF2-40B4-BE49-F238E27FC236}">
                <a16:creationId xmlns:a16="http://schemas.microsoft.com/office/drawing/2014/main" id="{37C2D2F4-70A0-4F01-BB79-0E36BA3A9B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29950" y="57721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grpSp>
        <p:nvGrpSpPr>
          <p:cNvPr id="343" name="reflector"/>
          <p:cNvGrpSpPr/>
          <p:nvPr/>
        </p:nvGrpSpPr>
        <p:grpSpPr>
          <ns1:xfrm xmlns:ns1="http://schemas.openxmlformats.org/drawingml/2006/main">
            <ns1:off x="962025" y="800100"/>
            <ns1:ext cx="3781425" cy="514350"/>
            <ns1:chOff x="962025" y="800100"/>
            <ns1:chExt cx="3781425" cy="514350"/>
          </ns1:xfrm>
        </p:grpSpPr>
        <p:sp>
          <p:nvSpPr>
            <p:cNvPr id="51" name="reflector-frame">
              <a:extLst xmlns:a="http://schemas.openxmlformats.org/drawingml/2006/main">
                <a:ext uri="{FF2B5EF4-FFF2-40B4-BE49-F238E27FC236}">
                  <a16:creationId xmlns:a16="http://schemas.microsoft.com/office/drawing/2014/main" id="{D21DC8DD-6137-4851-8F57-E3012FFFF1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2025" y="800100"/>
              <a:ext cx="3781425" cy="514350"/>
            </a:xfrm>
            <a:prstGeom xmlns:a="http://schemas.openxmlformats.org/drawingml/2006/main" prst="roundRect">
              <a:avLst>
                <a:gd name="adj" fmla="val 18519"/>
              </a:avLst>
            </a:prstGeom>
            <a:solidFill xmlns:a="http://schemas.openxmlformats.org/drawingml/2006/main">
              <a:srgbClr val="F3F5FB"/>
            </a:solidFill>
            <a:ln xmlns:a="http://schemas.openxmlformats.org/drawingml/2006/main" w="21908">
              <a:solidFill>
                <a:srgbClr val="000000"/>
              </a:solidFill>
              <a:prstDash val="solid"/>
            </a:ln>
          </p:spPr>
        </p:sp>
        <p:pic>
          <p:nvPicPr>
            <p:cNvPr id="52" name="reflector-icon" descr="reflector-icon">
              <a:extLst xmlns:a="http://schemas.openxmlformats.org/drawingml/2006/main">
                <a:ext uri="{FF2B5EF4-FFF2-40B4-BE49-F238E27FC236}">
                  <a16:creationId xmlns:a16="http://schemas.microsoft.com/office/drawing/2014/main" id="{6127A62E-68A9-41FE-AD39-071D557A8D1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f76f775514d4af3"/>
            <a:stretch xmlns:a="http://schemas.openxmlformats.org/drawingml/2006/main"/>
          </p:blipFill>
          <p:spPr>
            <a:xfrm xmlns:a="http://schemas.openxmlformats.org/drawingml/2006/main">
              <a:off x="2237768" y="895350"/>
              <a:ext cx="277440" cy="314325"/>
            </a:xfrm>
            <a:prstGeom xmlns:a="http://schemas.openxmlformats.org/drawingml/2006/main" prst="rect">
              <a:avLst/>
            </a:prstGeom>
          </p:spPr>
        </p:pic>
        <p:sp>
          <p:nvSpPr>
            <p:cNvPr id="53" name="reflector-approve">
              <a:extLst xmlns:a="http://schemas.openxmlformats.org/drawingml/2006/main">
                <a:ext uri="{FF2B5EF4-FFF2-40B4-BE49-F238E27FC236}">
                  <a16:creationId xmlns:a16="http://schemas.microsoft.com/office/drawing/2014/main" id="{B3CA24EC-54AB-41FA-A76D-3702FE2917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19325" y="904875"/>
              <a:ext cx="171450" cy="161925"/>
            </a:xfrm>
            <a:prstGeom xmlns:a="http://schemas.openxmlformats.org/drawingml/2006/main" prst="roundRect">
              <a:avLst>
                <a:gd name="adj" fmla="val 17647"/>
              </a:avLst>
            </a:prstGeom>
            <a:solidFill xmlns:a="http://schemas.openxmlformats.org/drawingml/2006/main">
              <a:srgbClr val="65C995"/>
            </a:solidFill>
            <a:ln xmlns:a="http://schemas.openxmlformats.org/drawingml/2006/main" w="10478">
              <a:solidFill>
                <a:srgbClr val="111111"/>
              </a:solidFill>
              <a:prstDash val="solid"/>
            </a:ln>
          </p:spPr>
        </p:sp>
        <p:sp>
          <p:nvSpPr>
            <p:cNvPr id="54" name="reflector-approve-mark">
              <a:extLst xmlns:a="http://schemas.openxmlformats.org/drawingml/2006/main">
                <a:ext uri="{FF2B5EF4-FFF2-40B4-BE49-F238E27FC236}">
                  <a16:creationId xmlns:a16="http://schemas.microsoft.com/office/drawing/2014/main" id="{44CBECF3-AA12-49A8-8C67-8D13174028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28850" y="904875"/>
              <a:ext cx="1524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5" name="reflector-reject">
              <a:extLst xmlns:a="http://schemas.openxmlformats.org/drawingml/2006/main">
                <a:ext uri="{FF2B5EF4-FFF2-40B4-BE49-F238E27FC236}">
                  <a16:creationId xmlns:a16="http://schemas.microsoft.com/office/drawing/2014/main" id="{C084C680-8462-4C4E-B022-1534B7503F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2200" y="1028700"/>
              <a:ext cx="171450" cy="161925"/>
            </a:xfrm>
            <a:prstGeom xmlns:a="http://schemas.openxmlformats.org/drawingml/2006/main" prst="roundRect">
              <a:avLst>
                <a:gd name="adj" fmla="val 17647"/>
              </a:avLst>
            </a:prstGeom>
            <a:solidFill xmlns:a="http://schemas.openxmlformats.org/drawingml/2006/main">
              <a:srgbClr val="E4697D"/>
            </a:solidFill>
            <a:ln xmlns:a="http://schemas.openxmlformats.org/drawingml/2006/main" w="10478">
              <a:solidFill>
                <a:srgbClr val="111111"/>
              </a:solidFill>
              <a:prstDash val="solid"/>
            </a:ln>
          </p:spPr>
        </p:sp>
        <p:sp>
          <p:nvSpPr>
            <p:cNvPr id="56" name="reflector-reject-mark">
              <a:extLst xmlns:a="http://schemas.openxmlformats.org/drawingml/2006/main">
                <a:ext uri="{FF2B5EF4-FFF2-40B4-BE49-F238E27FC236}">
                  <a16:creationId xmlns:a16="http://schemas.microsoft.com/office/drawing/2014/main" id="{A7DD81DA-47C0-4B94-9A37-41771CA27A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71725" y="1028700"/>
              <a:ext cx="1524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57" name="reflector-label">
              <a:extLst xmlns:a="http://schemas.openxmlformats.org/drawingml/2006/main">
                <a:ext uri="{FF2B5EF4-FFF2-40B4-BE49-F238E27FC236}">
                  <a16:creationId xmlns:a16="http://schemas.microsoft.com/office/drawing/2014/main" id="{B8F4B542-0595-48D1-A7C0-87033B39F5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19375" y="876300"/>
              <a:ext cx="19240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Reflector</a:t>
              </a:r>
            </a:p>
          </p:txBody>
        </p:sp>
      </p:grpSp>
      <p:grpSp>
        <p:nvGrpSpPr>
          <p:cNvPr id="344" name="task-answer"/>
          <p:cNvGrpSpPr/>
          <p:nvPr/>
        </p:nvGrpSpPr>
        <p:grpSpPr>
          <ns1:xfrm xmlns:ns1="http://schemas.openxmlformats.org/drawingml/2006/main">
            <ns1:off x="5734050" y="704850"/>
            <ns1:ext cx="4629150" cy="638175"/>
            <ns1:chOff x="5734050" y="704850"/>
            <ns1:chExt cx="4629150" cy="638175"/>
          </ns1:xfrm>
        </p:grpSpPr>
        <p:sp>
          <p:nvSpPr>
            <p:cNvPr id="58" name="answer-frame">
              <a:extLst xmlns:a="http://schemas.openxmlformats.org/drawingml/2006/main">
                <a:ext uri="{FF2B5EF4-FFF2-40B4-BE49-F238E27FC236}">
                  <a16:creationId xmlns:a16="http://schemas.microsoft.com/office/drawing/2014/main" id="{5059ECB7-7D6B-4C57-B1B8-EAAC667C60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4050" y="828675"/>
              <a:ext cx="4629150" cy="514350"/>
            </a:xfrm>
            <a:prstGeom xmlns:a="http://schemas.openxmlformats.org/drawingml/2006/main" prst="roundRect">
              <a:avLst>
                <a:gd name="adj" fmla="val 555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sp>
          <p:nvSpPr>
            <p:cNvPr id="59" name="answer-title-frame">
              <a:extLst xmlns:a="http://schemas.openxmlformats.org/drawingml/2006/main">
                <a:ext uri="{FF2B5EF4-FFF2-40B4-BE49-F238E27FC236}">
                  <a16:creationId xmlns:a16="http://schemas.microsoft.com/office/drawing/2014/main" id="{0D6EF521-33C5-4E49-AAF5-E130DBDA17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86600" y="704850"/>
              <a:ext cx="1952625" cy="257175"/>
            </a:xfrm>
            <a:prstGeom xmlns:a="http://schemas.openxmlformats.org/drawingml/2006/main" prst="roundRect">
              <a:avLst>
                <a:gd name="adj" fmla="val 1481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000000"/>
              </a:solidFill>
              <a:prstDash val="solid"/>
            </a:ln>
          </p:spPr>
        </p:sp>
        <p:sp>
          <p:nvSpPr>
            <p:cNvPr id="60" name="answer-title-label">
              <a:extLst xmlns:a="http://schemas.openxmlformats.org/drawingml/2006/main">
                <a:ext uri="{FF2B5EF4-FFF2-40B4-BE49-F238E27FC236}">
                  <a16:creationId xmlns:a16="http://schemas.microsoft.com/office/drawing/2014/main" id="{FD59C487-0401-4424-9BA6-44E1B57E34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34225" y="704850"/>
              <a:ext cx="18573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Task Answer</a:t>
              </a:r>
            </a:p>
          </p:txBody>
        </p:sp>
        <p:sp>
          <p:nvSpPr>
            <p:cNvPr id="61" name="answer-content">
              <a:extLst xmlns:a="http://schemas.openxmlformats.org/drawingml/2006/main">
                <a:ext uri="{FF2B5EF4-FFF2-40B4-BE49-F238E27FC236}">
                  <a16:creationId xmlns:a16="http://schemas.microsoft.com/office/drawing/2014/main" id="{12F4C02B-D8DC-4EE4-BF12-FC52220BC8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4550" y="933450"/>
              <a:ext cx="40767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Answer:</a:t>
              </a:r>
            </a:p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C. Pleiotropy</a:t>
              </a:r>
            </a:p>
          </p:txBody>
        </p:sp>
      </p:grpSp>
      <p:grpSp>
        <p:nvGrpSpPr>
          <p:cNvPr id="345" name="reflection"/>
          <p:cNvGrpSpPr/>
          <p:nvPr/>
        </p:nvGrpSpPr>
        <p:grpSpPr>
          <ns1:xfrm xmlns:ns1="http://schemas.openxmlformats.org/drawingml/2006/main">
            <ns1:off x="514350" y="1504950"/>
            <ns1:ext cx="4638675" cy="1171575"/>
            <ns1:chOff x="514350" y="1504950"/>
            <ns1:chExt cx="4638675" cy="1171575"/>
          </ns1:xfrm>
        </p:grpSpPr>
        <p:sp>
          <p:nvSpPr>
            <p:cNvPr id="62" name="reflection-frame">
              <a:extLst xmlns:a="http://schemas.openxmlformats.org/drawingml/2006/main">
                <a:ext uri="{FF2B5EF4-FFF2-40B4-BE49-F238E27FC236}">
                  <a16:creationId xmlns:a16="http://schemas.microsoft.com/office/drawing/2014/main" id="{2CDA0E4C-96D2-4C9E-BA18-CBBCAFADF1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" y="1619250"/>
              <a:ext cx="4638675" cy="1057275"/>
            </a:xfrm>
            <a:prstGeom xmlns:a="http://schemas.openxmlformats.org/drawingml/2006/main" prst="roundRect">
              <a:avLst>
                <a:gd name="adj" fmla="val 45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sp>
          <p:nvSpPr>
            <p:cNvPr id="63" name="reflection-title-frame">
              <a:extLst xmlns:a="http://schemas.openxmlformats.org/drawingml/2006/main">
                <a:ext uri="{FF2B5EF4-FFF2-40B4-BE49-F238E27FC236}">
                  <a16:creationId xmlns:a16="http://schemas.microsoft.com/office/drawing/2014/main" id="{D1308FD7-7596-4D07-96E6-59E52EAB16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1504950"/>
              <a:ext cx="1962150" cy="2667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000000"/>
              </a:solidFill>
              <a:prstDash val="solid"/>
            </a:ln>
          </p:spPr>
        </p:sp>
        <p:sp>
          <p:nvSpPr>
            <p:cNvPr id="64" name="reflection-title-label">
              <a:extLst xmlns:a="http://schemas.openxmlformats.org/drawingml/2006/main">
                <a:ext uri="{FF2B5EF4-FFF2-40B4-BE49-F238E27FC236}">
                  <a16:creationId xmlns:a16="http://schemas.microsoft.com/office/drawing/2014/main" id="{C8CB44F7-2ED8-49E4-9570-8C33F157A2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95475" y="1504950"/>
              <a:ext cx="18669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Reflection</a:t>
              </a:r>
            </a:p>
          </p:txBody>
        </p:sp>
        <p:sp>
          <p:nvSpPr>
            <p:cNvPr id="65" name="reflection-highlight1">
              <a:extLst xmlns:a="http://schemas.openxmlformats.org/drawingml/2006/main">
                <a:ext uri="{FF2B5EF4-FFF2-40B4-BE49-F238E27FC236}">
                  <a16:creationId xmlns:a16="http://schemas.microsoft.com/office/drawing/2014/main" id="{50A668F9-37B8-4C56-8D62-0E4F8B4857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24225" y="2019300"/>
              <a:ext cx="1704975" cy="152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C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6" name="reflection-highlight2">
              <a:extLst xmlns:a="http://schemas.openxmlformats.org/drawingml/2006/main">
                <a:ext uri="{FF2B5EF4-FFF2-40B4-BE49-F238E27FC236}">
                  <a16:creationId xmlns:a16="http://schemas.microsoft.com/office/drawing/2014/main" id="{7B31DB5B-EA08-4303-9911-09C35F30DF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181225"/>
              <a:ext cx="4295775" cy="152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C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7" name="reflection-highlight3">
              <a:extLst xmlns:a="http://schemas.openxmlformats.org/drawingml/2006/main">
                <a:ext uri="{FF2B5EF4-FFF2-40B4-BE49-F238E27FC236}">
                  <a16:creationId xmlns:a16="http://schemas.microsoft.com/office/drawing/2014/main" id="{6ADB9913-D83F-4CDD-A41F-1D420A851F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343150"/>
              <a:ext cx="3467100" cy="152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C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8" name="reflection-line-0">
              <a:extLst xmlns:a="http://schemas.openxmlformats.org/drawingml/2006/main">
                <a:ext uri="{FF2B5EF4-FFF2-40B4-BE49-F238E27FC236}">
                  <a16:creationId xmlns:a16="http://schemas.microsoft.com/office/drawing/2014/main" id="{E9CF02AA-8D1D-4E24-8694-7F5C0D3A25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1847850"/>
              <a:ext cx="4419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 previous trial involved diagnosing a patient's condition based on</a:t>
              </a:r>
            </a:p>
          </p:txBody>
        </p:sp>
        <p:sp>
          <p:nvSpPr>
            <p:cNvPr id="69" name="reflection-line-1">
              <a:extLst xmlns:a="http://schemas.openxmlformats.org/drawingml/2006/main">
                <a:ext uri="{FF2B5EF4-FFF2-40B4-BE49-F238E27FC236}">
                  <a16:creationId xmlns:a16="http://schemas.microsoft.com/office/drawing/2014/main" id="{0A25E117-721B-4ACA-8619-23B617371E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009775"/>
              <a:ext cx="4419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symptoms and [...] To improve result accuracy, the Think action should</a:t>
              </a:r>
            </a:p>
          </p:txBody>
        </p:sp>
        <p:sp>
          <p:nvSpPr>
            <p:cNvPr id="70" name="reflection-line-2">
              <a:extLst xmlns:a="http://schemas.openxmlformats.org/drawingml/2006/main">
                <a:ext uri="{FF2B5EF4-FFF2-40B4-BE49-F238E27FC236}">
                  <a16:creationId xmlns:a16="http://schemas.microsoft.com/office/drawing/2014/main" id="{0F1433A1-06C3-41CF-A610-AA79A5A53B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171700"/>
              <a:ext cx="4419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have considered pleiotropy as a possible genetic principle and compared</a:t>
              </a:r>
            </a:p>
          </p:txBody>
        </p:sp>
        <p:sp>
          <p:nvSpPr>
            <p:cNvPr id="71" name="reflection-line-3">
              <a:extLst xmlns:a="http://schemas.openxmlformats.org/drawingml/2006/main">
                <a:ext uri="{FF2B5EF4-FFF2-40B4-BE49-F238E27FC236}">
                  <a16:creationId xmlns:a16="http://schemas.microsoft.com/office/drawing/2014/main" id="{C400F4AE-ADC6-436A-A2DC-5C6C2DD96F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333625"/>
              <a:ext cx="4419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it to variable expressivity before making a decision. In summary, the</a:t>
              </a:r>
            </a:p>
          </p:txBody>
        </p:sp>
        <p:sp>
          <p:nvSpPr>
            <p:cNvPr id="72" name="reflection-line-4">
              <a:extLst xmlns:a="http://schemas.openxmlformats.org/drawingml/2006/main">
                <a:ext uri="{FF2B5EF4-FFF2-40B4-BE49-F238E27FC236}">
                  <a16:creationId xmlns:a16="http://schemas.microsoft.com/office/drawing/2014/main" id="{D2AE7739-1DEB-4798-9723-4F1B3D34E9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495550"/>
              <a:ext cx="4419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previous trial's mistake was in the Think action, where variable [...]</a:t>
              </a:r>
            </a:p>
          </p:txBody>
        </p:sp>
      </p:grpSp>
      <p:grpSp>
        <p:nvGrpSpPr>
          <p:cNvPr id="346" name="optimization-agent"/>
          <p:cNvGrpSpPr/>
          <p:nvPr/>
        </p:nvGrpSpPr>
        <p:grpSpPr>
          <ns1:xfrm xmlns:ns1="http://schemas.openxmlformats.org/drawingml/2006/main">
            <ns1:off x="952500" y="2952750"/>
            <ns1:ext cx="3752850" cy="1752600"/>
            <ns1:chOff x="952500" y="2952750"/>
            <ns1:chExt cx="3752850" cy="1752600"/>
          </ns1:xfrm>
        </p:grpSpPr>
        <p:sp>
          <p:nvSpPr>
            <p:cNvPr id="73" name="optimization-agent-frame">
              <a:extLst xmlns:a="http://schemas.openxmlformats.org/drawingml/2006/main">
                <a:ext uri="{FF2B5EF4-FFF2-40B4-BE49-F238E27FC236}">
                  <a16:creationId xmlns:a16="http://schemas.microsoft.com/office/drawing/2014/main" id="{BB8DF32C-D460-4481-9417-F96F9E98A0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2500" y="2952750"/>
              <a:ext cx="3752850" cy="1752600"/>
            </a:xfrm>
            <a:prstGeom xmlns:a="http://schemas.openxmlformats.org/drawingml/2006/main" prst="roundRect">
              <a:avLst>
                <a:gd name="adj" fmla="val 17391"/>
              </a:avLst>
            </a:prstGeom>
            <a:solidFill xmlns:a="http://schemas.openxmlformats.org/drawingml/2006/main">
              <a:srgbClr val="F3F5FB"/>
            </a:solidFill>
            <a:ln xmlns:a="http://schemas.openxmlformats.org/drawingml/2006/main" w="21908">
              <a:solidFill>
                <a:srgbClr val="000000"/>
              </a:solidFill>
              <a:prstDash val="solid"/>
            </a:ln>
          </p:spPr>
        </p:sp>
        <p:pic>
          <p:nvPicPr>
            <p:cNvPr id="74" name="optimization-agent-icon" descr="optimization-agent-icon">
              <a:extLst xmlns:a="http://schemas.openxmlformats.org/drawingml/2006/main">
                <a:ext uri="{FF2B5EF4-FFF2-40B4-BE49-F238E27FC236}">
                  <a16:creationId xmlns:a16="http://schemas.microsoft.com/office/drawing/2014/main" id="{892DB714-EDBB-4DC4-9C94-144309D0A42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6178deaade8b44af"/>
            <a:stretch xmlns:a="http://schemas.openxmlformats.org/drawingml/2006/main"/>
          </p:blipFill>
          <p:spPr>
            <a:xfrm xmlns:a="http://schemas.openxmlformats.org/drawingml/2006/main">
              <a:off x="1571625" y="3601010"/>
              <a:ext cx="419100" cy="379879"/>
            </a:xfrm>
            <a:prstGeom xmlns:a="http://schemas.openxmlformats.org/drawingml/2006/main" prst="rect">
              <a:avLst/>
            </a:prstGeom>
          </p:spPr>
        </p:pic>
        <p:sp>
          <p:nvSpPr>
            <p:cNvPr id="75" name="optimization-agent-label">
              <a:extLst xmlns:a="http://schemas.openxmlformats.org/drawingml/2006/main">
                <a:ext uri="{FF2B5EF4-FFF2-40B4-BE49-F238E27FC236}">
                  <a16:creationId xmlns:a16="http://schemas.microsoft.com/office/drawing/2014/main" id="{C8CEBE8B-285A-4DD4-84B9-726D8D1D2F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85975" y="3648075"/>
              <a:ext cx="2543175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Medical Tool Agent</a:t>
              </a:r>
            </a:p>
          </p:txBody>
        </p:sp>
      </p:grpSp>
      <p:grpSp>
        <p:nvGrpSpPr>
          <p:cNvPr id="347" name="first-trajectory"/>
          <p:cNvGrpSpPr/>
          <p:nvPr/>
        </p:nvGrpSpPr>
        <p:grpSpPr>
          <ns1:xfrm xmlns:ns1="http://schemas.openxmlformats.org/drawingml/2006/main">
            <ns1:off x="5734050" y="1552575"/>
            <ns1:ext cx="4648200" cy="2028825"/>
            <ns1:chOff x="5734050" y="1552575"/>
            <ns1:chExt cx="4648200" cy="2028825"/>
          </ns1:xfrm>
        </p:grpSpPr>
        <p:sp>
          <p:nvSpPr>
            <p:cNvPr id="76" name="first-trajectory-frame">
              <a:extLst xmlns:a="http://schemas.openxmlformats.org/drawingml/2006/main">
                <a:ext uri="{FF2B5EF4-FFF2-40B4-BE49-F238E27FC236}">
                  <a16:creationId xmlns:a16="http://schemas.microsoft.com/office/drawing/2014/main" id="{868AE114-CE1C-4F17-B170-A0FA61C7D9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4050" y="1666875"/>
              <a:ext cx="4648200" cy="1914525"/>
            </a:xfrm>
            <a:prstGeom xmlns:a="http://schemas.openxmlformats.org/drawingml/2006/main" prst="roundRect">
              <a:avLst>
                <a:gd name="adj" fmla="val 597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sp>
          <p:nvSpPr>
            <p:cNvPr id="77" name="first-trajectory-title-frame">
              <a:extLst xmlns:a="http://schemas.openxmlformats.org/drawingml/2006/main">
                <a:ext uri="{FF2B5EF4-FFF2-40B4-BE49-F238E27FC236}">
                  <a16:creationId xmlns:a16="http://schemas.microsoft.com/office/drawing/2014/main" id="{640743EE-E37C-475F-9E34-1FB6695D65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77075" y="1552575"/>
              <a:ext cx="1952625" cy="257175"/>
            </a:xfrm>
            <a:prstGeom xmlns:a="http://schemas.openxmlformats.org/drawingml/2006/main" prst="roundRect">
              <a:avLst>
                <a:gd name="adj" fmla="val 1481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000000"/>
              </a:solidFill>
              <a:prstDash val="solid"/>
            </a:ln>
          </p:spPr>
        </p:sp>
        <p:sp>
          <p:nvSpPr>
            <p:cNvPr id="78" name="first-trajectory-title-label">
              <a:extLst xmlns:a="http://schemas.openxmlformats.org/drawingml/2006/main">
                <a:ext uri="{FF2B5EF4-FFF2-40B4-BE49-F238E27FC236}">
                  <a16:creationId xmlns:a16="http://schemas.microsoft.com/office/drawing/2014/main" id="{A2204F6A-635F-4C2B-A719-20D5126737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24700" y="1552575"/>
              <a:ext cx="18573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First Trajectory</a:t>
              </a:r>
            </a:p>
          </p:txBody>
        </p:sp>
        <p:sp>
          <p:nvSpPr>
            <p:cNvPr id="79" name="first-plan-card">
              <a:extLst xmlns:a="http://schemas.openxmlformats.org/drawingml/2006/main">
                <a:ext uri="{FF2B5EF4-FFF2-40B4-BE49-F238E27FC236}">
                  <a16:creationId xmlns:a16="http://schemas.microsoft.com/office/drawing/2014/main" id="{C8DF2FD5-6073-4018-BCEB-B9BC3AFC0B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48350" y="1895475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sp>
          <p:nvSpPr>
            <p:cNvPr id="80" name="first-plan-plan-heading">
              <a:extLst xmlns:a="http://schemas.openxmlformats.org/drawingml/2006/main">
                <a:ext uri="{FF2B5EF4-FFF2-40B4-BE49-F238E27FC236}">
                  <a16:creationId xmlns:a16="http://schemas.microsoft.com/office/drawing/2014/main" id="{2BE1D8BE-8824-4510-8782-2B550CE4E3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67400" y="1905000"/>
              <a:ext cx="266700" cy="104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81" name="first-plan-plan-check-0">
              <a:extLst xmlns:a="http://schemas.openxmlformats.org/drawingml/2006/main">
                <a:ext uri="{FF2B5EF4-FFF2-40B4-BE49-F238E27FC236}">
                  <a16:creationId xmlns:a16="http://schemas.microsoft.com/office/drawing/2014/main" id="{B153541F-F4A8-45C7-A4F6-E99A4E0CBD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76925" y="2019300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82" name="first-plan-plan-line-0">
              <a:extLst xmlns:a="http://schemas.openxmlformats.org/drawingml/2006/main">
                <a:ext uri="{FF2B5EF4-FFF2-40B4-BE49-F238E27FC236}">
                  <a16:creationId xmlns:a16="http://schemas.microsoft.com/office/drawing/2014/main" id="{7964F496-42D4-4C4B-BD7A-0CCB3EE874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2038350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83" name="first-plan-plan-check-1">
              <a:extLst xmlns:a="http://schemas.openxmlformats.org/drawingml/2006/main">
                <a:ext uri="{FF2B5EF4-FFF2-40B4-BE49-F238E27FC236}">
                  <a16:creationId xmlns:a16="http://schemas.microsoft.com/office/drawing/2014/main" id="{77ED10AD-24E4-4567-8674-259B9DC205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76925" y="2095500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84" name="first-plan-plan-line-1">
              <a:extLst xmlns:a="http://schemas.openxmlformats.org/drawingml/2006/main">
                <a:ext uri="{FF2B5EF4-FFF2-40B4-BE49-F238E27FC236}">
                  <a16:creationId xmlns:a16="http://schemas.microsoft.com/office/drawing/2014/main" id="{66D4C830-891E-422C-8CDB-C0BA941FB8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2114550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85" name="first-plan-plan-check-2">
              <a:extLst xmlns:a="http://schemas.openxmlformats.org/drawingml/2006/main">
                <a:ext uri="{FF2B5EF4-FFF2-40B4-BE49-F238E27FC236}">
                  <a16:creationId xmlns:a16="http://schemas.microsoft.com/office/drawing/2014/main" id="{C6917E86-916C-4AD4-84FE-55A8235A4F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76925" y="2171700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86" name="first-plan-plan-line-2">
              <a:extLst xmlns:a="http://schemas.openxmlformats.org/drawingml/2006/main">
                <a:ext uri="{FF2B5EF4-FFF2-40B4-BE49-F238E27FC236}">
                  <a16:creationId xmlns:a16="http://schemas.microsoft.com/office/drawing/2014/main" id="{8FC00547-EECC-4303-8F5E-458D8B0EFD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2190750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87" name="first-plan-act-prefix">
              <a:extLst xmlns:a="http://schemas.openxmlformats.org/drawingml/2006/main">
                <a:ext uri="{FF2B5EF4-FFF2-40B4-BE49-F238E27FC236}">
                  <a16:creationId xmlns:a16="http://schemas.microsoft.com/office/drawing/2014/main" id="{2DED5C86-3021-4FC9-9CE8-75050EE75F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8400" y="1914525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88" name="first-plan-act">
              <a:extLst xmlns:a="http://schemas.openxmlformats.org/drawingml/2006/main">
                <a:ext uri="{FF2B5EF4-FFF2-40B4-BE49-F238E27FC236}">
                  <a16:creationId xmlns:a16="http://schemas.microsoft.com/office/drawing/2014/main" id="{0216ED4B-9F84-4F31-A563-87DBDD144C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57975" y="1914525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First, I need to understand the symptoms and the condition [...]</a:t>
              </a:r>
            </a:p>
          </p:txBody>
        </p:sp>
        <p:sp>
          <p:nvSpPr>
            <p:cNvPr id="89" name="first-plan-obs-prefix">
              <a:extLst xmlns:a="http://schemas.openxmlformats.org/drawingml/2006/main">
                <a:ext uri="{FF2B5EF4-FFF2-40B4-BE49-F238E27FC236}">
                  <a16:creationId xmlns:a16="http://schemas.microsoft.com/office/drawing/2014/main" id="{DDE26DA2-5E9B-4FBA-8DE7-E2EA7A3A33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8400" y="2085975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90" name="first-plan-obs">
              <a:extLst xmlns:a="http://schemas.openxmlformats.org/drawingml/2006/main">
                <a:ext uri="{FF2B5EF4-FFF2-40B4-BE49-F238E27FC236}">
                  <a16:creationId xmlns:a16="http://schemas.microsoft.com/office/drawing/2014/main" id="{0316A687-1561-4DD8-A8DA-963419AB0A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57975" y="2085975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OK</a:t>
              </a:r>
            </a:p>
          </p:txBody>
        </p:sp>
        <p:sp>
          <p:nvSpPr>
            <p:cNvPr id="91" name="first-medrag-card">
              <a:extLst xmlns:a="http://schemas.openxmlformats.org/drawingml/2006/main">
                <a:ext uri="{FF2B5EF4-FFF2-40B4-BE49-F238E27FC236}">
                  <a16:creationId xmlns:a16="http://schemas.microsoft.com/office/drawing/2014/main" id="{361AB4AC-53F1-4905-839B-535DA716BF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48350" y="2371725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92" name="first-medrag-icon" descr="first-medrag-icon">
              <a:extLst xmlns:a="http://schemas.openxmlformats.org/drawingml/2006/main">
                <a:ext uri="{FF2B5EF4-FFF2-40B4-BE49-F238E27FC236}">
                  <a16:creationId xmlns:a16="http://schemas.microsoft.com/office/drawing/2014/main" id="{655C531A-E497-4CF6-B7C9-9A7568A721BC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4d8564b980294895"/>
            <a:stretch xmlns:a="http://schemas.openxmlformats.org/drawingml/2006/main"/>
          </p:blipFill>
          <p:spPr>
            <a:xfrm xmlns:a="http://schemas.openxmlformats.org/drawingml/2006/main">
              <a:off x="5886450" y="2437616"/>
              <a:ext cx="228600" cy="163492"/>
            </a:xfrm>
            <a:prstGeom xmlns:a="http://schemas.openxmlformats.org/drawingml/2006/main" prst="rect">
              <a:avLst/>
            </a:prstGeom>
          </p:spPr>
        </p:pic>
        <p:sp>
          <p:nvSpPr>
            <p:cNvPr id="93" name="first-medrag-tool-label">
              <a:extLst xmlns:a="http://schemas.openxmlformats.org/drawingml/2006/main">
                <a:ext uri="{FF2B5EF4-FFF2-40B4-BE49-F238E27FC236}">
                  <a16:creationId xmlns:a16="http://schemas.microsoft.com/office/drawing/2014/main" id="{A348502E-B383-420F-8638-53322FD85E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0" y="2638425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MedRAG</a:t>
              </a:r>
            </a:p>
          </p:txBody>
        </p:sp>
        <p:sp>
          <p:nvSpPr>
            <p:cNvPr id="94" name="first-medrag-act-prefix">
              <a:extLst xmlns:a="http://schemas.openxmlformats.org/drawingml/2006/main">
                <a:ext uri="{FF2B5EF4-FFF2-40B4-BE49-F238E27FC236}">
                  <a16:creationId xmlns:a16="http://schemas.microsoft.com/office/drawing/2014/main" id="{EFF8B185-21D9-4ED4-AE26-5F2B331EF8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8400" y="2390775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95" name="first-medrag-act">
              <a:extLst xmlns:a="http://schemas.openxmlformats.org/drawingml/2006/main">
                <a:ext uri="{FF2B5EF4-FFF2-40B4-BE49-F238E27FC236}">
                  <a16:creationId xmlns:a16="http://schemas.microsoft.com/office/drawing/2014/main" id="{0A1C2C3B-9B7F-4B8A-8886-3BE534C39C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57975" y="2390775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seizure, microcephaly, light pigmentation, musty body odor</a:t>
              </a:r>
            </a:p>
          </p:txBody>
        </p:sp>
        <p:sp>
          <p:nvSpPr>
            <p:cNvPr id="96" name="first-medrag-obs-prefix">
              <a:extLst xmlns:a="http://schemas.openxmlformats.org/drawingml/2006/main">
                <a:ext uri="{FF2B5EF4-FFF2-40B4-BE49-F238E27FC236}">
                  <a16:creationId xmlns:a16="http://schemas.microsoft.com/office/drawing/2014/main" id="{71F8E142-705C-4CFE-B1CD-9D30364C73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8400" y="2562225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97" name="first-medrag-obs">
              <a:extLst xmlns:a="http://schemas.openxmlformats.org/drawingml/2006/main">
                <a:ext uri="{FF2B5EF4-FFF2-40B4-BE49-F238E27FC236}">
                  <a16:creationId xmlns:a16="http://schemas.microsoft.com/office/drawing/2014/main" id="{C944EBBE-E7F9-46DE-8689-E3E3526D19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57975" y="2562225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Document [0] (Title: Phenylketonuria -- History and [...]</a:t>
              </a:r>
            </a:p>
          </p:txBody>
        </p:sp>
        <p:sp>
          <p:nvSpPr>
            <p:cNvPr id="98" name="first-umls-card">
              <a:extLst xmlns:a="http://schemas.openxmlformats.org/drawingml/2006/main">
                <a:ext uri="{FF2B5EF4-FFF2-40B4-BE49-F238E27FC236}">
                  <a16:creationId xmlns:a16="http://schemas.microsoft.com/office/drawing/2014/main" id="{2378BC53-8C90-4465-ABDC-47B408238E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48350" y="2847975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99" name="first-umls-icon" descr="first-umls-icon">
              <a:extLst xmlns:a="http://schemas.openxmlformats.org/drawingml/2006/main">
                <a:ext uri="{FF2B5EF4-FFF2-40B4-BE49-F238E27FC236}">
                  <a16:creationId xmlns:a16="http://schemas.microsoft.com/office/drawing/2014/main" id="{EAE05A5C-2CF1-49E2-A5CA-7FA1839440C3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ea63f78ed9442d0"/>
            <a:stretch xmlns:a="http://schemas.openxmlformats.org/drawingml/2006/main"/>
          </p:blipFill>
          <p:spPr>
            <a:xfrm xmlns:a="http://schemas.openxmlformats.org/drawingml/2006/main">
              <a:off x="5886450" y="2881313"/>
              <a:ext cx="228600" cy="228600"/>
            </a:xfrm>
            <a:prstGeom xmlns:a="http://schemas.openxmlformats.org/drawingml/2006/main" prst="rect">
              <a:avLst/>
            </a:prstGeom>
          </p:spPr>
        </p:pic>
        <p:sp>
          <p:nvSpPr>
            <p:cNvPr id="100" name="first-umls-tool-label">
              <a:extLst xmlns:a="http://schemas.openxmlformats.org/drawingml/2006/main">
                <a:ext uri="{FF2B5EF4-FFF2-40B4-BE49-F238E27FC236}">
                  <a16:creationId xmlns:a16="http://schemas.microsoft.com/office/drawing/2014/main" id="{1A7DF155-0AB3-4DAE-883A-492DCFE9EB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0" y="3114675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UMLS</a:t>
              </a:r>
            </a:p>
          </p:txBody>
        </p:sp>
        <p:sp>
          <p:nvSpPr>
            <p:cNvPr id="101" name="first-umls-act-prefix">
              <a:extLst xmlns:a="http://schemas.openxmlformats.org/drawingml/2006/main">
                <a:ext uri="{FF2B5EF4-FFF2-40B4-BE49-F238E27FC236}">
                  <a16:creationId xmlns:a16="http://schemas.microsoft.com/office/drawing/2014/main" id="{028A5070-1C65-4D84-ABE7-3313A65A3A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8400" y="2867025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102" name="first-umls-act">
              <a:extLst xmlns:a="http://schemas.openxmlformats.org/drawingml/2006/main">
                <a:ext uri="{FF2B5EF4-FFF2-40B4-BE49-F238E27FC236}">
                  <a16:creationId xmlns:a16="http://schemas.microsoft.com/office/drawing/2014/main" id="{6A37D2DF-1957-4016-89FB-207C1698A1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57975" y="2867025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"variable expressivity"</a:t>
              </a:r>
            </a:p>
          </p:txBody>
        </p:sp>
        <p:sp>
          <p:nvSpPr>
            <p:cNvPr id="103" name="first-umls-obs-prefix">
              <a:extLst xmlns:a="http://schemas.openxmlformats.org/drawingml/2006/main">
                <a:ext uri="{FF2B5EF4-FFF2-40B4-BE49-F238E27FC236}">
                  <a16:creationId xmlns:a16="http://schemas.microsoft.com/office/drawing/2014/main" id="{9DCB8ACC-C8AC-49E6-BE57-D1B3555008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8400" y="3038475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104" name="first-umls-obs">
              <a:extLst xmlns:a="http://schemas.openxmlformats.org/drawingml/2006/main">
                <a:ext uri="{FF2B5EF4-FFF2-40B4-BE49-F238E27FC236}">
                  <a16:creationId xmlns:a16="http://schemas.microsoft.com/office/drawing/2014/main" id="{F3225C35-DADE-4D51-B0F6-08C5106B4B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57975" y="3038475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Name: Variable expressivity. Definition: A variable severity [...]</a:t>
              </a:r>
            </a:p>
          </p:txBody>
        </p:sp>
        <p:sp>
          <p:nvSpPr>
            <p:cNvPr id="105" name="first-finish-prefix">
              <a:extLst xmlns:a="http://schemas.openxmlformats.org/drawingml/2006/main">
                <a:ext uri="{FF2B5EF4-FFF2-40B4-BE49-F238E27FC236}">
                  <a16:creationId xmlns:a16="http://schemas.microsoft.com/office/drawing/2014/main" id="{3DD71097-6C01-48FD-A746-E969911752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86475" y="3305175"/>
              <a:ext cx="5810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Finish ›</a:t>
              </a:r>
            </a:p>
          </p:txBody>
        </p:sp>
        <p:sp>
          <p:nvSpPr>
            <p:cNvPr id="106" name="first-answer-highlight">
              <a:extLst xmlns:a="http://schemas.openxmlformats.org/drawingml/2006/main">
                <a:ext uri="{FF2B5EF4-FFF2-40B4-BE49-F238E27FC236}">
                  <a16:creationId xmlns:a16="http://schemas.microsoft.com/office/drawing/2014/main" id="{9CD20485-9F7B-4567-A9F1-A60308275D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77025" y="3352800"/>
              <a:ext cx="136207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BD0CB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07" name="first-finish-answer">
              <a:extLst xmlns:a="http://schemas.openxmlformats.org/drawingml/2006/main">
                <a:ext uri="{FF2B5EF4-FFF2-40B4-BE49-F238E27FC236}">
                  <a16:creationId xmlns:a16="http://schemas.microsoft.com/office/drawing/2014/main" id="{CF908232-B881-411F-81B4-1F6EB37AFF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77025" y="3314700"/>
              <a:ext cx="32099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D. Variable expressivity</a:t>
              </a:r>
            </a:p>
          </p:txBody>
        </p:sp>
      </p:grpSp>
      <p:sp>
        <p:nvSpPr>
          <p:cNvPr id="108" name="first-result-disc">
            <a:extLst xmlns:a="http://schemas.openxmlformats.org/drawingml/2006/main">
              <a:ext uri="{FF2B5EF4-FFF2-40B4-BE49-F238E27FC236}">
                <a16:creationId xmlns:a16="http://schemas.microsoft.com/office/drawing/2014/main" id="{42E61726-8141-4189-B0DC-097A8E2273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125075" y="32480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first-result-x1">
            <a:extLst xmlns:a="http://schemas.openxmlformats.org/drawingml/2006/main">
              <a:ext uri="{FF2B5EF4-FFF2-40B4-BE49-F238E27FC236}">
                <a16:creationId xmlns:a16="http://schemas.microsoft.com/office/drawing/2014/main" id="{C6DB74B8-0524-4B24-BBFF-E1AC2402B9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48900" y="3371850"/>
            <a:ext cx="161925" cy="161925"/>
          </a:xfrm>
          <a:custGeom xmlns:a="http://schemas.openxmlformats.org/drawingml/2006/main">
            <a:pathLst>
              <a:path w="161925" h="161925">
                <a:moveTo>
                  <a:pt x="0" y="0"/>
                </a:moveTo>
                <a:lnTo>
                  <a:pt x="16192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10" name="first-result-x2">
            <a:extLst xmlns:a="http://schemas.openxmlformats.org/drawingml/2006/main">
              <a:ext uri="{FF2B5EF4-FFF2-40B4-BE49-F238E27FC236}">
                <a16:creationId xmlns:a16="http://schemas.microsoft.com/office/drawing/2014/main" id="{9D0D19F6-F5C8-4121-95E1-861ABE0CF3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48900" y="3371850"/>
            <a:ext cx="161925" cy="161925"/>
          </a:xfrm>
          <a:custGeom xmlns:a="http://schemas.openxmlformats.org/drawingml/2006/main">
            <a:pathLst>
              <a:path w="161925" h="161925">
                <a:moveTo>
                  <a:pt x="161925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grpSp>
        <p:nvGrpSpPr>
          <p:cNvPr id="348" name="reflect-aware-input"/>
          <p:cNvGrpSpPr/>
          <p:nvPr/>
        </p:nvGrpSpPr>
        <p:grpSpPr>
          <ns1:xfrm xmlns:ns1="http://schemas.openxmlformats.org/drawingml/2006/main">
            <ns1:off x="571500" y="5124450"/>
            <ns1:ext cx="4619625" cy="1266825"/>
            <ns1:chOff x="571500" y="5124450"/>
            <ns1:chExt cx="4619625" cy="1266825"/>
          </ns1:xfrm>
        </p:grpSpPr>
        <p:sp>
          <p:nvSpPr>
            <p:cNvPr id="111" name="reflect-aware-input-frame">
              <a:extLst xmlns:a="http://schemas.openxmlformats.org/drawingml/2006/main">
                <a:ext uri="{FF2B5EF4-FFF2-40B4-BE49-F238E27FC236}">
                  <a16:creationId xmlns:a16="http://schemas.microsoft.com/office/drawing/2014/main" id="{0BC70243-B8C4-4255-BA29-EF0A216AD3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5248275"/>
              <a:ext cx="4619625" cy="1143000"/>
            </a:xfrm>
            <a:prstGeom xmlns:a="http://schemas.openxmlformats.org/drawingml/2006/main" prst="roundRect">
              <a:avLst>
                <a:gd name="adj" fmla="val 41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sp>
          <p:nvSpPr>
            <p:cNvPr id="112" name="reflect-aware-input-title-frame">
              <a:extLst xmlns:a="http://schemas.openxmlformats.org/drawingml/2006/main">
                <a:ext uri="{FF2B5EF4-FFF2-40B4-BE49-F238E27FC236}">
                  <a16:creationId xmlns:a16="http://schemas.microsoft.com/office/drawing/2014/main" id="{978347DE-DAA5-464D-A7D4-AA7DEE1882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14525" y="5124450"/>
              <a:ext cx="1962150" cy="2667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000000"/>
              </a:solidFill>
              <a:prstDash val="solid"/>
            </a:ln>
          </p:spPr>
        </p:sp>
        <p:sp>
          <p:nvSpPr>
            <p:cNvPr id="113" name="reflect-aware-input-title-label">
              <a:extLst xmlns:a="http://schemas.openxmlformats.org/drawingml/2006/main">
                <a:ext uri="{FF2B5EF4-FFF2-40B4-BE49-F238E27FC236}">
                  <a16:creationId xmlns:a16="http://schemas.microsoft.com/office/drawing/2014/main" id="{1E7CEE51-CC9F-4DF8-BC0D-8528F5A436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2150" y="5124450"/>
              <a:ext cx="18669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Reflect-Aware Input</a:t>
              </a:r>
            </a:p>
          </p:txBody>
        </p:sp>
        <p:sp>
          <p:nvSpPr>
            <p:cNvPr id="114" name="reflect-task-prefix">
              <a:extLst xmlns:a="http://schemas.openxmlformats.org/drawingml/2006/main">
                <a:ext uri="{FF2B5EF4-FFF2-40B4-BE49-F238E27FC236}">
                  <a16:creationId xmlns:a16="http://schemas.microsoft.com/office/drawing/2014/main" id="{AC2C7E1B-2EC3-4878-B741-3810358B39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5524500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Task:</a:t>
              </a:r>
            </a:p>
          </p:txBody>
        </p:sp>
        <p:sp>
          <p:nvSpPr>
            <p:cNvPr id="115" name="reflect-task-line1">
              <a:extLst xmlns:a="http://schemas.openxmlformats.org/drawingml/2006/main">
                <a:ext uri="{FF2B5EF4-FFF2-40B4-BE49-F238E27FC236}">
                  <a16:creationId xmlns:a16="http://schemas.microsoft.com/office/drawing/2014/main" id="{D601DE40-6B84-4EF5-AE20-1E3F17EB48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1100" y="5524500"/>
              <a:ext cx="38766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Question: A 9-month-old female is brought to the emergency</a:t>
              </a:r>
            </a:p>
          </p:txBody>
        </p:sp>
        <p:sp>
          <p:nvSpPr>
            <p:cNvPr id="116" name="reflect-task-line2">
              <a:extLst xmlns:a="http://schemas.openxmlformats.org/drawingml/2006/main">
                <a:ext uri="{FF2B5EF4-FFF2-40B4-BE49-F238E27FC236}">
                  <a16:creationId xmlns:a16="http://schemas.microsoft.com/office/drawing/2014/main" id="{2DBF485A-AECC-441C-909C-0B9EEF24B3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5686425"/>
              <a:ext cx="42386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department after experiencing a seizure [...]</a:t>
              </a:r>
            </a:p>
          </p:txBody>
        </p:sp>
        <p:sp>
          <p:nvSpPr>
            <p:cNvPr id="117" name="reflect-first-prefix">
              <a:extLst xmlns:a="http://schemas.openxmlformats.org/drawingml/2006/main">
                <a:ext uri="{FF2B5EF4-FFF2-40B4-BE49-F238E27FC236}">
                  <a16:creationId xmlns:a16="http://schemas.microsoft.com/office/drawing/2014/main" id="{77352EEB-08AF-4B5A-8346-B5623AC39A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5848350"/>
              <a:ext cx="10572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First Trajectory:</a:t>
              </a:r>
            </a:p>
          </p:txBody>
        </p:sp>
        <p:sp>
          <p:nvSpPr>
            <p:cNvPr id="118" name="reflect-first-content">
              <a:extLst xmlns:a="http://schemas.openxmlformats.org/drawingml/2006/main">
                <a:ext uri="{FF2B5EF4-FFF2-40B4-BE49-F238E27FC236}">
                  <a16:creationId xmlns:a16="http://schemas.microsoft.com/office/drawing/2014/main" id="{5D31F8FD-B187-4A75-826C-40C2283F94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7375" y="5848350"/>
              <a:ext cx="31908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Act: First, I need to understand the symptoms and [...]</a:t>
              </a:r>
            </a:p>
          </p:txBody>
        </p:sp>
        <p:sp>
          <p:nvSpPr>
            <p:cNvPr id="119" name="reflect-reflection-prefix">
              <a:extLst xmlns:a="http://schemas.openxmlformats.org/drawingml/2006/main">
                <a:ext uri="{FF2B5EF4-FFF2-40B4-BE49-F238E27FC236}">
                  <a16:creationId xmlns:a16="http://schemas.microsoft.com/office/drawing/2014/main" id="{11DF89CA-9E56-42D7-8E4F-22AE8D2BAA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6010275"/>
              <a:ext cx="7429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Reflection:</a:t>
              </a:r>
            </a:p>
          </p:txBody>
        </p:sp>
        <p:sp>
          <p:nvSpPr>
            <p:cNvPr id="120" name="reflect-reflection-content1">
              <a:extLst xmlns:a="http://schemas.openxmlformats.org/drawingml/2006/main">
                <a:ext uri="{FF2B5EF4-FFF2-40B4-BE49-F238E27FC236}">
                  <a16:creationId xmlns:a16="http://schemas.microsoft.com/office/drawing/2014/main" id="{D69BA2CA-BB17-44D7-A178-382255FE3F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4000" y="6010275"/>
              <a:ext cx="3524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 previous trial involved diagnosing a patient's condition</a:t>
              </a:r>
            </a:p>
          </p:txBody>
        </p:sp>
        <p:sp>
          <p:nvSpPr>
            <p:cNvPr id="121" name="reflect-reflection-content2">
              <a:extLst xmlns:a="http://schemas.openxmlformats.org/drawingml/2006/main">
                <a:ext uri="{FF2B5EF4-FFF2-40B4-BE49-F238E27FC236}">
                  <a16:creationId xmlns:a16="http://schemas.microsoft.com/office/drawing/2014/main" id="{D28875B6-1629-437B-9FB7-E099EC7B75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6172200"/>
              <a:ext cx="42767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based on symptoms and [...] To improve result accuracy [...]</a:t>
              </a:r>
            </a:p>
          </p:txBody>
        </p:sp>
      </p:grpSp>
      <p:grpSp>
        <p:nvGrpSpPr>
          <p:cNvPr id="349" name="second-trajectory"/>
          <p:cNvGrpSpPr/>
          <p:nvPr/>
        </p:nvGrpSpPr>
        <p:grpSpPr>
          <ns1:xfrm xmlns:ns1="http://schemas.openxmlformats.org/drawingml/2006/main">
            <ns1:off x="5715000" y="3867150"/>
            <ns1:ext cx="4657725" cy="2524125"/>
            <ns1:chOff x="5715000" y="3867150"/>
            <ns1:chExt cx="4657725" cy="2524125"/>
          </ns1:xfrm>
        </p:grpSpPr>
        <p:sp>
          <p:nvSpPr>
            <p:cNvPr id="122" name="second-trajectory-frame">
              <a:extLst xmlns:a="http://schemas.openxmlformats.org/drawingml/2006/main">
                <a:ext uri="{FF2B5EF4-FFF2-40B4-BE49-F238E27FC236}">
                  <a16:creationId xmlns:a16="http://schemas.microsoft.com/office/drawing/2014/main" id="{E2436946-8B5A-4ECE-AC2A-0EBAC2BB32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0" y="3981450"/>
              <a:ext cx="4657725" cy="2409825"/>
            </a:xfrm>
            <a:prstGeom xmlns:a="http://schemas.openxmlformats.org/drawingml/2006/main" prst="roundRect">
              <a:avLst>
                <a:gd name="adj" fmla="val 474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sp>
          <p:nvSpPr>
            <p:cNvPr id="123" name="second-trajectory-title-frame">
              <a:extLst xmlns:a="http://schemas.openxmlformats.org/drawingml/2006/main">
                <a:ext uri="{FF2B5EF4-FFF2-40B4-BE49-F238E27FC236}">
                  <a16:creationId xmlns:a16="http://schemas.microsoft.com/office/drawing/2014/main" id="{C7BCB76E-BF62-4E22-9228-FE384BD02E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96125" y="3867150"/>
              <a:ext cx="1952625" cy="2667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000000"/>
              </a:solidFill>
              <a:prstDash val="solid"/>
            </a:ln>
          </p:spPr>
        </p:sp>
        <p:sp>
          <p:nvSpPr>
            <p:cNvPr id="124" name="second-trajectory-title-label">
              <a:extLst xmlns:a="http://schemas.openxmlformats.org/drawingml/2006/main">
                <a:ext uri="{FF2B5EF4-FFF2-40B4-BE49-F238E27FC236}">
                  <a16:creationId xmlns:a16="http://schemas.microsoft.com/office/drawing/2014/main" id="{3232C31C-8F08-41B8-B92D-D8DDB4D7C1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0" y="3867150"/>
              <a:ext cx="18573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Second Trajectory</a:t>
              </a:r>
            </a:p>
          </p:txBody>
        </p:sp>
        <p:sp>
          <p:nvSpPr>
            <p:cNvPr id="125" name="second-plan-card">
              <a:extLst xmlns:a="http://schemas.openxmlformats.org/drawingml/2006/main">
                <a:ext uri="{FF2B5EF4-FFF2-40B4-BE49-F238E27FC236}">
                  <a16:creationId xmlns:a16="http://schemas.microsoft.com/office/drawing/2014/main" id="{38D51601-7F5A-4E5C-9BBF-6E2EE253AB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4210050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sp>
          <p:nvSpPr>
            <p:cNvPr id="126" name="second-plan-plan-heading">
              <a:extLst xmlns:a="http://schemas.openxmlformats.org/drawingml/2006/main">
                <a:ext uri="{FF2B5EF4-FFF2-40B4-BE49-F238E27FC236}">
                  <a16:creationId xmlns:a16="http://schemas.microsoft.com/office/drawing/2014/main" id="{E2AD041A-66F3-44CC-975B-1914FD6420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57875" y="4219575"/>
              <a:ext cx="266700" cy="104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27" name="second-plan-plan-check-0">
              <a:extLst xmlns:a="http://schemas.openxmlformats.org/drawingml/2006/main">
                <a:ext uri="{FF2B5EF4-FFF2-40B4-BE49-F238E27FC236}">
                  <a16:creationId xmlns:a16="http://schemas.microsoft.com/office/drawing/2014/main" id="{8C5A1615-296E-49DC-8082-7A708366CE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67400" y="4333875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28" name="second-plan-plan-line-0">
              <a:extLst xmlns:a="http://schemas.openxmlformats.org/drawingml/2006/main">
                <a:ext uri="{FF2B5EF4-FFF2-40B4-BE49-F238E27FC236}">
                  <a16:creationId xmlns:a16="http://schemas.microsoft.com/office/drawing/2014/main" id="{6B0313C1-7A4B-4EBF-A33B-85C56A6795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62650" y="4352925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29" name="second-plan-plan-check-1">
              <a:extLst xmlns:a="http://schemas.openxmlformats.org/drawingml/2006/main">
                <a:ext uri="{FF2B5EF4-FFF2-40B4-BE49-F238E27FC236}">
                  <a16:creationId xmlns:a16="http://schemas.microsoft.com/office/drawing/2014/main" id="{D0E997C9-4914-4073-8FA1-D219F568BD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67400" y="4410075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30" name="second-plan-plan-line-1">
              <a:extLst xmlns:a="http://schemas.openxmlformats.org/drawingml/2006/main">
                <a:ext uri="{FF2B5EF4-FFF2-40B4-BE49-F238E27FC236}">
                  <a16:creationId xmlns:a16="http://schemas.microsoft.com/office/drawing/2014/main" id="{029F8B41-7739-41B7-AFBD-EB23E41B00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62650" y="4429125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1" name="second-plan-plan-check-2">
              <a:extLst xmlns:a="http://schemas.openxmlformats.org/drawingml/2006/main">
                <a:ext uri="{FF2B5EF4-FFF2-40B4-BE49-F238E27FC236}">
                  <a16:creationId xmlns:a16="http://schemas.microsoft.com/office/drawing/2014/main" id="{EE981C19-AF57-4658-BF71-024AB4B0ED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67400" y="4486275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32" name="second-plan-plan-line-2">
              <a:extLst xmlns:a="http://schemas.openxmlformats.org/drawingml/2006/main">
                <a:ext uri="{FF2B5EF4-FFF2-40B4-BE49-F238E27FC236}">
                  <a16:creationId xmlns:a16="http://schemas.microsoft.com/office/drawing/2014/main" id="{48A98F23-9E40-4F3D-9490-3EEA677E6A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62650" y="4505325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3" name="second-plan-act-prefix">
              <a:extLst xmlns:a="http://schemas.openxmlformats.org/drawingml/2006/main">
                <a:ext uri="{FF2B5EF4-FFF2-40B4-BE49-F238E27FC236}">
                  <a16:creationId xmlns:a16="http://schemas.microsoft.com/office/drawing/2014/main" id="{C8A3CA93-514C-44BE-B3A1-84E81DB908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4229100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134" name="second-plan-act">
              <a:extLst xmlns:a="http://schemas.openxmlformats.org/drawingml/2006/main">
                <a:ext uri="{FF2B5EF4-FFF2-40B4-BE49-F238E27FC236}">
                  <a16:creationId xmlns:a16="http://schemas.microsoft.com/office/drawing/2014/main" id="{6A234723-0415-4BD3-ABE1-E64AEBD745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8450" y="4229100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First, I will search for the medical condition that matches [...]</a:t>
              </a:r>
            </a:p>
          </p:txBody>
        </p:sp>
        <p:sp>
          <p:nvSpPr>
            <p:cNvPr id="135" name="second-plan-obs-prefix">
              <a:extLst xmlns:a="http://schemas.openxmlformats.org/drawingml/2006/main">
                <a:ext uri="{FF2B5EF4-FFF2-40B4-BE49-F238E27FC236}">
                  <a16:creationId xmlns:a16="http://schemas.microsoft.com/office/drawing/2014/main" id="{A930E642-E177-466F-BB27-DDFBBFEE2E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4400550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136" name="second-plan-obs">
              <a:extLst xmlns:a="http://schemas.openxmlformats.org/drawingml/2006/main">
                <a:ext uri="{FF2B5EF4-FFF2-40B4-BE49-F238E27FC236}">
                  <a16:creationId xmlns:a16="http://schemas.microsoft.com/office/drawing/2014/main" id="{B668D02E-BA38-4017-B021-BA7DB9DBB9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8450" y="4400550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OK</a:t>
              </a:r>
            </a:p>
          </p:txBody>
        </p:sp>
        <p:sp>
          <p:nvSpPr>
            <p:cNvPr id="137" name="second-medrag-card">
              <a:extLst xmlns:a="http://schemas.openxmlformats.org/drawingml/2006/main">
                <a:ext uri="{FF2B5EF4-FFF2-40B4-BE49-F238E27FC236}">
                  <a16:creationId xmlns:a16="http://schemas.microsoft.com/office/drawing/2014/main" id="{5A0D0E56-FB54-42DF-B7BB-7343F1C715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4686300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138" name="second-medrag-icon" descr="second-medrag-icon">
              <a:extLst xmlns:a="http://schemas.openxmlformats.org/drawingml/2006/main">
                <a:ext uri="{FF2B5EF4-FFF2-40B4-BE49-F238E27FC236}">
                  <a16:creationId xmlns:a16="http://schemas.microsoft.com/office/drawing/2014/main" id="{3DE419D8-3028-43A0-9137-B8E771B177B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8c9950159d3e4c2e"/>
            <a:stretch xmlns:a="http://schemas.openxmlformats.org/drawingml/2006/main"/>
          </p:blipFill>
          <p:spPr>
            <a:xfrm xmlns:a="http://schemas.openxmlformats.org/drawingml/2006/main">
              <a:off x="5876925" y="4752191"/>
              <a:ext cx="228600" cy="163492"/>
            </a:xfrm>
            <a:prstGeom xmlns:a="http://schemas.openxmlformats.org/drawingml/2006/main" prst="rect">
              <a:avLst/>
            </a:prstGeom>
          </p:spPr>
        </p:pic>
        <p:sp>
          <p:nvSpPr>
            <p:cNvPr id="139" name="second-medrag-tool-label">
              <a:extLst xmlns:a="http://schemas.openxmlformats.org/drawingml/2006/main">
                <a:ext uri="{FF2B5EF4-FFF2-40B4-BE49-F238E27FC236}">
                  <a16:creationId xmlns:a16="http://schemas.microsoft.com/office/drawing/2014/main" id="{DA957955-7B09-4AA9-8113-1D1FCD8CB8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9775" y="4953000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MedRAG</a:t>
              </a:r>
            </a:p>
          </p:txBody>
        </p:sp>
        <p:sp>
          <p:nvSpPr>
            <p:cNvPr id="140" name="second-medrag-act-prefix">
              <a:extLst xmlns:a="http://schemas.openxmlformats.org/drawingml/2006/main">
                <a:ext uri="{FF2B5EF4-FFF2-40B4-BE49-F238E27FC236}">
                  <a16:creationId xmlns:a16="http://schemas.microsoft.com/office/drawing/2014/main" id="{866C2C8F-EC19-4414-B143-1BCAE22E10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4705350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141" name="second-medrag-act">
              <a:extLst xmlns:a="http://schemas.openxmlformats.org/drawingml/2006/main">
                <a:ext uri="{FF2B5EF4-FFF2-40B4-BE49-F238E27FC236}">
                  <a16:creationId xmlns:a16="http://schemas.microsoft.com/office/drawing/2014/main" id="{69314755-911F-493C-89D4-C435665218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8450" y="4705350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seizure, microcephaly, light pigmentation, musty body odor</a:t>
              </a:r>
            </a:p>
          </p:txBody>
        </p:sp>
        <p:sp>
          <p:nvSpPr>
            <p:cNvPr id="142" name="second-medrag-obs-prefix">
              <a:extLst xmlns:a="http://schemas.openxmlformats.org/drawingml/2006/main">
                <a:ext uri="{FF2B5EF4-FFF2-40B4-BE49-F238E27FC236}">
                  <a16:creationId xmlns:a16="http://schemas.microsoft.com/office/drawing/2014/main" id="{787E77CF-97E0-4AC9-A826-2D770A0293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4876800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143" name="second-medrag-obs">
              <a:extLst xmlns:a="http://schemas.openxmlformats.org/drawingml/2006/main">
                <a:ext uri="{FF2B5EF4-FFF2-40B4-BE49-F238E27FC236}">
                  <a16:creationId xmlns:a16="http://schemas.microsoft.com/office/drawing/2014/main" id="{1B89A969-C02F-441C-B3A2-C6E789A28F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8450" y="4876800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Document [0] (Title: Phenylketonuria -- History and [...]</a:t>
              </a:r>
            </a:p>
          </p:txBody>
        </p:sp>
        <p:sp>
          <p:nvSpPr>
            <p:cNvPr id="144" name="second-think-card">
              <a:extLst xmlns:a="http://schemas.openxmlformats.org/drawingml/2006/main">
                <a:ext uri="{FF2B5EF4-FFF2-40B4-BE49-F238E27FC236}">
                  <a16:creationId xmlns:a16="http://schemas.microsoft.com/office/drawing/2014/main" id="{BBB337FF-5F71-47C7-9DE6-25DCCD23EB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5162550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145" name="second-think-icon" descr="second-think-icon">
              <a:extLst xmlns:a="http://schemas.openxmlformats.org/drawingml/2006/main">
                <a:ext uri="{FF2B5EF4-FFF2-40B4-BE49-F238E27FC236}">
                  <a16:creationId xmlns:a16="http://schemas.microsoft.com/office/drawing/2014/main" id="{E78D9E8E-DA25-499A-AE10-F362B024F7EC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68bbc3b0d42d4b2d"/>
            <a:stretch xmlns:a="http://schemas.openxmlformats.org/drawingml/2006/main"/>
          </p:blipFill>
          <p:spPr>
            <a:xfrm xmlns:a="http://schemas.openxmlformats.org/drawingml/2006/main">
              <a:off x="5920235" y="5191125"/>
              <a:ext cx="141981" cy="238125"/>
            </a:xfrm>
            <a:prstGeom xmlns:a="http://schemas.openxmlformats.org/drawingml/2006/main" prst="rect">
              <a:avLst/>
            </a:prstGeom>
          </p:spPr>
        </p:pic>
        <p:sp>
          <p:nvSpPr>
            <p:cNvPr id="146" name="second-think-tool-label">
              <a:extLst xmlns:a="http://schemas.openxmlformats.org/drawingml/2006/main">
                <a:ext uri="{FF2B5EF4-FFF2-40B4-BE49-F238E27FC236}">
                  <a16:creationId xmlns:a16="http://schemas.microsoft.com/office/drawing/2014/main" id="{276A9C11-F11F-4A92-9BE6-2BEF09BB34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9775" y="5429250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Think</a:t>
              </a:r>
            </a:p>
          </p:txBody>
        </p:sp>
        <p:sp>
          <p:nvSpPr>
            <p:cNvPr id="147" name="second-think-act-highlight">
              <a:extLst xmlns:a="http://schemas.openxmlformats.org/drawingml/2006/main">
                <a:ext uri="{FF2B5EF4-FFF2-40B4-BE49-F238E27FC236}">
                  <a16:creationId xmlns:a16="http://schemas.microsoft.com/office/drawing/2014/main" id="{5BDCE9E1-9840-4A92-AFD0-E85C77ADE9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5181600"/>
              <a:ext cx="4000500" cy="152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C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48" name="second-think-obs-highlight">
              <a:extLst xmlns:a="http://schemas.openxmlformats.org/drawingml/2006/main">
                <a:ext uri="{FF2B5EF4-FFF2-40B4-BE49-F238E27FC236}">
                  <a16:creationId xmlns:a16="http://schemas.microsoft.com/office/drawing/2014/main" id="{DEA51ABC-F7BF-4F35-A499-213A9D6755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5353050"/>
              <a:ext cx="581025" cy="152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C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49" name="second-think-act-prefix">
              <a:extLst xmlns:a="http://schemas.openxmlformats.org/drawingml/2006/main">
                <a:ext uri="{FF2B5EF4-FFF2-40B4-BE49-F238E27FC236}">
                  <a16:creationId xmlns:a16="http://schemas.microsoft.com/office/drawing/2014/main" id="{A41588D0-AF71-42B8-BF11-6B27E8478B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5181600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150" name="second-think-act">
              <a:extLst xmlns:a="http://schemas.openxmlformats.org/drawingml/2006/main">
                <a:ext uri="{FF2B5EF4-FFF2-40B4-BE49-F238E27FC236}">
                  <a16:creationId xmlns:a16="http://schemas.microsoft.com/office/drawing/2014/main" id="{F3C05E96-6F3D-424F-84F2-8BC8E2EFB7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8450" y="5181600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 symptoms described in the case are consistent with [...]</a:t>
              </a:r>
            </a:p>
          </p:txBody>
        </p:sp>
        <p:sp>
          <p:nvSpPr>
            <p:cNvPr id="151" name="second-think-obs-prefix">
              <a:extLst xmlns:a="http://schemas.openxmlformats.org/drawingml/2006/main">
                <a:ext uri="{FF2B5EF4-FFF2-40B4-BE49-F238E27FC236}">
                  <a16:creationId xmlns:a16="http://schemas.microsoft.com/office/drawing/2014/main" id="{AFD3EA23-E680-48CD-84F8-6E4CE03D3F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5353050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152" name="second-think-obs">
              <a:extLst xmlns:a="http://schemas.openxmlformats.org/drawingml/2006/main">
                <a:ext uri="{FF2B5EF4-FFF2-40B4-BE49-F238E27FC236}">
                  <a16:creationId xmlns:a16="http://schemas.microsoft.com/office/drawing/2014/main" id="{7B454051-682C-4935-9422-2EE7CF90CD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8450" y="5353050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OK</a:t>
              </a:r>
            </a:p>
          </p:txBody>
        </p:sp>
        <p:sp>
          <p:nvSpPr>
            <p:cNvPr id="153" name="second-umls-card">
              <a:extLst xmlns:a="http://schemas.openxmlformats.org/drawingml/2006/main">
                <a:ext uri="{FF2B5EF4-FFF2-40B4-BE49-F238E27FC236}">
                  <a16:creationId xmlns:a16="http://schemas.microsoft.com/office/drawing/2014/main" id="{4E76949C-BC95-44D7-888A-F9EE73411F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5638800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154" name="second-umls-icon" descr="second-umls-icon">
              <a:extLst xmlns:a="http://schemas.openxmlformats.org/drawingml/2006/main">
                <a:ext uri="{FF2B5EF4-FFF2-40B4-BE49-F238E27FC236}">
                  <a16:creationId xmlns:a16="http://schemas.microsoft.com/office/drawing/2014/main" id="{6D9F1CB0-7783-41B5-8A6F-83885EEB6508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ebfcb88c35d641df"/>
            <a:stretch xmlns:a="http://schemas.openxmlformats.org/drawingml/2006/main"/>
          </p:blipFill>
          <p:spPr>
            <a:xfrm xmlns:a="http://schemas.openxmlformats.org/drawingml/2006/main">
              <a:off x="5876925" y="5672138"/>
              <a:ext cx="228600" cy="228600"/>
            </a:xfrm>
            <a:prstGeom xmlns:a="http://schemas.openxmlformats.org/drawingml/2006/main" prst="rect">
              <a:avLst/>
            </a:prstGeom>
          </p:spPr>
        </p:pic>
        <p:sp>
          <p:nvSpPr>
            <p:cNvPr id="155" name="second-umls-tool-label">
              <a:extLst xmlns:a="http://schemas.openxmlformats.org/drawingml/2006/main">
                <a:ext uri="{FF2B5EF4-FFF2-40B4-BE49-F238E27FC236}">
                  <a16:creationId xmlns:a16="http://schemas.microsoft.com/office/drawing/2014/main" id="{E720BAAC-48B2-44A3-99AF-0DD78D88DB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9775" y="5905500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UMLS</a:t>
              </a:r>
            </a:p>
          </p:txBody>
        </p:sp>
        <p:sp>
          <p:nvSpPr>
            <p:cNvPr id="156" name="second-umls-act-prefix">
              <a:extLst xmlns:a="http://schemas.openxmlformats.org/drawingml/2006/main">
                <a:ext uri="{FF2B5EF4-FFF2-40B4-BE49-F238E27FC236}">
                  <a16:creationId xmlns:a16="http://schemas.microsoft.com/office/drawing/2014/main" id="{8C4954BF-529E-42D3-B245-2409E19C31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5657850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157" name="second-umls-act">
              <a:extLst xmlns:a="http://schemas.openxmlformats.org/drawingml/2006/main">
                <a:ext uri="{FF2B5EF4-FFF2-40B4-BE49-F238E27FC236}">
                  <a16:creationId xmlns:a16="http://schemas.microsoft.com/office/drawing/2014/main" id="{E4610A7A-73B9-4F8D-AEDD-7E165D60C1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8450" y="5657850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"pleiotropy"</a:t>
              </a:r>
            </a:p>
          </p:txBody>
        </p:sp>
        <p:sp>
          <p:nvSpPr>
            <p:cNvPr id="158" name="second-umls-obs-prefix">
              <a:extLst xmlns:a="http://schemas.openxmlformats.org/drawingml/2006/main">
                <a:ext uri="{FF2B5EF4-FFF2-40B4-BE49-F238E27FC236}">
                  <a16:creationId xmlns:a16="http://schemas.microsoft.com/office/drawing/2014/main" id="{0B4EAE9F-520F-4413-ADEF-360B81250E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8875" y="5829300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159" name="second-umls-obs">
              <a:extLst xmlns:a="http://schemas.openxmlformats.org/drawingml/2006/main">
                <a:ext uri="{FF2B5EF4-FFF2-40B4-BE49-F238E27FC236}">
                  <a16:creationId xmlns:a16="http://schemas.microsoft.com/office/drawing/2014/main" id="{BA7D1723-3040-4FDD-B2DF-E48A532949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8450" y="5829300"/>
              <a:ext cx="368617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Name: Genetic Pleiotropy. Definition: A phenomenon [...]</a:t>
              </a:r>
            </a:p>
          </p:txBody>
        </p:sp>
        <p:sp>
          <p:nvSpPr>
            <p:cNvPr id="160" name="second-finish-prefix">
              <a:extLst xmlns:a="http://schemas.openxmlformats.org/drawingml/2006/main">
                <a:ext uri="{FF2B5EF4-FFF2-40B4-BE49-F238E27FC236}">
                  <a16:creationId xmlns:a16="http://schemas.microsoft.com/office/drawing/2014/main" id="{E7C02747-1F9B-4010-B111-737812DAB2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76950" y="6105525"/>
              <a:ext cx="5810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Finish ›</a:t>
              </a:r>
            </a:p>
          </p:txBody>
        </p:sp>
        <p:sp>
          <p:nvSpPr>
            <p:cNvPr id="161" name="second-answer-highlight">
              <a:extLst xmlns:a="http://schemas.openxmlformats.org/drawingml/2006/main">
                <a:ext uri="{FF2B5EF4-FFF2-40B4-BE49-F238E27FC236}">
                  <a16:creationId xmlns:a16="http://schemas.microsoft.com/office/drawing/2014/main" id="{64816E9C-BC6B-42A0-B776-391BA154FC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0" y="6153150"/>
              <a:ext cx="7334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9ECCB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62" name="second-finish-answer">
              <a:extLst xmlns:a="http://schemas.openxmlformats.org/drawingml/2006/main">
                <a:ext uri="{FF2B5EF4-FFF2-40B4-BE49-F238E27FC236}">
                  <a16:creationId xmlns:a16="http://schemas.microsoft.com/office/drawing/2014/main" id="{8D86A66E-5A8E-4541-8C36-508984E75D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0" y="6115050"/>
              <a:ext cx="31337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C. Pleiotropy</a:t>
              </a:r>
            </a:p>
          </p:txBody>
        </p:sp>
      </p:grpSp>
      <p:sp>
        <p:nvSpPr>
          <p:cNvPr id="163" name="second-result-disc">
            <a:extLst xmlns:a="http://schemas.openxmlformats.org/drawingml/2006/main">
              <a:ext uri="{FF2B5EF4-FFF2-40B4-BE49-F238E27FC236}">
                <a16:creationId xmlns:a16="http://schemas.microsoft.com/office/drawing/2014/main" id="{ECDD900D-2BE3-43DE-8190-DEFCFF5EF1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106025" y="61436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second-result-tick">
            <a:extLst xmlns:a="http://schemas.openxmlformats.org/drawingml/2006/main">
              <a:ext uri="{FF2B5EF4-FFF2-40B4-BE49-F238E27FC236}">
                <a16:creationId xmlns:a16="http://schemas.microsoft.com/office/drawing/2014/main" id="{12380364-5F73-419A-9DD2-671537BCC4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10800" y="6286500"/>
            <a:ext cx="200025" cy="142875"/>
          </a:xfrm>
          <a:custGeom xmlns:a="http://schemas.openxmlformats.org/drawingml/2006/main">
            <a:pathLst>
              <a:path w="200025" h="142875">
                <a:moveTo>
                  <a:pt x="0" y="76200"/>
                </a:moveTo>
                <a:lnTo>
                  <a:pt x="66675" y="142875"/>
                </a:ln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  <a:prstDash val="solid"/>
          </a:ln>
        </p:spPr>
      </p:sp>
      <p:grpSp>
        <p:nvGrpSpPr>
          <p:cNvPr id="350" name="verifier"/>
          <p:cNvGrpSpPr/>
          <p:nvPr/>
        </p:nvGrpSpPr>
        <p:grpSpPr>
          <ns1:xfrm xmlns:ns1="http://schemas.openxmlformats.org/drawingml/2006/main">
            <ns1:off x="11449050" y="695325"/>
            <ns1:ext cx="2562225" cy="409575"/>
            <ns1:chOff x="11449050" y="695325"/>
            <ns1:chExt cx="2562225" cy="409575"/>
          </ns1:xfrm>
        </p:grpSpPr>
        <p:sp>
          <p:nvSpPr>
            <p:cNvPr id="165" name="verifier-frame">
              <a:extLst xmlns:a="http://schemas.openxmlformats.org/drawingml/2006/main">
                <a:ext uri="{FF2B5EF4-FFF2-40B4-BE49-F238E27FC236}">
                  <a16:creationId xmlns:a16="http://schemas.microsoft.com/office/drawing/2014/main" id="{5A33DF8F-7CAE-4FEA-A7B2-837FC54773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49050" y="695325"/>
              <a:ext cx="2562225" cy="409575"/>
            </a:xfrm>
            <a:prstGeom xmlns:a="http://schemas.openxmlformats.org/drawingml/2006/main" prst="roundRect">
              <a:avLst>
                <a:gd name="adj" fmla="val 4651"/>
              </a:avLst>
            </a:prstGeom>
            <a:solidFill xmlns:a="http://schemas.openxmlformats.org/drawingml/2006/main">
              <a:srgbClr val="F3F5FB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pic>
          <p:nvPicPr>
            <p:cNvPr id="166" name="verifier-icon" descr="verifier-icon">
              <a:extLst xmlns:a="http://schemas.openxmlformats.org/drawingml/2006/main">
                <a:ext uri="{FF2B5EF4-FFF2-40B4-BE49-F238E27FC236}">
                  <a16:creationId xmlns:a16="http://schemas.microsoft.com/office/drawing/2014/main" id="{FCEB4213-8E79-40FE-9282-EA156000E0E2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4e7baee3104c4511"/>
            <a:stretch xmlns:a="http://schemas.openxmlformats.org/drawingml/2006/main"/>
          </p:blipFill>
          <p:spPr>
            <a:xfrm xmlns:a="http://schemas.openxmlformats.org/drawingml/2006/main">
              <a:off x="12049125" y="757641"/>
              <a:ext cx="295275" cy="294468"/>
            </a:xfrm>
            <a:prstGeom xmlns:a="http://schemas.openxmlformats.org/drawingml/2006/main" prst="rect">
              <a:avLst/>
            </a:prstGeom>
          </p:spPr>
        </p:pic>
        <p:sp>
          <p:nvSpPr>
            <p:cNvPr id="167" name="verifier-label">
              <a:extLst xmlns:a="http://schemas.openxmlformats.org/drawingml/2006/main">
                <a:ext uri="{FF2B5EF4-FFF2-40B4-BE49-F238E27FC236}">
                  <a16:creationId xmlns:a16="http://schemas.microsoft.com/office/drawing/2014/main" id="{AE37AD74-A663-4A9B-AFA3-BADEE56B29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82500" y="742950"/>
              <a:ext cx="15144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9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Verifier</a:t>
              </a:r>
            </a:p>
          </p:txBody>
        </p:sp>
      </p:grpSp>
      <p:grpSp>
        <p:nvGrpSpPr>
          <p:cNvPr id="351" name="tool-wise-experience"/>
          <p:cNvGrpSpPr/>
          <p:nvPr/>
        </p:nvGrpSpPr>
        <p:grpSpPr>
          <ns1:xfrm xmlns:ns1="http://schemas.openxmlformats.org/drawingml/2006/main">
            <ns1:off x="11010900" y="1276350"/>
            <ns1:ext cx="3314700" cy="3190875"/>
            <ns1:chOff x="11010900" y="1276350"/>
            <ns1:chExt cx="3314700" cy="3190875"/>
          </ns1:xfrm>
        </p:grpSpPr>
        <p:sp>
          <p:nvSpPr>
            <p:cNvPr id="168" name="experience-stack-3">
              <a:extLst xmlns:a="http://schemas.openxmlformats.org/drawingml/2006/main">
                <a:ext uri="{FF2B5EF4-FFF2-40B4-BE49-F238E27FC236}">
                  <a16:creationId xmlns:a16="http://schemas.microsoft.com/office/drawing/2014/main" id="{A7138C03-C3B1-4B4E-98D4-CFCD167A09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68100" y="1485900"/>
              <a:ext cx="2857500" cy="2981325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F1F3FA"/>
            </a:solidFill>
            <a:ln xmlns:a="http://schemas.openxmlformats.org/drawingml/2006/main" w="11430">
              <a:solidFill>
                <a:srgbClr val="213958"/>
              </a:solidFill>
              <a:prstDash val="solid"/>
            </a:ln>
          </p:spPr>
        </p:sp>
        <p:sp>
          <p:nvSpPr>
            <p:cNvPr id="169" name="experience-stack-2">
              <a:extLst xmlns:a="http://schemas.openxmlformats.org/drawingml/2006/main">
                <a:ext uri="{FF2B5EF4-FFF2-40B4-BE49-F238E27FC236}">
                  <a16:creationId xmlns:a16="http://schemas.microsoft.com/office/drawing/2014/main" id="{D92A65CC-CB78-40D0-ADAD-646986C535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58575" y="1457325"/>
              <a:ext cx="2857500" cy="2981325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F1F3FA"/>
            </a:solidFill>
            <a:ln xmlns:a="http://schemas.openxmlformats.org/drawingml/2006/main" w="11430">
              <a:solidFill>
                <a:srgbClr val="213958"/>
              </a:solidFill>
              <a:prstDash val="solid"/>
            </a:ln>
          </p:spPr>
        </p:sp>
        <p:sp>
          <p:nvSpPr>
            <p:cNvPr id="170" name="experience-stack-1">
              <a:extLst xmlns:a="http://schemas.openxmlformats.org/drawingml/2006/main">
                <a:ext uri="{FF2B5EF4-FFF2-40B4-BE49-F238E27FC236}">
                  <a16:creationId xmlns:a16="http://schemas.microsoft.com/office/drawing/2014/main" id="{F7C907C8-6109-433A-BB93-798FB0A4B0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49050" y="1428750"/>
              <a:ext cx="2857500" cy="2981325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F1F3FA"/>
            </a:solidFill>
            <a:ln xmlns:a="http://schemas.openxmlformats.org/drawingml/2006/main" w="11430">
              <a:solidFill>
                <a:srgbClr val="213958"/>
              </a:solidFill>
              <a:prstDash val="solid"/>
            </a:ln>
          </p:spPr>
        </p:sp>
        <p:sp>
          <p:nvSpPr>
            <p:cNvPr id="171" name="experience-card">
              <a:extLst xmlns:a="http://schemas.openxmlformats.org/drawingml/2006/main">
                <a:ext uri="{FF2B5EF4-FFF2-40B4-BE49-F238E27FC236}">
                  <a16:creationId xmlns:a16="http://schemas.microsoft.com/office/drawing/2014/main" id="{0899DBED-8AC0-456C-BAE9-310AF73459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39525" y="1400175"/>
              <a:ext cx="2857500" cy="3000375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13958"/>
              </a:solidFill>
              <a:prstDash val="solid"/>
            </a:ln>
          </p:spPr>
        </p:sp>
        <p:sp>
          <p:nvSpPr>
            <p:cNvPr id="172" name="experience-title-frame">
              <a:extLst xmlns:a="http://schemas.openxmlformats.org/drawingml/2006/main">
                <a:ext uri="{FF2B5EF4-FFF2-40B4-BE49-F238E27FC236}">
                  <a16:creationId xmlns:a16="http://schemas.microsoft.com/office/drawing/2014/main" id="{7982407D-E38C-4D59-AEAE-8498AC3308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01475" y="1276350"/>
              <a:ext cx="2124075" cy="2667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000000"/>
              </a:solidFill>
              <a:prstDash val="solid"/>
            </a:ln>
          </p:spPr>
        </p:sp>
        <p:sp>
          <p:nvSpPr>
            <p:cNvPr id="173" name="experience-title-label">
              <a:extLst xmlns:a="http://schemas.openxmlformats.org/drawingml/2006/main">
                <a:ext uri="{FF2B5EF4-FFF2-40B4-BE49-F238E27FC236}">
                  <a16:creationId xmlns:a16="http://schemas.microsoft.com/office/drawing/2014/main" id="{3489C7B0-6562-43E8-82CB-C33C3E6E01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49100" y="1276350"/>
              <a:ext cx="20288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38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Tool-wise Experience</a:t>
              </a:r>
            </a:p>
          </p:txBody>
        </p:sp>
        <p:sp>
          <p:nvSpPr>
            <p:cNvPr id="174" name="experience-think-card">
              <a:extLst xmlns:a="http://schemas.openxmlformats.org/drawingml/2006/main">
                <a:ext uri="{FF2B5EF4-FFF2-40B4-BE49-F238E27FC236}">
                  <a16:creationId xmlns:a16="http://schemas.microsoft.com/office/drawing/2014/main" id="{AC921847-FA60-438F-805A-4DC323F0EC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9950" y="1533525"/>
              <a:ext cx="419100" cy="638175"/>
            </a:xfrm>
            <a:prstGeom xmlns:a="http://schemas.openxmlformats.org/drawingml/2006/main" prst="roundRect">
              <a:avLst>
                <a:gd name="adj" fmla="val 1136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175" name="experience-think-icon" descr="experience-think-icon">
              <a:extLst xmlns:a="http://schemas.openxmlformats.org/drawingml/2006/main">
                <a:ext uri="{FF2B5EF4-FFF2-40B4-BE49-F238E27FC236}">
                  <a16:creationId xmlns:a16="http://schemas.microsoft.com/office/drawing/2014/main" id="{C3199784-A7A4-439A-A62D-23A5FC6C547F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aae57488a6a4c31"/>
            <a:stretch xmlns:a="http://schemas.openxmlformats.org/drawingml/2006/main"/>
          </p:blipFill>
          <p:spPr>
            <a:xfrm xmlns:a="http://schemas.openxmlformats.org/drawingml/2006/main">
              <a:off x="11100359" y="1562100"/>
              <a:ext cx="278282" cy="466725"/>
            </a:xfrm>
            <a:prstGeom xmlns:a="http://schemas.openxmlformats.org/drawingml/2006/main" prst="rect">
              <a:avLst/>
            </a:prstGeom>
          </p:spPr>
        </p:pic>
        <p:sp>
          <p:nvSpPr>
            <p:cNvPr id="176" name="experience-think-tool-label">
              <a:extLst xmlns:a="http://schemas.openxmlformats.org/drawingml/2006/main">
                <a:ext uri="{FF2B5EF4-FFF2-40B4-BE49-F238E27FC236}">
                  <a16:creationId xmlns:a16="http://schemas.microsoft.com/office/drawing/2014/main" id="{B65B2C66-37A9-4301-8AB0-C86DB60019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2028825"/>
              <a:ext cx="4572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Think</a:t>
              </a:r>
            </a:p>
          </p:txBody>
        </p:sp>
        <p:sp>
          <p:nvSpPr>
            <p:cNvPr id="177" name="experience-calculator-card">
              <a:extLst xmlns:a="http://schemas.openxmlformats.org/drawingml/2006/main">
                <a:ext uri="{FF2B5EF4-FFF2-40B4-BE49-F238E27FC236}">
                  <a16:creationId xmlns:a16="http://schemas.microsoft.com/office/drawing/2014/main" id="{320B5A30-E33B-41E7-A47F-BED345257B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9950" y="2181225"/>
              <a:ext cx="419100" cy="571500"/>
            </a:xfrm>
            <a:prstGeom xmlns:a="http://schemas.openxmlformats.org/drawingml/2006/main" prst="roundRect">
              <a:avLst>
                <a:gd name="adj" fmla="val 1136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178" name="experience-calculator-icon" descr="experience-calculator-icon">
              <a:extLst xmlns:a="http://schemas.openxmlformats.org/drawingml/2006/main">
                <a:ext uri="{FF2B5EF4-FFF2-40B4-BE49-F238E27FC236}">
                  <a16:creationId xmlns:a16="http://schemas.microsoft.com/office/drawing/2014/main" id="{E9525A38-9BB1-4D83-BDED-3E359463DE76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6c7c6124e6c94fec"/>
            <a:stretch xmlns:a="http://schemas.openxmlformats.org/drawingml/2006/main"/>
          </p:blipFill>
          <p:spPr>
            <a:xfrm xmlns:a="http://schemas.openxmlformats.org/drawingml/2006/main">
              <a:off x="11068050" y="2238375"/>
              <a:ext cx="342900" cy="342900"/>
            </a:xfrm>
            <a:prstGeom xmlns:a="http://schemas.openxmlformats.org/drawingml/2006/main" prst="rect">
              <a:avLst/>
            </a:prstGeom>
          </p:spPr>
        </p:pic>
        <p:sp>
          <p:nvSpPr>
            <p:cNvPr id="179" name="experience-calculator-tool-label">
              <a:extLst xmlns:a="http://schemas.openxmlformats.org/drawingml/2006/main">
                <a:ext uri="{FF2B5EF4-FFF2-40B4-BE49-F238E27FC236}">
                  <a16:creationId xmlns:a16="http://schemas.microsoft.com/office/drawing/2014/main" id="{0D6A9928-D5B4-49C7-93F5-C8510F3E39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2609850"/>
              <a:ext cx="4572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4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Calculator</a:t>
              </a:r>
            </a:p>
          </p:txBody>
        </p:sp>
        <p:sp>
          <p:nvSpPr>
            <p:cNvPr id="180" name="experience-code-card">
              <a:extLst xmlns:a="http://schemas.openxmlformats.org/drawingml/2006/main">
                <a:ext uri="{FF2B5EF4-FFF2-40B4-BE49-F238E27FC236}">
                  <a16:creationId xmlns:a16="http://schemas.microsoft.com/office/drawing/2014/main" id="{05F546DB-DF5B-456D-9240-980776F33C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9950" y="2771775"/>
              <a:ext cx="419100" cy="561975"/>
            </a:xfrm>
            <a:prstGeom xmlns:a="http://schemas.openxmlformats.org/drawingml/2006/main" prst="roundRect">
              <a:avLst>
                <a:gd name="adj" fmla="val 1136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sp>
          <p:nvSpPr>
            <p:cNvPr id="181" name="experience-code-code-window">
              <a:extLst xmlns:a="http://schemas.openxmlformats.org/drawingml/2006/main">
                <a:ext uri="{FF2B5EF4-FFF2-40B4-BE49-F238E27FC236}">
                  <a16:creationId xmlns:a16="http://schemas.microsoft.com/office/drawing/2014/main" id="{F5AA61FC-9B39-410F-9A76-6A8556AA00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77575" y="2819400"/>
              <a:ext cx="323850" cy="228600"/>
            </a:xfrm>
            <a:prstGeom xmlns:a="http://schemas.openxmlformats.org/drawingml/2006/main" prst="roundRect">
              <a:avLst>
                <a:gd name="adj" fmla="val 8333"/>
              </a:avLst>
            </a:prstGeom>
            <a:solidFill xmlns:a="http://schemas.openxmlformats.org/drawingml/2006/main">
              <a:srgbClr val="EEF1F4"/>
            </a:solidFill>
            <a:ln xmlns:a="http://schemas.openxmlformats.org/drawingml/2006/main" w="13335">
              <a:solidFill>
                <a:srgbClr val="172030"/>
              </a:solidFill>
              <a:prstDash val="solid"/>
            </a:ln>
          </p:spPr>
        </p:sp>
        <p:sp>
          <p:nvSpPr>
            <p:cNvPr id="182" name="experience-code-code-top">
              <a:extLst xmlns:a="http://schemas.openxmlformats.org/drawingml/2006/main">
                <a:ext uri="{FF2B5EF4-FFF2-40B4-BE49-F238E27FC236}">
                  <a16:creationId xmlns:a16="http://schemas.microsoft.com/office/drawing/2014/main" id="{9FAB3C9E-FF4B-46E1-A4F0-20551157F8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77575" y="2876550"/>
              <a:ext cx="323850" cy="953"/>
            </a:xfrm>
            <a:custGeom xmlns:a="http://schemas.openxmlformats.org/drawingml/2006/main">
              <a:pathLst>
                <a:path w="323850" h="953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172030"/>
              </a:solidFill>
              <a:prstDash val="solid"/>
            </a:ln>
          </p:spPr>
        </p:sp>
        <p:sp>
          <p:nvSpPr>
            <p:cNvPr id="183" name="experience-code-code-symbol">
              <a:extLst xmlns:a="http://schemas.openxmlformats.org/drawingml/2006/main">
                <a:ext uri="{FF2B5EF4-FFF2-40B4-BE49-F238E27FC236}">
                  <a16:creationId xmlns:a16="http://schemas.microsoft.com/office/drawing/2014/main" id="{A86551D3-9152-4FB4-81B7-2E46CC6AE4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96625" y="2876550"/>
              <a:ext cx="285750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‹/›</a:t>
              </a:r>
            </a:p>
          </p:txBody>
        </p:sp>
        <p:sp>
          <p:nvSpPr>
            <p:cNvPr id="184" name="experience-code-tool-label">
              <a:extLst xmlns:a="http://schemas.openxmlformats.org/drawingml/2006/main">
                <a:ext uri="{FF2B5EF4-FFF2-40B4-BE49-F238E27FC236}">
                  <a16:creationId xmlns:a16="http://schemas.microsoft.com/office/drawing/2014/main" id="{6C4BABC7-4246-485A-A657-F15153F667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39475" y="3057525"/>
              <a:ext cx="4000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Code</a:t>
              </a:r>
            </a:p>
            <a:p xmlns:a="http://schemas.openxmlformats.org/drawingml/2006/main">
              <a:pPr algn="ctr">
                <a:lnSpc>
                  <a:spcPct val="100000"/>
                </a:lnSpc>
                <a:buNone/>
                <a:def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54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Interpreter</a:t>
              </a:r>
            </a:p>
          </p:txBody>
        </p:sp>
        <p:sp>
          <p:nvSpPr>
            <p:cNvPr id="185" name="experience-bing-card">
              <a:extLst xmlns:a="http://schemas.openxmlformats.org/drawingml/2006/main">
                <a:ext uri="{FF2B5EF4-FFF2-40B4-BE49-F238E27FC236}">
                  <a16:creationId xmlns:a16="http://schemas.microsoft.com/office/drawing/2014/main" id="{C97A0C10-EC4F-4911-98A3-82B5EB5129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9950" y="3333750"/>
              <a:ext cx="419100" cy="561975"/>
            </a:xfrm>
            <a:prstGeom xmlns:a="http://schemas.openxmlformats.org/drawingml/2006/main" prst="roundRect">
              <a:avLst>
                <a:gd name="adj" fmla="val 1136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186" name="experience-bing-icon" descr="experience-bing-icon">
              <a:extLst xmlns:a="http://schemas.openxmlformats.org/drawingml/2006/main">
                <a:ext uri="{FF2B5EF4-FFF2-40B4-BE49-F238E27FC236}">
                  <a16:creationId xmlns:a16="http://schemas.microsoft.com/office/drawing/2014/main" id="{3C5A909F-90DD-4762-80DA-CB9198F8995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fd8658372880413a"/>
            <a:stretch xmlns:a="http://schemas.openxmlformats.org/drawingml/2006/main"/>
          </p:blipFill>
          <p:spPr>
            <a:xfrm xmlns:a="http://schemas.openxmlformats.org/drawingml/2006/main">
              <a:off x="11101443" y="3362325"/>
              <a:ext cx="276113" cy="390525"/>
            </a:xfrm>
            <a:prstGeom xmlns:a="http://schemas.openxmlformats.org/drawingml/2006/main" prst="rect">
              <a:avLst/>
            </a:prstGeom>
          </p:spPr>
        </p:pic>
        <p:sp>
          <p:nvSpPr>
            <p:cNvPr id="187" name="experience-bing-tool-label">
              <a:extLst xmlns:a="http://schemas.openxmlformats.org/drawingml/2006/main">
                <a:ext uri="{FF2B5EF4-FFF2-40B4-BE49-F238E27FC236}">
                  <a16:creationId xmlns:a16="http://schemas.microsoft.com/office/drawing/2014/main" id="{6005D860-C3A7-4BD3-8D02-A55E37EB4B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3752850"/>
              <a:ext cx="4572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Bing</a:t>
              </a:r>
            </a:p>
          </p:txBody>
        </p:sp>
        <p:sp>
          <p:nvSpPr>
            <p:cNvPr id="188" name="experience-umls-card">
              <a:extLst xmlns:a="http://schemas.openxmlformats.org/drawingml/2006/main">
                <a:ext uri="{FF2B5EF4-FFF2-40B4-BE49-F238E27FC236}">
                  <a16:creationId xmlns:a16="http://schemas.microsoft.com/office/drawing/2014/main" id="{F1BD5B04-6D8D-4DD5-A70E-0C1954D4FF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9950" y="3895725"/>
              <a:ext cx="419100" cy="533400"/>
            </a:xfrm>
            <a:prstGeom xmlns:a="http://schemas.openxmlformats.org/drawingml/2006/main" prst="roundRect">
              <a:avLst>
                <a:gd name="adj" fmla="val 1136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189" name="experience-umls-icon" descr="experience-umls-icon">
              <a:extLst xmlns:a="http://schemas.openxmlformats.org/drawingml/2006/main">
                <a:ext uri="{FF2B5EF4-FFF2-40B4-BE49-F238E27FC236}">
                  <a16:creationId xmlns:a16="http://schemas.microsoft.com/office/drawing/2014/main" id="{94AFA6C0-017D-403C-815F-812E676D12DC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70725f50b184cbe"/>
            <a:stretch xmlns:a="http://schemas.openxmlformats.org/drawingml/2006/main"/>
          </p:blipFill>
          <p:spPr>
            <a:xfrm xmlns:a="http://schemas.openxmlformats.org/drawingml/2006/main">
              <a:off x="11068050" y="3933825"/>
              <a:ext cx="342900" cy="342900"/>
            </a:xfrm>
            <a:prstGeom xmlns:a="http://schemas.openxmlformats.org/drawingml/2006/main" prst="rect">
              <a:avLst/>
            </a:prstGeom>
          </p:spPr>
        </p:pic>
        <p:sp>
          <p:nvSpPr>
            <p:cNvPr id="190" name="experience-umls-tool-label">
              <a:extLst xmlns:a="http://schemas.openxmlformats.org/drawingml/2006/main">
                <a:ext uri="{FF2B5EF4-FFF2-40B4-BE49-F238E27FC236}">
                  <a16:creationId xmlns:a16="http://schemas.microsoft.com/office/drawing/2014/main" id="{E5B57ABC-1406-4E82-BFC1-9DBA7B3DD6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4286250"/>
              <a:ext cx="4572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UMLS</a:t>
              </a:r>
            </a:p>
          </p:txBody>
        </p:sp>
        <p:sp>
          <p:nvSpPr>
            <p:cNvPr id="191" name="experience-1-prefix">
              <a:extLst xmlns:a="http://schemas.openxmlformats.org/drawingml/2006/main">
                <a:ext uri="{FF2B5EF4-FFF2-40B4-BE49-F238E27FC236}">
                  <a16:creationId xmlns:a16="http://schemas.microsoft.com/office/drawing/2014/main" id="{CA13BC8D-6B92-4466-84F4-AE3B2E1530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63350" y="1628775"/>
              <a:ext cx="3810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Exp ›</a:t>
              </a:r>
            </a:p>
          </p:txBody>
        </p:sp>
        <p:sp>
          <p:nvSpPr>
            <p:cNvPr id="192" name="experience-1-line-0">
              <a:extLst xmlns:a="http://schemas.openxmlformats.org/drawingml/2006/main">
                <a:ext uri="{FF2B5EF4-FFF2-40B4-BE49-F238E27FC236}">
                  <a16:creationId xmlns:a16="http://schemas.microsoft.com/office/drawing/2014/main" id="{3AB9BDA9-B8E5-48A5-A971-BFF5E8D836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1628775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After obtaining information from</a:t>
              </a:r>
            </a:p>
          </p:txBody>
        </p:sp>
        <p:sp>
          <p:nvSpPr>
            <p:cNvPr id="193" name="experience-1-line-1">
              <a:extLst xmlns:a="http://schemas.openxmlformats.org/drawingml/2006/main">
                <a:ext uri="{FF2B5EF4-FFF2-40B4-BE49-F238E27FC236}">
                  <a16:creationId xmlns:a16="http://schemas.microsoft.com/office/drawing/2014/main" id="{54F29698-5F7F-4051-B058-3D3A9CA90F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1790700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MedRAG, verify the credibility of the</a:t>
              </a:r>
            </a:p>
          </p:txBody>
        </p:sp>
        <p:sp>
          <p:nvSpPr>
            <p:cNvPr id="194" name="experience-1-line-2">
              <a:extLst xmlns:a="http://schemas.openxmlformats.org/drawingml/2006/main">
                <a:ext uri="{FF2B5EF4-FFF2-40B4-BE49-F238E27FC236}">
                  <a16:creationId xmlns:a16="http://schemas.microsoft.com/office/drawing/2014/main" id="{A6FE3D37-C0EC-4238-91BA-8B89F413DD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1952625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information by cross-referencing it</a:t>
              </a:r>
            </a:p>
          </p:txBody>
        </p:sp>
        <p:sp>
          <p:nvSpPr>
            <p:cNvPr id="195" name="experience-1-line-3">
              <a:extLst xmlns:a="http://schemas.openxmlformats.org/drawingml/2006/main">
                <a:ext uri="{FF2B5EF4-FFF2-40B4-BE49-F238E27FC236}">
                  <a16:creationId xmlns:a16="http://schemas.microsoft.com/office/drawing/2014/main" id="{1582A4B7-EDF9-4BE8-AC4D-E542DDE797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2114550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with other sources or using different</a:t>
              </a:r>
            </a:p>
          </p:txBody>
        </p:sp>
        <p:sp>
          <p:nvSpPr>
            <p:cNvPr id="196" name="experience-1-line-4">
              <a:extLst xmlns:a="http://schemas.openxmlformats.org/drawingml/2006/main">
                <a:ext uri="{FF2B5EF4-FFF2-40B4-BE49-F238E27FC236}">
                  <a16:creationId xmlns:a16="http://schemas.microsoft.com/office/drawing/2014/main" id="{C8675792-D7F0-45A3-8DFD-838D6229F6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2276475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actions.</a:t>
              </a:r>
            </a:p>
          </p:txBody>
        </p:sp>
        <p:sp>
          <p:nvSpPr>
            <p:cNvPr id="197" name="experience-2-prefix">
              <a:extLst xmlns:a="http://schemas.openxmlformats.org/drawingml/2006/main">
                <a:ext uri="{FF2B5EF4-FFF2-40B4-BE49-F238E27FC236}">
                  <a16:creationId xmlns:a16="http://schemas.microsoft.com/office/drawing/2014/main" id="{A2CEB98F-79C4-429B-8DBF-349F482700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63350" y="2571750"/>
              <a:ext cx="3810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Exp ›</a:t>
              </a:r>
            </a:p>
          </p:txBody>
        </p:sp>
        <p:sp>
          <p:nvSpPr>
            <p:cNvPr id="198" name="experience-2-line-0">
              <a:extLst xmlns:a="http://schemas.openxmlformats.org/drawingml/2006/main">
                <a:ext uri="{FF2B5EF4-FFF2-40B4-BE49-F238E27FC236}">
                  <a16:creationId xmlns:a16="http://schemas.microsoft.com/office/drawing/2014/main" id="{34B05F5D-F634-456B-A3DB-8EF52A1B6B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2571750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Ensure the reasoning process aligns</a:t>
              </a:r>
            </a:p>
          </p:txBody>
        </p:sp>
        <p:sp>
          <p:nvSpPr>
            <p:cNvPr id="199" name="experience-2-line-1">
              <a:extLst xmlns:a="http://schemas.openxmlformats.org/drawingml/2006/main">
                <a:ext uri="{FF2B5EF4-FFF2-40B4-BE49-F238E27FC236}">
                  <a16:creationId xmlns:a16="http://schemas.microsoft.com/office/drawing/2014/main" id="{0AAB714D-D15B-45FF-851F-482D5E1736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2733675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with the medical knowledge obtained</a:t>
              </a:r>
            </a:p>
          </p:txBody>
        </p:sp>
        <p:sp>
          <p:nvSpPr>
            <p:cNvPr id="200" name="experience-2-line-2">
              <a:extLst xmlns:a="http://schemas.openxmlformats.org/drawingml/2006/main">
                <a:ext uri="{FF2B5EF4-FFF2-40B4-BE49-F238E27FC236}">
                  <a16:creationId xmlns:a16="http://schemas.microsoft.com/office/drawing/2014/main" id="{3917D4C0-4A47-445A-8D40-E24F6C72E4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2895600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and consider consulting additional</a:t>
              </a:r>
            </a:p>
          </p:txBody>
        </p:sp>
        <p:sp>
          <p:nvSpPr>
            <p:cNvPr id="201" name="experience-2-line-3">
              <a:extLst xmlns:a="http://schemas.openxmlformats.org/drawingml/2006/main">
                <a:ext uri="{FF2B5EF4-FFF2-40B4-BE49-F238E27FC236}">
                  <a16:creationId xmlns:a16="http://schemas.microsoft.com/office/drawing/2014/main" id="{4A1980DF-E52B-4E9D-8AD3-D003A7D1AF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3057525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medical resources if necessary.</a:t>
              </a:r>
            </a:p>
          </p:txBody>
        </p:sp>
        <p:sp>
          <p:nvSpPr>
            <p:cNvPr id="202" name="experience-3-prefix">
              <a:extLst xmlns:a="http://schemas.openxmlformats.org/drawingml/2006/main">
                <a:ext uri="{FF2B5EF4-FFF2-40B4-BE49-F238E27FC236}">
                  <a16:creationId xmlns:a16="http://schemas.microsoft.com/office/drawing/2014/main" id="{D2B670D1-A43B-4F5D-B519-C55EC32E65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63350" y="3371850"/>
              <a:ext cx="3810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Exp ›</a:t>
              </a:r>
            </a:p>
          </p:txBody>
        </p:sp>
        <p:sp>
          <p:nvSpPr>
            <p:cNvPr id="203" name="experience-3-line-0">
              <a:extLst xmlns:a="http://schemas.openxmlformats.org/drawingml/2006/main">
                <a:ext uri="{FF2B5EF4-FFF2-40B4-BE49-F238E27FC236}">
                  <a16:creationId xmlns:a16="http://schemas.microsoft.com/office/drawing/2014/main" id="{CAB7FBA5-AC8F-4925-98F8-B95FBFE4BD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3371850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Consider multiple genetic principles</a:t>
              </a:r>
            </a:p>
          </p:txBody>
        </p:sp>
        <p:sp>
          <p:nvSpPr>
            <p:cNvPr id="204" name="experience-3-line-1">
              <a:extLst xmlns:a="http://schemas.openxmlformats.org/drawingml/2006/main">
                <a:ext uri="{FF2B5EF4-FFF2-40B4-BE49-F238E27FC236}">
                  <a16:creationId xmlns:a16="http://schemas.microsoft.com/office/drawing/2014/main" id="{DFCF7344-D332-47B0-977C-D0C91271A4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3533775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and compare their relevance to the</a:t>
              </a:r>
            </a:p>
          </p:txBody>
        </p:sp>
        <p:sp>
          <p:nvSpPr>
            <p:cNvPr id="205" name="experience-3-line-2">
              <a:extLst xmlns:a="http://schemas.openxmlformats.org/drawingml/2006/main">
                <a:ext uri="{FF2B5EF4-FFF2-40B4-BE49-F238E27FC236}">
                  <a16:creationId xmlns:a16="http://schemas.microsoft.com/office/drawing/2014/main" id="{379AEEFC-9AB4-4988-897D-1873C21A1B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3695700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condition</a:t>
              </a:r>
            </a:p>
          </p:txBody>
        </p:sp>
        <p:sp>
          <p:nvSpPr>
            <p:cNvPr id="206" name="experience-4-prefix">
              <a:extLst xmlns:a="http://schemas.openxmlformats.org/drawingml/2006/main">
                <a:ext uri="{FF2B5EF4-FFF2-40B4-BE49-F238E27FC236}">
                  <a16:creationId xmlns:a16="http://schemas.microsoft.com/office/drawing/2014/main" id="{490E6BFC-934E-49CE-8AF2-9E3339728D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63350" y="4010025"/>
              <a:ext cx="3810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73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Exp ›</a:t>
              </a:r>
            </a:p>
          </p:txBody>
        </p:sp>
        <p:sp>
          <p:nvSpPr>
            <p:cNvPr id="207" name="experience-4-highlight">
              <a:extLst xmlns:a="http://schemas.openxmlformats.org/drawingml/2006/main">
                <a:ext uri="{FF2B5EF4-FFF2-40B4-BE49-F238E27FC236}">
                  <a16:creationId xmlns:a16="http://schemas.microsoft.com/office/drawing/2014/main" id="{6C00374D-A1B7-48EC-96F3-1D1EA7A954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15775" y="4000500"/>
              <a:ext cx="2247900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C7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08" name="experience-4-line-0">
              <a:extLst xmlns:a="http://schemas.openxmlformats.org/drawingml/2006/main">
                <a:ext uri="{FF2B5EF4-FFF2-40B4-BE49-F238E27FC236}">
                  <a16:creationId xmlns:a16="http://schemas.microsoft.com/office/drawing/2014/main" id="{1D90CAF5-62E1-4F95-837E-C38E111B8F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4010025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Reflect on the results of the MedRAG</a:t>
              </a:r>
            </a:p>
          </p:txBody>
        </p:sp>
        <p:sp>
          <p:nvSpPr>
            <p:cNvPr id="209" name="experience-4-line-1">
              <a:extLst xmlns:a="http://schemas.openxmlformats.org/drawingml/2006/main">
                <a:ext uri="{FF2B5EF4-FFF2-40B4-BE49-F238E27FC236}">
                  <a16:creationId xmlns:a16="http://schemas.microsoft.com/office/drawing/2014/main" id="{88E63F26-1BC9-4BE0-810D-B6CAA98394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4825" y="4171950"/>
              <a:ext cx="22479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43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 to refine the search strategy.</a:t>
              </a:r>
            </a:p>
          </p:txBody>
        </p:sp>
      </p:grpSp>
      <p:grpSp>
        <p:nvGrpSpPr>
          <p:cNvPr id="352" name="summarizer"/>
          <p:cNvGrpSpPr/>
          <p:nvPr/>
        </p:nvGrpSpPr>
        <p:grpSpPr>
          <ns1:xfrm xmlns:ns1="http://schemas.openxmlformats.org/drawingml/2006/main">
            <ns1:off x="11506200" y="4695825"/>
            <ns1:ext cx="2562225" cy="695325"/>
            <ns1:chOff x="11506200" y="4695825"/>
            <ns1:chExt cx="2562225" cy="695325"/>
          </ns1:xfrm>
        </p:grpSpPr>
        <p:sp>
          <p:nvSpPr>
            <p:cNvPr id="210" name="summarizer-frame">
              <a:extLst xmlns:a="http://schemas.openxmlformats.org/drawingml/2006/main">
                <a:ext uri="{FF2B5EF4-FFF2-40B4-BE49-F238E27FC236}">
                  <a16:creationId xmlns:a16="http://schemas.microsoft.com/office/drawing/2014/main" id="{F2E6E9AE-6786-4A55-A3D5-71CCDC838A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06200" y="4695825"/>
              <a:ext cx="2562225" cy="695325"/>
            </a:xfrm>
            <a:prstGeom xmlns:a="http://schemas.openxmlformats.org/drawingml/2006/main" prst="roundRect">
              <a:avLst>
                <a:gd name="adj" fmla="val 4110"/>
              </a:avLst>
            </a:prstGeom>
            <a:solidFill xmlns:a="http://schemas.openxmlformats.org/drawingml/2006/main">
              <a:srgbClr val="F3F5FB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sp>
          <p:nvSpPr>
            <p:cNvPr id="211" name="summarizer-label">
              <a:extLst xmlns:a="http://schemas.openxmlformats.org/drawingml/2006/main">
                <a:ext uri="{FF2B5EF4-FFF2-40B4-BE49-F238E27FC236}">
                  <a16:creationId xmlns:a16="http://schemas.microsoft.com/office/drawing/2014/main" id="{B2F4AA8D-81CA-46B0-8CD7-E31A4BF3FB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44325" y="4819650"/>
              <a:ext cx="2105025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20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Summarizer</a:t>
              </a:r>
            </a:p>
          </p:txBody>
        </p:sp>
      </p:grpSp>
      <p:grpSp>
        <p:nvGrpSpPr>
          <p:cNvPr id="353" name="optimization-memory"/>
          <p:cNvGrpSpPr/>
          <p:nvPr/>
        </p:nvGrpSpPr>
        <p:grpSpPr>
          <ns1:xfrm xmlns:ns1="http://schemas.openxmlformats.org/drawingml/2006/main">
            <ns1:off x="11268075" y="5572125"/>
            <ns1:ext cx="2800350" cy="714375"/>
            <ns1:chOff x="11268075" y="5572125"/>
            <ns1:chExt cx="2800350" cy="714375"/>
          </ns1:xfrm>
        </p:grpSpPr>
        <p:sp>
          <p:nvSpPr>
            <p:cNvPr id="212" name="optimization-memory-frame">
              <a:extLst xmlns:a="http://schemas.openxmlformats.org/drawingml/2006/main">
                <a:ext uri="{FF2B5EF4-FFF2-40B4-BE49-F238E27FC236}">
                  <a16:creationId xmlns:a16="http://schemas.microsoft.com/office/drawing/2014/main" id="{5723DFFD-46B9-40A5-8210-3DB08A2143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68075" y="5572125"/>
              <a:ext cx="2800350" cy="714375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pic>
          <p:nvPicPr>
            <p:cNvPr id="213" name="optimization-memory-icon" descr="optimization-memory-icon">
              <a:extLst xmlns:a="http://schemas.openxmlformats.org/drawingml/2006/main">
                <a:ext uri="{FF2B5EF4-FFF2-40B4-BE49-F238E27FC236}">
                  <a16:creationId xmlns:a16="http://schemas.microsoft.com/office/drawing/2014/main" id="{1040D10E-9A51-4E5A-8531-A09CC5303733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f88d9284f7b2412b"/>
            <a:stretch xmlns:a="http://schemas.openxmlformats.org/drawingml/2006/main"/>
          </p:blipFill>
          <p:spPr>
            <a:xfrm xmlns:a="http://schemas.openxmlformats.org/drawingml/2006/main">
              <a:off x="11658600" y="5790238"/>
              <a:ext cx="333375" cy="259100"/>
            </a:xfrm>
            <a:prstGeom xmlns:a="http://schemas.openxmlformats.org/drawingml/2006/main" prst="rect">
              <a:avLst/>
            </a:prstGeom>
          </p:spPr>
        </p:pic>
        <p:sp>
          <p:nvSpPr>
            <p:cNvPr id="214" name="optimization-memory-label">
              <a:extLst xmlns:a="http://schemas.openxmlformats.org/drawingml/2006/main">
                <a:ext uri="{FF2B5EF4-FFF2-40B4-BE49-F238E27FC236}">
                  <a16:creationId xmlns:a16="http://schemas.microsoft.com/office/drawing/2014/main" id="{6E74AF02-30AA-4764-81B0-3949A136AA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39600" y="5734050"/>
              <a:ext cx="20193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6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Long-Term Memory</a:t>
              </a:r>
            </a:p>
          </p:txBody>
        </p:sp>
      </p:grpSp>
      <p:sp>
        <p:nvSpPr>
          <p:cNvPr id="215" name="inference-task-to-agent-body">
            <a:extLst xmlns:a="http://schemas.openxmlformats.org/drawingml/2006/main">
              <a:ext uri="{FF2B5EF4-FFF2-40B4-BE49-F238E27FC236}">
                <a16:creationId xmlns:a16="http://schemas.microsoft.com/office/drawing/2014/main" id="{8A02BA02-3B25-4D55-8A1C-1EC7366E19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19425" y="8124825"/>
            <a:ext cx="581025" cy="257175"/>
          </a:xfrm>
          <a:custGeom xmlns:a="http://schemas.openxmlformats.org/drawingml/2006/main">
            <a:pathLst>
              <a:path w="581025" h="257175">
                <a:moveTo>
                  <a:pt x="0" y="0"/>
                </a:moveTo>
                <a:lnTo>
                  <a:pt x="581025" y="0"/>
                </a:lnTo>
                <a:lnTo>
                  <a:pt x="58102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A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inference-task-to-agent-chevron-0">
            <a:extLst xmlns:a="http://schemas.openxmlformats.org/drawingml/2006/main">
              <a:ext uri="{FF2B5EF4-FFF2-40B4-BE49-F238E27FC236}">
                <a16:creationId xmlns:a16="http://schemas.microsoft.com/office/drawing/2014/main" id="{2EDB8FFB-958B-4E88-9B31-15F9ABAC21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76575" y="81343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17" name="inference-task-to-agent-chevron-1">
            <a:extLst xmlns:a="http://schemas.openxmlformats.org/drawingml/2006/main">
              <a:ext uri="{FF2B5EF4-FFF2-40B4-BE49-F238E27FC236}">
                <a16:creationId xmlns:a16="http://schemas.microsoft.com/office/drawing/2014/main" id="{E5F3A745-E745-483C-A73F-4FFB0AF1BE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81375" y="81343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18" name="inference-agent-to-verification-body">
            <a:extLst xmlns:a="http://schemas.openxmlformats.org/drawingml/2006/main">
              <a:ext uri="{FF2B5EF4-FFF2-40B4-BE49-F238E27FC236}">
                <a16:creationId xmlns:a16="http://schemas.microsoft.com/office/drawing/2014/main" id="{95526C65-6A26-4116-BAEF-D4C7217B2B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10025" y="8401050"/>
            <a:ext cx="542925" cy="257175"/>
          </a:xfrm>
          <a:custGeom xmlns:a="http://schemas.openxmlformats.org/drawingml/2006/main">
            <a:pathLst>
              <a:path w="542925" h="257175">
                <a:moveTo>
                  <a:pt x="0" y="0"/>
                </a:moveTo>
                <a:lnTo>
                  <a:pt x="542925" y="0"/>
                </a:lnTo>
                <a:lnTo>
                  <a:pt x="54292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A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inference-agent-to-verification-chevron-0">
            <a:extLst xmlns:a="http://schemas.openxmlformats.org/drawingml/2006/main">
              <a:ext uri="{FF2B5EF4-FFF2-40B4-BE49-F238E27FC236}">
                <a16:creationId xmlns:a16="http://schemas.microsoft.com/office/drawing/2014/main" id="{DC7817D7-AE46-4431-A2B0-2E657236F8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67175" y="8410575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20" name="inference-agent-to-verification-chevron-1">
            <a:extLst xmlns:a="http://schemas.openxmlformats.org/drawingml/2006/main">
              <a:ext uri="{FF2B5EF4-FFF2-40B4-BE49-F238E27FC236}">
                <a16:creationId xmlns:a16="http://schemas.microsoft.com/office/drawing/2014/main" id="{C7FB468B-6F73-4ACC-9059-B4449DFAE2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71975" y="8410575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21" name="task-to-memory-body">
            <a:extLst xmlns:a="http://schemas.openxmlformats.org/drawingml/2006/main">
              <a:ext uri="{FF2B5EF4-FFF2-40B4-BE49-F238E27FC236}">
                <a16:creationId xmlns:a16="http://schemas.microsoft.com/office/drawing/2014/main" id="{CFF10F3B-71C0-44B1-BA48-01EAA713B3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1050" y="8991600"/>
            <a:ext cx="485775" cy="657225"/>
          </a:xfrm>
          <a:custGeom xmlns:a="http://schemas.openxmlformats.org/drawingml/2006/main">
            <a:pathLst>
              <a:path w="485775" h="657225">
                <a:moveTo>
                  <a:pt x="0" y="0"/>
                </a:moveTo>
                <a:lnTo>
                  <a:pt x="257175" y="0"/>
                </a:lnTo>
                <a:lnTo>
                  <a:pt x="257175" y="381000"/>
                </a:lnTo>
                <a:lnTo>
                  <a:pt x="361950" y="381000"/>
                </a:lnTo>
                <a:lnTo>
                  <a:pt x="485775" y="514350"/>
                </a:lnTo>
                <a:lnTo>
                  <a:pt x="361950" y="65722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A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task-to-memory-chevron1">
            <a:extLst xmlns:a="http://schemas.openxmlformats.org/drawingml/2006/main">
              <a:ext uri="{FF2B5EF4-FFF2-40B4-BE49-F238E27FC236}">
                <a16:creationId xmlns:a16="http://schemas.microsoft.com/office/drawing/2014/main" id="{58C91E8E-BE68-486F-B208-B8691AA304F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0575" y="9163050"/>
            <a:ext cx="238125" cy="123825"/>
          </a:xfrm>
          <a:custGeom xmlns:a="http://schemas.openxmlformats.org/drawingml/2006/main">
            <a:pathLst>
              <a:path w="238125" h="123825">
                <a:moveTo>
                  <a:pt x="0" y="0"/>
                </a:moveTo>
                <a:lnTo>
                  <a:pt x="123825" y="1238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223" name="task-to-memory-chevron2">
            <a:extLst xmlns:a="http://schemas.openxmlformats.org/drawingml/2006/main">
              <a:ext uri="{FF2B5EF4-FFF2-40B4-BE49-F238E27FC236}">
                <a16:creationId xmlns:a16="http://schemas.microsoft.com/office/drawing/2014/main" id="{E0BDD196-3CF4-496E-8BBC-58B30E2221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19175" y="9391650"/>
            <a:ext cx="114300" cy="238125"/>
          </a:xfrm>
          <a:custGeom xmlns:a="http://schemas.openxmlformats.org/drawingml/2006/main">
            <a:pathLst>
              <a:path w="114300" h="238125">
                <a:moveTo>
                  <a:pt x="0" y="0"/>
                </a:moveTo>
                <a:lnTo>
                  <a:pt x="114300" y="114300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224" name="memory-to-inference-agent-body">
            <a:extLst xmlns:a="http://schemas.openxmlformats.org/drawingml/2006/main">
              <a:ext uri="{FF2B5EF4-FFF2-40B4-BE49-F238E27FC236}">
                <a16:creationId xmlns:a16="http://schemas.microsoft.com/office/drawing/2014/main" id="{1DCD4806-2AF3-4AE3-A9FA-798BEC4152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00375" y="9382125"/>
            <a:ext cx="600075" cy="257175"/>
          </a:xfrm>
          <a:custGeom xmlns:a="http://schemas.openxmlformats.org/drawingml/2006/main">
            <a:pathLst>
              <a:path w="600075" h="257175">
                <a:moveTo>
                  <a:pt x="0" y="0"/>
                </a:moveTo>
                <a:lnTo>
                  <a:pt x="600075" y="0"/>
                </a:lnTo>
                <a:lnTo>
                  <a:pt x="60007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A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memory-to-inference-agent-chevron-0">
            <a:extLst xmlns:a="http://schemas.openxmlformats.org/drawingml/2006/main">
              <a:ext uri="{FF2B5EF4-FFF2-40B4-BE49-F238E27FC236}">
                <a16:creationId xmlns:a16="http://schemas.microsoft.com/office/drawing/2014/main" id="{4A47D422-D6C8-4EDA-9A72-592EDE9B25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57525" y="93916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26" name="memory-to-inference-agent-chevron-1">
            <a:extLst xmlns:a="http://schemas.openxmlformats.org/drawingml/2006/main">
              <a:ext uri="{FF2B5EF4-FFF2-40B4-BE49-F238E27FC236}">
                <a16:creationId xmlns:a16="http://schemas.microsoft.com/office/drawing/2014/main" id="{6916E345-F4F8-42A0-905D-13156E81BB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62325" y="9391650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227" name="verification-to-inference-trajectory-body">
            <a:extLst xmlns:a="http://schemas.openxmlformats.org/drawingml/2006/main">
              <a:ext uri="{FF2B5EF4-FFF2-40B4-BE49-F238E27FC236}">
                <a16:creationId xmlns:a16="http://schemas.microsoft.com/office/drawing/2014/main" id="{DF9E7727-8110-42DE-99CA-0CA69BED63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48800" y="8496300"/>
            <a:ext cx="428625" cy="257175"/>
          </a:xfrm>
          <a:custGeom xmlns:a="http://schemas.openxmlformats.org/drawingml/2006/main">
            <a:pathLst>
              <a:path w="428625" h="257175">
                <a:moveTo>
                  <a:pt x="0" y="0"/>
                </a:moveTo>
                <a:lnTo>
                  <a:pt x="428625" y="0"/>
                </a:lnTo>
                <a:lnTo>
                  <a:pt x="42862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A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verification-to-inference-trajectory-chevron-0">
            <a:extLst xmlns:a="http://schemas.openxmlformats.org/drawingml/2006/main">
              <a:ext uri="{FF2B5EF4-FFF2-40B4-BE49-F238E27FC236}">
                <a16:creationId xmlns:a16="http://schemas.microsoft.com/office/drawing/2014/main" id="{BDBAB68E-ACDC-4291-AFFE-C08B55E27D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505950" y="8505825"/>
            <a:ext cx="123825" cy="238125"/>
          </a:xfrm>
          <a:custGeom xmlns:a="http://schemas.openxmlformats.org/drawingml/2006/main">
            <a:pathLst>
              <a:path w="123825" h="238125">
                <a:moveTo>
                  <a:pt x="0" y="0"/>
                </a:moveTo>
                <a:lnTo>
                  <a:pt x="123825" y="11906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grpSp>
        <p:nvGrpSpPr>
          <p:cNvPr id="354" name="inference-task"/>
          <p:cNvGrpSpPr/>
          <p:nvPr/>
        </p:nvGrpSpPr>
        <p:grpSpPr>
          <ns1:xfrm xmlns:ns1="http://schemas.openxmlformats.org/drawingml/2006/main">
            <ns1:off x="476250" y="7286625"/>
            <ns1:ext cx="2552700" cy="1704975"/>
            <ns1:chOff x="476250" y="7286625"/>
            <ns1:chExt cx="2552700" cy="1704975"/>
          </ns1:xfrm>
        </p:grpSpPr>
        <p:sp>
          <p:nvSpPr>
            <p:cNvPr id="229" name="inference-task-frame">
              <a:extLst xmlns:a="http://schemas.openxmlformats.org/drawingml/2006/main">
                <a:ext uri="{FF2B5EF4-FFF2-40B4-BE49-F238E27FC236}">
                  <a16:creationId xmlns:a16="http://schemas.microsoft.com/office/drawing/2014/main" id="{2D2BBE6B-6499-458B-8F06-A8203D3256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7400925"/>
              <a:ext cx="2552700" cy="1590675"/>
            </a:xfrm>
            <a:prstGeom xmlns:a="http://schemas.openxmlformats.org/drawingml/2006/main" prst="roundRect">
              <a:avLst>
                <a:gd name="adj" fmla="val 538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sp>
          <p:nvSpPr>
            <p:cNvPr id="230" name="inference-task-title-frame">
              <a:extLst xmlns:a="http://schemas.openxmlformats.org/drawingml/2006/main">
                <a:ext uri="{FF2B5EF4-FFF2-40B4-BE49-F238E27FC236}">
                  <a16:creationId xmlns:a16="http://schemas.microsoft.com/office/drawing/2014/main" id="{D2F12F34-EE9F-410E-B8D0-9A0BCD0A7F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7286625"/>
              <a:ext cx="1962150" cy="2667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000000"/>
              </a:solidFill>
              <a:prstDash val="solid"/>
            </a:ln>
          </p:spPr>
        </p:sp>
        <p:sp>
          <p:nvSpPr>
            <p:cNvPr id="231" name="inference-task-title-label">
              <a:extLst xmlns:a="http://schemas.openxmlformats.org/drawingml/2006/main">
                <a:ext uri="{FF2B5EF4-FFF2-40B4-BE49-F238E27FC236}">
                  <a16:creationId xmlns:a16="http://schemas.microsoft.com/office/drawing/2014/main" id="{C8D0E266-437C-454A-BD63-BB6730A17B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8200" y="7286625"/>
              <a:ext cx="18669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Task</a:t>
              </a:r>
            </a:p>
          </p:txBody>
        </p:sp>
        <p:sp>
          <p:nvSpPr>
            <p:cNvPr id="232" name="inference-task-line-0">
              <a:extLst xmlns:a="http://schemas.openxmlformats.org/drawingml/2006/main">
                <a:ext uri="{FF2B5EF4-FFF2-40B4-BE49-F238E27FC236}">
                  <a16:creationId xmlns:a16="http://schemas.microsoft.com/office/drawing/2014/main" id="{99009FC3-5336-460B-86DE-0DBEF9BBA1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7667625"/>
              <a:ext cx="2324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Question:</a:t>
              </a: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 A 27-year-old gentleman is</a:t>
              </a:r>
            </a:p>
          </p:txBody>
        </p:sp>
        <p:sp>
          <p:nvSpPr>
            <p:cNvPr id="233" name="inference-task-line-1">
              <a:extLst xmlns:a="http://schemas.openxmlformats.org/drawingml/2006/main">
                <a:ext uri="{FF2B5EF4-FFF2-40B4-BE49-F238E27FC236}">
                  <a16:creationId xmlns:a16="http://schemas.microsoft.com/office/drawing/2014/main" id="{155B12B7-12B2-4667-93FB-114D3193E1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7824788"/>
              <a:ext cx="2324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brought into [...] Which is result in the</a:t>
              </a:r>
            </a:p>
          </p:txBody>
        </p:sp>
        <p:sp>
          <p:nvSpPr>
            <p:cNvPr id="234" name="inference-task-line-2">
              <a:extLst xmlns:a="http://schemas.openxmlformats.org/drawingml/2006/main">
                <a:ext uri="{FF2B5EF4-FFF2-40B4-BE49-F238E27FC236}">
                  <a16:creationId xmlns:a16="http://schemas.microsoft.com/office/drawing/2014/main" id="{AF236F0D-F3ED-4D20-AB1D-C5105F632D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7981950"/>
              <a:ext cx="2324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syndrome described?</a:t>
              </a:r>
            </a:p>
          </p:txBody>
        </p:sp>
        <p:sp>
          <p:nvSpPr>
            <p:cNvPr id="235" name="inference-task-line-3">
              <a:extLst xmlns:a="http://schemas.openxmlformats.org/drawingml/2006/main">
                <a:ext uri="{FF2B5EF4-FFF2-40B4-BE49-F238E27FC236}">
                  <a16:creationId xmlns:a16="http://schemas.microsoft.com/office/drawing/2014/main" id="{3A788869-5C8C-4502-89DA-9EFE68D31E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8139113"/>
              <a:ext cx="2324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Options:</a:t>
              </a:r>
            </a:p>
          </p:txBody>
        </p:sp>
        <p:sp>
          <p:nvSpPr>
            <p:cNvPr id="236" name="inference-task-line-4">
              <a:extLst xmlns:a="http://schemas.openxmlformats.org/drawingml/2006/main">
                <a:ext uri="{FF2B5EF4-FFF2-40B4-BE49-F238E27FC236}">
                  <a16:creationId xmlns:a16="http://schemas.microsoft.com/office/drawing/2014/main" id="{0787C0D8-B397-4A2C-BA4E-753343FCCF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8296275"/>
              <a:ext cx="2324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A. Anterior cord lesion</a:t>
              </a:r>
            </a:p>
          </p:txBody>
        </p:sp>
        <p:sp>
          <p:nvSpPr>
            <p:cNvPr id="237" name="inference-task-line-5">
              <a:extLst xmlns:a="http://schemas.openxmlformats.org/drawingml/2006/main">
                <a:ext uri="{FF2B5EF4-FFF2-40B4-BE49-F238E27FC236}">
                  <a16:creationId xmlns:a16="http://schemas.microsoft.com/office/drawing/2014/main" id="{7C591083-B454-4B78-BEEE-3487AAF497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8453438"/>
              <a:ext cx="2324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B. Posterior cord lesion</a:t>
              </a:r>
            </a:p>
          </p:txBody>
        </p:sp>
        <p:sp>
          <p:nvSpPr>
            <p:cNvPr id="238" name="inference-task-line-6">
              <a:extLst xmlns:a="http://schemas.openxmlformats.org/drawingml/2006/main">
                <a:ext uri="{FF2B5EF4-FFF2-40B4-BE49-F238E27FC236}">
                  <a16:creationId xmlns:a16="http://schemas.microsoft.com/office/drawing/2014/main" id="{9DF2A21C-E3D6-4E54-9E50-FA50774FA3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8610600"/>
              <a:ext cx="2324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C. Right cord hemisection</a:t>
              </a:r>
            </a:p>
          </p:txBody>
        </p:sp>
        <p:sp>
          <p:nvSpPr>
            <p:cNvPr id="239" name="inference-task-line-7">
              <a:extLst xmlns:a="http://schemas.openxmlformats.org/drawingml/2006/main">
                <a:ext uri="{FF2B5EF4-FFF2-40B4-BE49-F238E27FC236}">
                  <a16:creationId xmlns:a16="http://schemas.microsoft.com/office/drawing/2014/main" id="{98B40BB1-6BB9-48CB-A1B0-CE80BCFFF4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8767763"/>
              <a:ext cx="2324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D. Left cord hemisection</a:t>
              </a:r>
            </a:p>
          </p:txBody>
        </p:sp>
      </p:grpSp>
      <p:grpSp>
        <p:nvGrpSpPr>
          <p:cNvPr id="355" name="inference-memory"/>
          <p:cNvGrpSpPr/>
          <p:nvPr/>
        </p:nvGrpSpPr>
        <p:grpSpPr>
          <ns1:xfrm xmlns:ns1="http://schemas.openxmlformats.org/drawingml/2006/main">
            <ns1:off x="1266825" y="9153525"/>
            <ns1:ext cx="1733550" cy="676275"/>
            <ns1:chOff x="1266825" y="9153525"/>
            <ns1:chExt cx="1733550" cy="676275"/>
          </ns1:xfrm>
        </p:grpSpPr>
        <p:sp>
          <p:nvSpPr>
            <p:cNvPr id="240" name="inference-memory-frame">
              <a:extLst xmlns:a="http://schemas.openxmlformats.org/drawingml/2006/main">
                <a:ext uri="{FF2B5EF4-FFF2-40B4-BE49-F238E27FC236}">
                  <a16:creationId xmlns:a16="http://schemas.microsoft.com/office/drawing/2014/main" id="{90B45448-F65A-4A1A-9FEB-19FB2545CE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6825" y="9153525"/>
              <a:ext cx="1733550" cy="676275"/>
            </a:xfrm>
            <a:prstGeom xmlns:a="http://schemas.openxmlformats.org/drawingml/2006/main" prst="roundRect">
              <a:avLst>
                <a:gd name="adj" fmla="val 42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pic>
          <p:nvPicPr>
            <p:cNvPr id="241" name="inference-memory-icon" descr="inference-memory-icon">
              <a:extLst xmlns:a="http://schemas.openxmlformats.org/drawingml/2006/main">
                <a:ext uri="{FF2B5EF4-FFF2-40B4-BE49-F238E27FC236}">
                  <a16:creationId xmlns:a16="http://schemas.microsoft.com/office/drawing/2014/main" id="{F1627BC8-B659-4850-8226-088551100DC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6cf23ef3b6d4182"/>
            <a:stretch xmlns:a="http://schemas.openxmlformats.org/drawingml/2006/main"/>
          </p:blipFill>
          <p:spPr>
            <a:xfrm xmlns:a="http://schemas.openxmlformats.org/drawingml/2006/main">
              <a:off x="1504950" y="9381681"/>
              <a:ext cx="295275" cy="229488"/>
            </a:xfrm>
            <a:prstGeom xmlns:a="http://schemas.openxmlformats.org/drawingml/2006/main" prst="rect">
              <a:avLst/>
            </a:prstGeom>
          </p:spPr>
        </p:pic>
        <p:sp>
          <p:nvSpPr>
            <p:cNvPr id="242" name="inference-memory-label">
              <a:extLst xmlns:a="http://schemas.openxmlformats.org/drawingml/2006/main">
                <a:ext uri="{FF2B5EF4-FFF2-40B4-BE49-F238E27FC236}">
                  <a16:creationId xmlns:a16="http://schemas.microsoft.com/office/drawing/2014/main" id="{539D3072-CA19-4DAF-9A48-655F361AAD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38325" y="9258300"/>
              <a:ext cx="1076325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Long-Term</a:t>
              </a:r>
            </a:p>
            <a:p xmlns:a="http://schemas.openxmlformats.org/drawingml/2006/main">
              <a:pPr algn="ctr">
                <a:lnSpc>
                  <a:spcPct val="100000"/>
                </a:lnSpc>
                <a:buNone/>
                <a:def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50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Memory</a:t>
              </a:r>
            </a:p>
          </p:txBody>
        </p:sp>
      </p:grpSp>
      <p:grpSp>
        <p:nvGrpSpPr>
          <p:cNvPr id="356" name="inference-agent"/>
          <p:cNvGrpSpPr/>
          <p:nvPr/>
        </p:nvGrpSpPr>
        <p:grpSpPr>
          <ns1:xfrm xmlns:ns1="http://schemas.openxmlformats.org/drawingml/2006/main">
            <ns1:off x="3076575" y="7096125"/>
            <ns1:ext cx="1476375" cy="2724150"/>
            <ns1:chOff x="3076575" y="7096125"/>
            <ns1:chExt cx="1476375" cy="2724150"/>
          </ns1:xfrm>
        </p:grpSpPr>
        <p:sp>
          <p:nvSpPr>
            <p:cNvPr id="243" name="inference-agent-frame">
              <a:extLst xmlns:a="http://schemas.openxmlformats.org/drawingml/2006/main">
                <a:ext uri="{FF2B5EF4-FFF2-40B4-BE49-F238E27FC236}">
                  <a16:creationId xmlns:a16="http://schemas.microsoft.com/office/drawing/2014/main" id="{F3DCF592-75AC-43A3-B78E-D9A45A0D2F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00450" y="7096125"/>
              <a:ext cx="419100" cy="2724150"/>
            </a:xfrm>
            <a:prstGeom xmlns:a="http://schemas.openxmlformats.org/drawingml/2006/main" prst="roundRect">
              <a:avLst>
                <a:gd name="adj" fmla="val 22727"/>
              </a:avLst>
            </a:prstGeom>
            <a:solidFill xmlns:a="http://schemas.openxmlformats.org/drawingml/2006/main">
              <a:srgbClr val="F3F5FB"/>
            </a:solidFill>
            <a:ln xmlns:a="http://schemas.openxmlformats.org/drawingml/2006/main" w="15240">
              <a:solidFill>
                <a:srgbClr val="000000"/>
              </a:solidFill>
              <a:prstDash val="solid"/>
            </a:ln>
          </p:spPr>
        </p:sp>
        <p:sp>
          <p:nvSpPr>
            <p:cNvPr id="244" name="inference-agent-label">
              <a:extLst xmlns:a="http://schemas.openxmlformats.org/drawingml/2006/main">
                <a:ext uri="{FF2B5EF4-FFF2-40B4-BE49-F238E27FC236}">
                  <a16:creationId xmlns:a16="http://schemas.microsoft.com/office/drawing/2014/main" id="{C0E68236-7F1B-4E47-8F05-CA9FBFCDA0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16200000">
              <a:off x="3076575" y="8124825"/>
              <a:ext cx="1476375" cy="200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50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Medical Tool Agent</a:t>
              </a:r>
            </a:p>
          </p:txBody>
        </p:sp>
        <p:pic>
          <p:nvPicPr>
            <p:cNvPr id="245" name="inference-agent-icon" descr="inference-agent-icon">
              <a:extLst xmlns:a="http://schemas.openxmlformats.org/drawingml/2006/main">
                <a:ext uri="{FF2B5EF4-FFF2-40B4-BE49-F238E27FC236}">
                  <a16:creationId xmlns:a16="http://schemas.microsoft.com/office/drawing/2014/main" id="{38E7B85A-B9D0-43EF-AA2F-53577EDE3EF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43b18a4e0e04b74"/>
            <a:stretch xmlns:a="http://schemas.openxmlformats.org/drawingml/2006/main"/>
          </p:blipFill>
          <p:spPr>
            <a:xfrm xmlns:a="http://schemas.openxmlformats.org/drawingml/2006/main">
              <a:off x="3676650" y="8928325"/>
              <a:ext cx="276225" cy="250375"/>
            </a:xfrm>
            <a:prstGeom xmlns:a="http://schemas.openxmlformats.org/drawingml/2006/main" prst="rect">
              <a:avLst/>
            </a:prstGeom>
          </p:spPr>
        </p:pic>
      </p:grpSp>
      <p:sp>
        <p:nvSpPr>
          <p:cNvPr id="246" name="tool-wise-verification-frame">
            <a:extLst xmlns:a="http://schemas.openxmlformats.org/drawingml/2006/main">
              <a:ext uri="{FF2B5EF4-FFF2-40B4-BE49-F238E27FC236}">
                <a16:creationId xmlns:a16="http://schemas.microsoft.com/office/drawing/2014/main" id="{B4F741D3-9F3F-4A2F-B160-2560E86410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52950" y="6905625"/>
            <a:ext cx="489585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247" name="tool-wise-verification-title-frame">
            <a:extLst xmlns:a="http://schemas.openxmlformats.org/drawingml/2006/main">
              <a:ext uri="{FF2B5EF4-FFF2-40B4-BE49-F238E27FC236}">
                <a16:creationId xmlns:a16="http://schemas.microsoft.com/office/drawing/2014/main" id="{F63738EE-1CE7-4954-8D92-9EC0EB63C9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29300" y="6772275"/>
            <a:ext cx="233362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48" name="tool-wise-verification-title-label">
            <a:extLst xmlns:a="http://schemas.openxmlformats.org/drawingml/2006/main">
              <a:ext uri="{FF2B5EF4-FFF2-40B4-BE49-F238E27FC236}">
                <a16:creationId xmlns:a16="http://schemas.microsoft.com/office/drawing/2014/main" id="{B13CE70D-8B67-4743-BA39-CA8A7FE6F9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76925" y="67722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Tool-wise Verification</a:t>
            </a:r>
          </a:p>
        </p:txBody>
      </p:sp>
      <p:sp>
        <p:nvSpPr>
          <p:cNvPr id="249" name="verification-divider">
            <a:extLst xmlns:a="http://schemas.openxmlformats.org/drawingml/2006/main">
              <a:ext uri="{FF2B5EF4-FFF2-40B4-BE49-F238E27FC236}">
                <a16:creationId xmlns:a16="http://schemas.microsoft.com/office/drawing/2014/main" id="{13DDB54D-3139-4F74-B50D-D279815213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00875" y="7305675"/>
            <a:ext cx="953" cy="2476500"/>
          </a:xfrm>
          <a:custGeom xmlns:a="http://schemas.openxmlformats.org/drawingml/2006/main">
            <a:pathLst>
              <a:path w="953" h="2476500">
                <a:moveTo>
                  <a:pt x="0" y="0"/>
                </a:moveTo>
                <a:lnTo>
                  <a:pt x="0" y="2476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250" name="iterative-refinement-title">
            <a:extLst xmlns:a="http://schemas.openxmlformats.org/drawingml/2006/main">
              <a:ext uri="{FF2B5EF4-FFF2-40B4-BE49-F238E27FC236}">
                <a16:creationId xmlns:a16="http://schemas.microsoft.com/office/drawing/2014/main" id="{01B88B6B-BB59-4B29-81DE-C95214BEA7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57750" y="714375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Iterative Refinement</a:t>
            </a:r>
          </a:p>
        </p:txBody>
      </p:sp>
      <p:sp>
        <p:nvSpPr>
          <p:cNvPr id="251" name="candidate-selection-title">
            <a:extLst xmlns:a="http://schemas.openxmlformats.org/drawingml/2006/main">
              <a:ext uri="{FF2B5EF4-FFF2-40B4-BE49-F238E27FC236}">
                <a16:creationId xmlns:a16="http://schemas.microsoft.com/office/drawing/2014/main" id="{71CB02AB-7B8A-4027-A7ED-560A30D8DE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05675" y="7143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Candidates Selection</a:t>
            </a:r>
          </a:p>
        </p:txBody>
      </p:sp>
      <p:grpSp>
        <p:nvGrpSpPr>
          <p:cNvPr id="357" name="iterative-refinement"/>
          <p:cNvGrpSpPr/>
          <p:nvPr/>
        </p:nvGrpSpPr>
        <p:grpSpPr>
          <ns1:xfrm xmlns:ns1="http://schemas.openxmlformats.org/drawingml/2006/main">
            <ns1:off x="4972050" y="7448550"/>
            <ns1:ext cx="1847850" cy="2390775"/>
            <ns1:chOff x="4972050" y="7448550"/>
            <ns1:chExt cx="1847850" cy="2390775"/>
          </ns1:xfrm>
        </p:grpSpPr>
        <p:pic>
          <p:nvPicPr>
            <p:cNvPr id="252" name="refinement-agent-icon" descr="refinement-agent-icon">
              <a:extLst xmlns:a="http://schemas.openxmlformats.org/drawingml/2006/main">
                <a:ext uri="{FF2B5EF4-FFF2-40B4-BE49-F238E27FC236}">
                  <a16:creationId xmlns:a16="http://schemas.microsoft.com/office/drawing/2014/main" id="{47692453-D4DF-4A61-9E05-7EA0FB371043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4e99e41d597f447e"/>
            <a:stretch xmlns:a="http://schemas.openxmlformats.org/drawingml/2006/main"/>
          </p:blipFill>
          <p:spPr>
            <a:xfrm xmlns:a="http://schemas.openxmlformats.org/drawingml/2006/main">
              <a:off x="4972050" y="7453427"/>
              <a:ext cx="409575" cy="371246"/>
            </a:xfrm>
            <a:prstGeom xmlns:a="http://schemas.openxmlformats.org/drawingml/2006/main" prst="rect">
              <a:avLst/>
            </a:prstGeom>
          </p:spPr>
        </p:pic>
        <p:sp>
          <p:nvSpPr>
            <p:cNvPr id="253" name="refinement-candidate-0-box">
              <a:extLst xmlns:a="http://schemas.openxmlformats.org/drawingml/2006/main">
                <a:ext uri="{FF2B5EF4-FFF2-40B4-BE49-F238E27FC236}">
                  <a16:creationId xmlns:a16="http://schemas.microsoft.com/office/drawing/2014/main" id="{9CFFD838-94BA-4595-B561-28C632C4A8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38725" y="7953375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54" name="refinement-candidate-0-disc">
              <a:extLst xmlns:a="http://schemas.openxmlformats.org/drawingml/2006/main">
                <a:ext uri="{FF2B5EF4-FFF2-40B4-BE49-F238E27FC236}">
                  <a16:creationId xmlns:a16="http://schemas.microsoft.com/office/drawing/2014/main" id="{15AC717E-7E19-43F2-80A4-38AC027723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05400" y="8020050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8C8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55" name="refinement-candidate-1-box">
              <a:extLst xmlns:a="http://schemas.openxmlformats.org/drawingml/2006/main">
                <a:ext uri="{FF2B5EF4-FFF2-40B4-BE49-F238E27FC236}">
                  <a16:creationId xmlns:a16="http://schemas.microsoft.com/office/drawing/2014/main" id="{1B39A99E-6301-4058-AA15-12061B7676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38725" y="8429625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56" name="refinement-candidate-1-disc">
              <a:extLst xmlns:a="http://schemas.openxmlformats.org/drawingml/2006/main">
                <a:ext uri="{FF2B5EF4-FFF2-40B4-BE49-F238E27FC236}">
                  <a16:creationId xmlns:a16="http://schemas.microsoft.com/office/drawing/2014/main" id="{3ABA243D-AD1E-429D-A13D-7898EDAA96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05400" y="8496300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8C8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57" name="refinement-candidate-2-box">
              <a:extLst xmlns:a="http://schemas.openxmlformats.org/drawingml/2006/main">
                <a:ext uri="{FF2B5EF4-FFF2-40B4-BE49-F238E27FC236}">
                  <a16:creationId xmlns:a16="http://schemas.microsoft.com/office/drawing/2014/main" id="{6CD30703-5B20-453E-B83C-036A4CBE5F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38725" y="8915400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58" name="refinement-candidate-2-disc">
              <a:extLst xmlns:a="http://schemas.openxmlformats.org/drawingml/2006/main">
                <a:ext uri="{FF2B5EF4-FFF2-40B4-BE49-F238E27FC236}">
                  <a16:creationId xmlns:a16="http://schemas.microsoft.com/office/drawing/2014/main" id="{272CB02B-9FB8-4BA7-A27E-B6400DB941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05400" y="8982075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8C8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59" name="refinement-candidate-3-box">
              <a:extLst xmlns:a="http://schemas.openxmlformats.org/drawingml/2006/main">
                <a:ext uri="{FF2B5EF4-FFF2-40B4-BE49-F238E27FC236}">
                  <a16:creationId xmlns:a16="http://schemas.microsoft.com/office/drawing/2014/main" id="{42398C89-F0DC-4822-96DA-34E5CC64B7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38725" y="9420225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60" name="refinement-candidate-3-disc">
              <a:extLst xmlns:a="http://schemas.openxmlformats.org/drawingml/2006/main">
                <a:ext uri="{FF2B5EF4-FFF2-40B4-BE49-F238E27FC236}">
                  <a16:creationId xmlns:a16="http://schemas.microsoft.com/office/drawing/2014/main" id="{1D950292-F1CA-4D67-B8F3-8DBE6B1221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05400" y="9486900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A9C39B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61" name="refinement-initial">
              <a:extLst xmlns:a="http://schemas.openxmlformats.org/drawingml/2006/main">
                <a:ext uri="{FF2B5EF4-FFF2-40B4-BE49-F238E27FC236}">
                  <a16:creationId xmlns:a16="http://schemas.microsoft.com/office/drawing/2014/main" id="{B0E5970F-6AC5-428B-8D5D-64580CB81B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14950" y="7620000"/>
              <a:ext cx="428625" cy="476250"/>
            </a:xfrm>
            <a:custGeom xmlns:a="http://schemas.openxmlformats.org/drawingml/2006/main">
              <a:pathLst>
                <a:path w="428625" h="476250">
                  <a:moveTo>
                    <a:pt x="57150" y="0"/>
                  </a:moveTo>
                  <a:cubicBezTo>
                    <a:pt x="428625" y="57150"/>
                    <a:pt x="361950" y="400050"/>
                    <a:pt x="0" y="47625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2" name="refinement-step-1">
              <a:extLst xmlns:a="http://schemas.openxmlformats.org/drawingml/2006/main">
                <a:ext uri="{FF2B5EF4-FFF2-40B4-BE49-F238E27FC236}">
                  <a16:creationId xmlns:a16="http://schemas.microsoft.com/office/drawing/2014/main" id="{C60BAB1A-F42A-4973-B76B-21631F62B2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14950" y="8124825"/>
              <a:ext cx="409575" cy="438150"/>
            </a:xfrm>
            <a:custGeom xmlns:a="http://schemas.openxmlformats.org/drawingml/2006/main">
              <a:pathLst>
                <a:path w="409575" h="438150">
                  <a:moveTo>
                    <a:pt x="0" y="0"/>
                  </a:moveTo>
                  <a:cubicBezTo>
                    <a:pt x="409575" y="85725"/>
                    <a:pt x="409575" y="342900"/>
                    <a:pt x="0" y="43815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3" name="refinement-step-2">
              <a:extLst xmlns:a="http://schemas.openxmlformats.org/drawingml/2006/main">
                <a:ext uri="{FF2B5EF4-FFF2-40B4-BE49-F238E27FC236}">
                  <a16:creationId xmlns:a16="http://schemas.microsoft.com/office/drawing/2014/main" id="{D2AF79BB-6C34-478E-A813-CF1150F77D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14950" y="8601075"/>
              <a:ext cx="419100" cy="447675"/>
            </a:xfrm>
            <a:custGeom xmlns:a="http://schemas.openxmlformats.org/drawingml/2006/main">
              <a:pathLst>
                <a:path w="419100" h="447675">
                  <a:moveTo>
                    <a:pt x="0" y="0"/>
                  </a:moveTo>
                  <a:cubicBezTo>
                    <a:pt x="419100" y="104775"/>
                    <a:pt x="409575" y="352425"/>
                    <a:pt x="0" y="447675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4" name="refinement-step-3">
              <a:extLst xmlns:a="http://schemas.openxmlformats.org/drawingml/2006/main">
                <a:ext uri="{FF2B5EF4-FFF2-40B4-BE49-F238E27FC236}">
                  <a16:creationId xmlns:a16="http://schemas.microsoft.com/office/drawing/2014/main" id="{B351C74B-F936-4C80-BB70-B27EA0DA1F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14950" y="9086850"/>
              <a:ext cx="409575" cy="476250"/>
            </a:xfrm>
            <a:custGeom xmlns:a="http://schemas.openxmlformats.org/drawingml/2006/main">
              <a:pathLst>
                <a:path w="409575" h="476250">
                  <a:moveTo>
                    <a:pt x="0" y="0"/>
                  </a:moveTo>
                  <a:cubicBezTo>
                    <a:pt x="409575" y="114300"/>
                    <a:pt x="400050" y="371475"/>
                    <a:pt x="0" y="47625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5" name="refinement-result-label">
              <a:extLst xmlns:a="http://schemas.openxmlformats.org/drawingml/2006/main">
                <a:ext uri="{FF2B5EF4-FFF2-40B4-BE49-F238E27FC236}">
                  <a16:creationId xmlns:a16="http://schemas.microsoft.com/office/drawing/2014/main" id="{D50E3A56-0715-43B0-96C2-9973FEB68B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72050" y="9658350"/>
              <a:ext cx="504825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13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result</a:t>
              </a:r>
            </a:p>
          </p:txBody>
        </p:sp>
        <p:pic>
          <p:nvPicPr>
            <p:cNvPr id="266" name="refinement-verifier-icon" descr="refinement-verifier-icon">
              <a:extLst xmlns:a="http://schemas.openxmlformats.org/drawingml/2006/main">
                <a:ext uri="{FF2B5EF4-FFF2-40B4-BE49-F238E27FC236}">
                  <a16:creationId xmlns:a16="http://schemas.microsoft.com/office/drawing/2014/main" id="{EF6C920D-2726-4036-A6C4-75FE0E7B5463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e472c8b52dfe444a"/>
            <a:stretch xmlns:a="http://schemas.openxmlformats.org/drawingml/2006/main"/>
          </p:blipFill>
          <p:spPr>
            <a:xfrm xmlns:a="http://schemas.openxmlformats.org/drawingml/2006/main">
              <a:off x="6271651" y="8610600"/>
              <a:ext cx="410697" cy="409575"/>
            </a:xfrm>
            <a:prstGeom xmlns:a="http://schemas.openxmlformats.org/drawingml/2006/main" prst="rect">
              <a:avLst/>
            </a:prstGeom>
          </p:spPr>
        </p:pic>
        <p:sp>
          <p:nvSpPr>
            <p:cNvPr id="267" name="refinement-verifier-label">
              <a:extLst xmlns:a="http://schemas.openxmlformats.org/drawingml/2006/main">
                <a:ext uri="{FF2B5EF4-FFF2-40B4-BE49-F238E27FC236}">
                  <a16:creationId xmlns:a16="http://schemas.microsoft.com/office/drawing/2014/main" id="{3C3DE71E-5A3D-456E-AAED-8B5E385838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53150" y="9020175"/>
              <a:ext cx="6667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Verifier</a:t>
              </a:r>
            </a:p>
          </p:txBody>
        </p:sp>
        <p:sp>
          <p:nvSpPr>
            <p:cNvPr id="268" name="verifier-refine-1">
              <a:extLst xmlns:a="http://schemas.openxmlformats.org/drawingml/2006/main">
                <a:ext uri="{FF2B5EF4-FFF2-40B4-BE49-F238E27FC236}">
                  <a16:creationId xmlns:a16="http://schemas.microsoft.com/office/drawing/2014/main" id="{7414891C-7B3F-4EE6-BD1C-A393AC6A88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8343900"/>
              <a:ext cx="590550" cy="390525"/>
            </a:xfrm>
            <a:custGeom xmlns:a="http://schemas.openxmlformats.org/drawingml/2006/main">
              <a:pathLst>
                <a:path w="590550" h="390525">
                  <a:moveTo>
                    <a:pt x="590550" y="390525"/>
                  </a:moveTo>
                  <a:cubicBezTo>
                    <a:pt x="304800" y="200025"/>
                    <a:pt x="314325" y="28575"/>
                    <a:pt x="0" y="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" name="verifier-refine-2">
              <a:extLst xmlns:a="http://schemas.openxmlformats.org/drawingml/2006/main">
                <a:ext uri="{FF2B5EF4-FFF2-40B4-BE49-F238E27FC236}">
                  <a16:creationId xmlns:a16="http://schemas.microsoft.com/office/drawing/2014/main" id="{D064C0B9-311A-4C2C-AF25-7D1D415AF4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8763000"/>
              <a:ext cx="581025" cy="66675"/>
            </a:xfrm>
            <a:custGeom xmlns:a="http://schemas.openxmlformats.org/drawingml/2006/main">
              <a:pathLst>
                <a:path w="581025" h="66675">
                  <a:moveTo>
                    <a:pt x="581025" y="38100"/>
                  </a:moveTo>
                  <a:cubicBezTo>
                    <a:pt x="228600" y="0"/>
                    <a:pt x="295275" y="57150"/>
                    <a:pt x="0" y="66675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0" name="verifier-refine-3">
              <a:extLst xmlns:a="http://schemas.openxmlformats.org/drawingml/2006/main">
                <a:ext uri="{FF2B5EF4-FFF2-40B4-BE49-F238E27FC236}">
                  <a16:creationId xmlns:a16="http://schemas.microsoft.com/office/drawing/2014/main" id="{E6F19B6E-3118-4D2E-84EA-46F20E7CAD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8867775"/>
              <a:ext cx="581025" cy="447675"/>
            </a:xfrm>
            <a:custGeom xmlns:a="http://schemas.openxmlformats.org/drawingml/2006/main">
              <a:pathLst>
                <a:path w="581025" h="447675">
                  <a:moveTo>
                    <a:pt x="581025" y="0"/>
                  </a:moveTo>
                  <a:cubicBezTo>
                    <a:pt x="209550" y="9525"/>
                    <a:pt x="285750" y="381000"/>
                    <a:pt x="0" y="447675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1" name="one-refine-label">
              <a:extLst xmlns:a="http://schemas.openxmlformats.org/drawingml/2006/main">
                <a:ext uri="{FF2B5EF4-FFF2-40B4-BE49-F238E27FC236}">
                  <a16:creationId xmlns:a16="http://schemas.microsoft.com/office/drawing/2014/main" id="{548FFBE9-352F-4A0F-B34A-E63B1F82A0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2150" y="8105775"/>
              <a:ext cx="6953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1-refine</a:t>
              </a:r>
            </a:p>
          </p:txBody>
        </p:sp>
        <p:sp>
          <p:nvSpPr>
            <p:cNvPr id="272" name="two-refine-label">
              <a:extLst xmlns:a="http://schemas.openxmlformats.org/drawingml/2006/main">
                <a:ext uri="{FF2B5EF4-FFF2-40B4-BE49-F238E27FC236}">
                  <a16:creationId xmlns:a16="http://schemas.microsoft.com/office/drawing/2014/main" id="{811EDE26-AD51-45ED-8F74-FFA28B93C7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57850" y="8610600"/>
              <a:ext cx="6953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2-refine</a:t>
              </a:r>
            </a:p>
          </p:txBody>
        </p:sp>
        <p:sp>
          <p:nvSpPr>
            <p:cNvPr id="273" name="three-refine-label">
              <a:extLst xmlns:a="http://schemas.openxmlformats.org/drawingml/2006/main">
                <a:ext uri="{FF2B5EF4-FFF2-40B4-BE49-F238E27FC236}">
                  <a16:creationId xmlns:a16="http://schemas.microsoft.com/office/drawing/2014/main" id="{00C59504-BCE1-444F-AD20-6C65B8B051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2150" y="9353550"/>
              <a:ext cx="6953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3-refine</a:t>
              </a:r>
            </a:p>
          </p:txBody>
        </p:sp>
      </p:grpSp>
      <p:grpSp>
        <p:nvGrpSpPr>
          <p:cNvPr id="358" name="candidate-selection"/>
          <p:cNvGrpSpPr/>
          <p:nvPr/>
        </p:nvGrpSpPr>
        <p:grpSpPr>
          <ns1:xfrm xmlns:ns1="http://schemas.openxmlformats.org/drawingml/2006/main">
            <ns1:off x="7143750" y="7543800"/>
            <ns1:ext cx="2162175" cy="2190750"/>
            <ns1:chOff x="7143750" y="7543800"/>
            <ns1:chExt cx="2162175" cy="2190750"/>
          </ns1:xfrm>
        </p:grpSpPr>
        <p:pic>
          <p:nvPicPr>
            <p:cNvPr id="274" name="selection-agent-icon" descr="selection-agent-icon">
              <a:extLst xmlns:a="http://schemas.openxmlformats.org/drawingml/2006/main">
                <a:ext uri="{FF2B5EF4-FFF2-40B4-BE49-F238E27FC236}">
                  <a16:creationId xmlns:a16="http://schemas.microsoft.com/office/drawing/2014/main" id="{D5A8DD98-657C-49FA-8471-09B771625CC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df6a54ba97d49c0"/>
            <a:stretch xmlns:a="http://schemas.openxmlformats.org/drawingml/2006/main"/>
          </p:blipFill>
          <p:spPr>
            <a:xfrm xmlns:a="http://schemas.openxmlformats.org/drawingml/2006/main">
              <a:off x="7143750" y="8448344"/>
              <a:ext cx="400050" cy="362612"/>
            </a:xfrm>
            <a:prstGeom xmlns:a="http://schemas.openxmlformats.org/drawingml/2006/main" prst="rect">
              <a:avLst/>
            </a:prstGeom>
          </p:spPr>
        </p:pic>
        <p:sp>
          <p:nvSpPr>
            <p:cNvPr id="275" name="selection-candidate-0-box">
              <a:extLst xmlns:a="http://schemas.openxmlformats.org/drawingml/2006/main">
                <a:ext uri="{FF2B5EF4-FFF2-40B4-BE49-F238E27FC236}">
                  <a16:creationId xmlns:a16="http://schemas.microsoft.com/office/drawing/2014/main" id="{2E3B456A-7A4F-4EEA-8109-35D729D41F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77175" y="7543800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76" name="selection-candidate-0-disc">
              <a:extLst xmlns:a="http://schemas.openxmlformats.org/drawingml/2006/main">
                <a:ext uri="{FF2B5EF4-FFF2-40B4-BE49-F238E27FC236}">
                  <a16:creationId xmlns:a16="http://schemas.microsoft.com/office/drawing/2014/main" id="{D637E185-F170-4317-A5A1-54BE981EB3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43850" y="7610475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8C8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77" name="selection-candidate-1-box">
              <a:extLst xmlns:a="http://schemas.openxmlformats.org/drawingml/2006/main">
                <a:ext uri="{FF2B5EF4-FFF2-40B4-BE49-F238E27FC236}">
                  <a16:creationId xmlns:a16="http://schemas.microsoft.com/office/drawing/2014/main" id="{AF0847CB-452B-4C37-97DB-7F797A3370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77175" y="7924800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78" name="selection-candidate-1-disc">
              <a:extLst xmlns:a="http://schemas.openxmlformats.org/drawingml/2006/main">
                <a:ext uri="{FF2B5EF4-FFF2-40B4-BE49-F238E27FC236}">
                  <a16:creationId xmlns:a16="http://schemas.microsoft.com/office/drawing/2014/main" id="{8213B5BD-3B6B-4370-A726-B45DC62862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43850" y="7991475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8C8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79" name="selection-candidate-2-box">
              <a:extLst xmlns:a="http://schemas.openxmlformats.org/drawingml/2006/main">
                <a:ext uri="{FF2B5EF4-FFF2-40B4-BE49-F238E27FC236}">
                  <a16:creationId xmlns:a16="http://schemas.microsoft.com/office/drawing/2014/main" id="{AD935AE7-3650-409F-A14C-791EB9E9C3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77175" y="8305800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80" name="selection-candidate-2-disc">
              <a:extLst xmlns:a="http://schemas.openxmlformats.org/drawingml/2006/main">
                <a:ext uri="{FF2B5EF4-FFF2-40B4-BE49-F238E27FC236}">
                  <a16:creationId xmlns:a16="http://schemas.microsoft.com/office/drawing/2014/main" id="{0F542CF4-8743-4823-9DE7-D1F0632AC1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43850" y="8372475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8C8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81" name="selection-candidate-3-box">
              <a:extLst xmlns:a="http://schemas.openxmlformats.org/drawingml/2006/main">
                <a:ext uri="{FF2B5EF4-FFF2-40B4-BE49-F238E27FC236}">
                  <a16:creationId xmlns:a16="http://schemas.microsoft.com/office/drawing/2014/main" id="{899CA5E9-7413-424C-87E6-04EDEDA358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77175" y="8686800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82" name="selection-candidate-3-disc">
              <a:extLst xmlns:a="http://schemas.openxmlformats.org/drawingml/2006/main">
                <a:ext uri="{FF2B5EF4-FFF2-40B4-BE49-F238E27FC236}">
                  <a16:creationId xmlns:a16="http://schemas.microsoft.com/office/drawing/2014/main" id="{2C133A18-9A98-4E7A-A3FE-5BD7A229A3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43850" y="8753475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A9C39B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83" name="selection-candidate-4-box">
              <a:extLst xmlns:a="http://schemas.openxmlformats.org/drawingml/2006/main">
                <a:ext uri="{FF2B5EF4-FFF2-40B4-BE49-F238E27FC236}">
                  <a16:creationId xmlns:a16="http://schemas.microsoft.com/office/drawing/2014/main" id="{C5D60FFA-ACD2-45A8-ACA1-F6CC8D2904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77175" y="9067800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84" name="selection-candidate-4-disc">
              <a:extLst xmlns:a="http://schemas.openxmlformats.org/drawingml/2006/main">
                <a:ext uri="{FF2B5EF4-FFF2-40B4-BE49-F238E27FC236}">
                  <a16:creationId xmlns:a16="http://schemas.microsoft.com/office/drawing/2014/main" id="{77EAC50B-2ED4-4374-8B99-03696ACFC3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43850" y="9134475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8C8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85" name="selection-candidate-5-box">
              <a:extLst xmlns:a="http://schemas.openxmlformats.org/drawingml/2006/main">
                <a:ext uri="{FF2B5EF4-FFF2-40B4-BE49-F238E27FC236}">
                  <a16:creationId xmlns:a16="http://schemas.microsoft.com/office/drawing/2014/main" id="{1ED1A5BB-E814-45FC-ACD7-E835A1CC14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77175" y="9448800"/>
              <a:ext cx="276225" cy="285750"/>
            </a:xfrm>
            <a:prstGeom xmlns:a="http://schemas.openxmlformats.org/drawingml/2006/main" prst="roundRect">
              <a:avLst>
                <a:gd name="adj" fmla="val 1724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252525"/>
              </a:solidFill>
              <a:prstDash val="dash"/>
            </a:ln>
          </p:spPr>
        </p:sp>
        <p:sp>
          <p:nvSpPr>
            <p:cNvPr id="286" name="selection-candidate-5-disc">
              <a:extLst xmlns:a="http://schemas.openxmlformats.org/drawingml/2006/main">
                <a:ext uri="{FF2B5EF4-FFF2-40B4-BE49-F238E27FC236}">
                  <a16:creationId xmlns:a16="http://schemas.microsoft.com/office/drawing/2014/main" id="{DABAA804-92A4-4871-BFA7-5D672D96C2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43850" y="9515475"/>
              <a:ext cx="142875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8C88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87" name="selection-fanout-0">
              <a:extLst xmlns:a="http://schemas.openxmlformats.org/drawingml/2006/main">
                <a:ext uri="{FF2B5EF4-FFF2-40B4-BE49-F238E27FC236}">
                  <a16:creationId xmlns:a16="http://schemas.microsoft.com/office/drawing/2014/main" id="{8F46AEB3-1701-42DC-B923-66804BABB8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0" y="7686675"/>
              <a:ext cx="542925" cy="762000"/>
            </a:xfrm>
            <a:custGeom xmlns:a="http://schemas.openxmlformats.org/drawingml/2006/main">
              <a:pathLst>
                <a:path w="542925" h="762000">
                  <a:moveTo>
                    <a:pt x="0" y="762000"/>
                  </a:moveTo>
                  <a:cubicBezTo>
                    <a:pt x="38100" y="0"/>
                    <a:pt x="314325" y="0"/>
                    <a:pt x="542925" y="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8" name="selection-fanout-1">
              <a:extLst xmlns:a="http://schemas.openxmlformats.org/drawingml/2006/main">
                <a:ext uri="{FF2B5EF4-FFF2-40B4-BE49-F238E27FC236}">
                  <a16:creationId xmlns:a16="http://schemas.microsoft.com/office/drawing/2014/main" id="{0EB8AE52-0ACF-460B-90CD-332E665870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0" y="8067675"/>
              <a:ext cx="542925" cy="381000"/>
            </a:xfrm>
            <a:custGeom xmlns:a="http://schemas.openxmlformats.org/drawingml/2006/main">
              <a:pathLst>
                <a:path w="542925" h="381000">
                  <a:moveTo>
                    <a:pt x="0" y="381000"/>
                  </a:moveTo>
                  <a:cubicBezTo>
                    <a:pt x="38100" y="0"/>
                    <a:pt x="314325" y="0"/>
                    <a:pt x="542925" y="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9" name="selection-fanout-2">
              <a:extLst xmlns:a="http://schemas.openxmlformats.org/drawingml/2006/main">
                <a:ext uri="{FF2B5EF4-FFF2-40B4-BE49-F238E27FC236}">
                  <a16:creationId xmlns:a16="http://schemas.microsoft.com/office/drawing/2014/main" id="{D4E54637-42DA-4CED-B61E-28349636AF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0" y="8448675"/>
              <a:ext cx="542925" cy="953"/>
            </a:xfrm>
            <a:custGeom xmlns:a="http://schemas.openxmlformats.org/drawingml/2006/main">
              <a:pathLst>
                <a:path w="542925" h="953">
                  <a:moveTo>
                    <a:pt x="0" y="0"/>
                  </a:moveTo>
                  <a:cubicBezTo>
                    <a:pt x="38100" y="0"/>
                    <a:pt x="314325" y="0"/>
                    <a:pt x="542925" y="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0" name="selection-fanout-3">
              <a:extLst xmlns:a="http://schemas.openxmlformats.org/drawingml/2006/main">
                <a:ext uri="{FF2B5EF4-FFF2-40B4-BE49-F238E27FC236}">
                  <a16:creationId xmlns:a16="http://schemas.microsoft.com/office/drawing/2014/main" id="{29D1C953-0279-428B-BCC9-E9F49F684A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0" y="8810625"/>
              <a:ext cx="542925" cy="19050"/>
            </a:xfrm>
            <a:custGeom xmlns:a="http://schemas.openxmlformats.org/drawingml/2006/main">
              <a:pathLst>
                <a:path w="542925" h="19050">
                  <a:moveTo>
                    <a:pt x="0" y="0"/>
                  </a:moveTo>
                  <a:cubicBezTo>
                    <a:pt x="38100" y="19050"/>
                    <a:pt x="314325" y="19050"/>
                    <a:pt x="542925" y="1905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1" name="selection-fanout-4">
              <a:extLst xmlns:a="http://schemas.openxmlformats.org/drawingml/2006/main">
                <a:ext uri="{FF2B5EF4-FFF2-40B4-BE49-F238E27FC236}">
                  <a16:creationId xmlns:a16="http://schemas.microsoft.com/office/drawing/2014/main" id="{2B3CCF74-F863-45D8-9D05-92FE0DEF57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0" y="8810625"/>
              <a:ext cx="542925" cy="400050"/>
            </a:xfrm>
            <a:custGeom xmlns:a="http://schemas.openxmlformats.org/drawingml/2006/main">
              <a:pathLst>
                <a:path w="542925" h="400050">
                  <a:moveTo>
                    <a:pt x="0" y="0"/>
                  </a:moveTo>
                  <a:cubicBezTo>
                    <a:pt x="38100" y="400050"/>
                    <a:pt x="314325" y="400050"/>
                    <a:pt x="542925" y="40005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2" name="selection-fanout-5">
              <a:extLst xmlns:a="http://schemas.openxmlformats.org/drawingml/2006/main">
                <a:ext uri="{FF2B5EF4-FFF2-40B4-BE49-F238E27FC236}">
                  <a16:creationId xmlns:a16="http://schemas.microsoft.com/office/drawing/2014/main" id="{2CE33E25-720B-4A8A-85B5-EF07F801C8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0" y="8810625"/>
              <a:ext cx="542925" cy="781050"/>
            </a:xfrm>
            <a:custGeom xmlns:a="http://schemas.openxmlformats.org/drawingml/2006/main">
              <a:pathLst>
                <a:path w="542925" h="781050">
                  <a:moveTo>
                    <a:pt x="0" y="0"/>
                  </a:moveTo>
                  <a:cubicBezTo>
                    <a:pt x="38100" y="781050"/>
                    <a:pt x="314325" y="781050"/>
                    <a:pt x="542925" y="78105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pic>
          <p:nvPicPr>
            <p:cNvPr id="293" name="selection-verifier-icon" descr="selection-verifier-icon">
              <a:extLst xmlns:a="http://schemas.openxmlformats.org/drawingml/2006/main">
                <a:ext uri="{FF2B5EF4-FFF2-40B4-BE49-F238E27FC236}">
                  <a16:creationId xmlns:a16="http://schemas.microsoft.com/office/drawing/2014/main" id="{0EAB7D60-BEDE-4EF1-BB80-FDA4630972B3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63b1b8e56aa49f8"/>
            <a:stretch xmlns:a="http://schemas.openxmlformats.org/drawingml/2006/main"/>
          </p:blipFill>
          <p:spPr>
            <a:xfrm xmlns:a="http://schemas.openxmlformats.org/drawingml/2006/main">
              <a:off x="8724900" y="8315898"/>
              <a:ext cx="419100" cy="417955"/>
            </a:xfrm>
            <a:prstGeom xmlns:a="http://schemas.openxmlformats.org/drawingml/2006/main" prst="rect">
              <a:avLst/>
            </a:prstGeom>
          </p:spPr>
        </p:pic>
        <p:sp>
          <p:nvSpPr>
            <p:cNvPr id="294" name="selection-verifier-label">
              <a:extLst xmlns:a="http://schemas.openxmlformats.org/drawingml/2006/main">
                <a:ext uri="{FF2B5EF4-FFF2-40B4-BE49-F238E27FC236}">
                  <a16:creationId xmlns:a16="http://schemas.microsoft.com/office/drawing/2014/main" id="{4BC13F54-3009-43F4-B4D6-1BA1CF44DC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39175" y="8715375"/>
              <a:ext cx="6667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3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Verifier</a:t>
              </a:r>
            </a:p>
          </p:txBody>
        </p:sp>
        <p:sp>
          <p:nvSpPr>
            <p:cNvPr id="295" name="selection-verifier-to-result">
              <a:extLst xmlns:a="http://schemas.openxmlformats.org/drawingml/2006/main">
                <a:ext uri="{FF2B5EF4-FFF2-40B4-BE49-F238E27FC236}">
                  <a16:creationId xmlns:a16="http://schemas.microsoft.com/office/drawing/2014/main" id="{70B9021C-BDE7-487B-B1DD-84769DEF4F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62925" y="8505825"/>
              <a:ext cx="581025" cy="323850"/>
            </a:xfrm>
            <a:custGeom xmlns:a="http://schemas.openxmlformats.org/drawingml/2006/main">
              <a:pathLst>
                <a:path w="581025" h="323850">
                  <a:moveTo>
                    <a:pt x="581025" y="0"/>
                  </a:moveTo>
                  <a:cubicBezTo>
                    <a:pt x="200025" y="9525"/>
                    <a:pt x="371475" y="285750"/>
                    <a:pt x="0" y="323850"/>
                  </a:cubicBezTo>
                </a:path>
              </a:pathLst>
            </a:custGeom>
            <a:noFill xmlns:a="http://schemas.openxmlformats.org/drawingml/2006/main"/>
            <a:ln xmlns:a="http://schemas.openxmlformats.org/drawingml/2006/main" w="20003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6" name="select-label">
              <a:extLst xmlns:a="http://schemas.openxmlformats.org/drawingml/2006/main">
                <a:ext uri="{FF2B5EF4-FFF2-40B4-BE49-F238E27FC236}">
                  <a16:creationId xmlns:a16="http://schemas.microsoft.com/office/drawing/2014/main" id="{3760EE88-D193-4A63-8402-C6AB41DE18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20075" y="8334375"/>
              <a:ext cx="5905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l"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088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select</a:t>
              </a:r>
            </a:p>
          </p:txBody>
        </p:sp>
      </p:grpSp>
      <p:grpSp>
        <p:nvGrpSpPr>
          <p:cNvPr id="359" name="inference-trajectory"/>
          <p:cNvGrpSpPr/>
          <p:nvPr/>
        </p:nvGrpSpPr>
        <p:grpSpPr>
          <ns1:xfrm xmlns:ns1="http://schemas.openxmlformats.org/drawingml/2006/main">
            <ns1:off x="9877425" y="6810375"/>
            <ns1:ext cx="4638675" cy="3114675"/>
            <ns1:chOff x="9877425" y="6810375"/>
            <ns1:chExt cx="4638675" cy="3114675"/>
          </ns1:xfrm>
        </p:grpSpPr>
        <p:sp>
          <p:nvSpPr>
            <p:cNvPr id="297" name="inference-trajectory-frame">
              <a:extLst xmlns:a="http://schemas.openxmlformats.org/drawingml/2006/main">
                <a:ext uri="{FF2B5EF4-FFF2-40B4-BE49-F238E27FC236}">
                  <a16:creationId xmlns:a16="http://schemas.microsoft.com/office/drawing/2014/main" id="{82C05519-BC53-4274-9F62-146848D3C2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77425" y="6924675"/>
              <a:ext cx="4638675" cy="3000375"/>
            </a:xfrm>
            <a:prstGeom xmlns:a="http://schemas.openxmlformats.org/drawingml/2006/main" prst="roundRect">
              <a:avLst>
                <a:gd name="adj" fmla="val 507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0955">
              <a:solidFill>
                <a:srgbClr val="000000"/>
              </a:solidFill>
              <a:prstDash val="solid"/>
            </a:ln>
          </p:spPr>
        </p:sp>
        <p:sp>
          <p:nvSpPr>
            <p:cNvPr id="298" name="inference-trajectory-title-frame">
              <a:extLst xmlns:a="http://schemas.openxmlformats.org/drawingml/2006/main">
                <a:ext uri="{FF2B5EF4-FFF2-40B4-BE49-F238E27FC236}">
                  <a16:creationId xmlns:a16="http://schemas.microsoft.com/office/drawing/2014/main" id="{59BF86AD-678C-407A-8B6F-B53CB65710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49025" y="6810375"/>
              <a:ext cx="1952625" cy="2667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000000"/>
              </a:solidFill>
              <a:prstDash val="solid"/>
            </a:ln>
          </p:spPr>
        </p:sp>
        <p:sp>
          <p:nvSpPr>
            <p:cNvPr id="299" name="inference-trajectory-title-label">
              <a:extLst xmlns:a="http://schemas.openxmlformats.org/drawingml/2006/main">
                <a:ext uri="{FF2B5EF4-FFF2-40B4-BE49-F238E27FC236}">
                  <a16:creationId xmlns:a16="http://schemas.microsoft.com/office/drawing/2014/main" id="{C8B03B1A-7236-4EAD-963A-DD6A0B03C8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96650" y="6810375"/>
              <a:ext cx="18573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defPPr>
              <a:lvl1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1pPr>
              <a:lvl2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2pPr>
              <a:lvl3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3pPr>
              <a:lvl4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4pPr>
              <a:lvl5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5pPr>
              <a:lvl6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6pPr>
              <a:lvl7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7pPr>
              <a:lvl8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8pPr>
              <a:lvl9pPr algn="ctr"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425" b="0" i="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</a:rPr>
                <a:t>Trajectory</a:t>
              </a:r>
            </a:p>
          </p:txBody>
        </p:sp>
        <p:sp>
          <p:nvSpPr>
            <p:cNvPr id="300" name="inference-plan-card">
              <a:extLst xmlns:a="http://schemas.openxmlformats.org/drawingml/2006/main">
                <a:ext uri="{FF2B5EF4-FFF2-40B4-BE49-F238E27FC236}">
                  <a16:creationId xmlns:a16="http://schemas.microsoft.com/office/drawing/2014/main" id="{DA770109-EF79-4AD3-858D-14D1028226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0" y="7153275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sp>
          <p:nvSpPr>
            <p:cNvPr id="301" name="inference-plan-plan-heading">
              <a:extLst xmlns:a="http://schemas.openxmlformats.org/drawingml/2006/main">
                <a:ext uri="{FF2B5EF4-FFF2-40B4-BE49-F238E27FC236}">
                  <a16:creationId xmlns:a16="http://schemas.microsoft.com/office/drawing/2014/main" id="{937BEA2B-2CE8-4F96-A637-C6BA64E091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20300" y="7162800"/>
              <a:ext cx="266700" cy="104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15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302" name="inference-plan-plan-check-0">
              <a:extLst xmlns:a="http://schemas.openxmlformats.org/drawingml/2006/main">
                <a:ext uri="{FF2B5EF4-FFF2-40B4-BE49-F238E27FC236}">
                  <a16:creationId xmlns:a16="http://schemas.microsoft.com/office/drawing/2014/main" id="{B9FC39E9-BCF5-47F8-BEA8-A415EBE6F9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29825" y="7277100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03" name="inference-plan-plan-line-0">
              <a:extLst xmlns:a="http://schemas.openxmlformats.org/drawingml/2006/main">
                <a:ext uri="{FF2B5EF4-FFF2-40B4-BE49-F238E27FC236}">
                  <a16:creationId xmlns:a16="http://schemas.microsoft.com/office/drawing/2014/main" id="{61B99D8E-5973-4D47-9629-1651837E48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25075" y="7296150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04" name="inference-plan-plan-check-1">
              <a:extLst xmlns:a="http://schemas.openxmlformats.org/drawingml/2006/main">
                <a:ext uri="{FF2B5EF4-FFF2-40B4-BE49-F238E27FC236}">
                  <a16:creationId xmlns:a16="http://schemas.microsoft.com/office/drawing/2014/main" id="{EA520972-10BC-44FA-98E0-D9D8659191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29825" y="7353300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05" name="inference-plan-plan-line-1">
              <a:extLst xmlns:a="http://schemas.openxmlformats.org/drawingml/2006/main">
                <a:ext uri="{FF2B5EF4-FFF2-40B4-BE49-F238E27FC236}">
                  <a16:creationId xmlns:a16="http://schemas.microsoft.com/office/drawing/2014/main" id="{3392E128-432B-4146-AFC4-5485311845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25075" y="7372350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06" name="inference-plan-plan-check-2">
              <a:extLst xmlns:a="http://schemas.openxmlformats.org/drawingml/2006/main">
                <a:ext uri="{FF2B5EF4-FFF2-40B4-BE49-F238E27FC236}">
                  <a16:creationId xmlns:a16="http://schemas.microsoft.com/office/drawing/2014/main" id="{43A78F6F-B3AE-4B49-B70E-B5F0B1F784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29825" y="7429500"/>
              <a:ext cx="76200" cy="76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07" name="inference-plan-plan-line-2">
              <a:extLst xmlns:a="http://schemas.openxmlformats.org/drawingml/2006/main">
                <a:ext uri="{FF2B5EF4-FFF2-40B4-BE49-F238E27FC236}">
                  <a16:creationId xmlns:a16="http://schemas.microsoft.com/office/drawing/2014/main" id="{033A7CD1-FB74-459E-BCE0-A6258BB462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25075" y="7448550"/>
              <a:ext cx="1428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E65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08" name="inference-plan-act-prefix">
              <a:extLst xmlns:a="http://schemas.openxmlformats.org/drawingml/2006/main">
                <a:ext uri="{FF2B5EF4-FFF2-40B4-BE49-F238E27FC236}">
                  <a16:creationId xmlns:a16="http://schemas.microsoft.com/office/drawing/2014/main" id="{24060DFE-E4EF-4542-8EB7-49B8EA3C59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7172325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309" name="inference-plan-act">
              <a:extLst xmlns:a="http://schemas.openxmlformats.org/drawingml/2006/main">
                <a:ext uri="{FF2B5EF4-FFF2-40B4-BE49-F238E27FC236}">
                  <a16:creationId xmlns:a16="http://schemas.microsoft.com/office/drawing/2014/main" id="{2A39D5BE-F172-45DE-93D8-E178396262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717232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First, I will analyze the patient's symptoms to determine [...]</a:t>
              </a:r>
            </a:p>
          </p:txBody>
        </p:sp>
        <p:sp>
          <p:nvSpPr>
            <p:cNvPr id="310" name="inference-plan-obs-prefix">
              <a:extLst xmlns:a="http://schemas.openxmlformats.org/drawingml/2006/main">
                <a:ext uri="{FF2B5EF4-FFF2-40B4-BE49-F238E27FC236}">
                  <a16:creationId xmlns:a16="http://schemas.microsoft.com/office/drawing/2014/main" id="{F9DEEB45-4169-4A35-B7DC-736F15F7E4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7343775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311" name="inference-plan-obs">
              <a:extLst xmlns:a="http://schemas.openxmlformats.org/drawingml/2006/main">
                <a:ext uri="{FF2B5EF4-FFF2-40B4-BE49-F238E27FC236}">
                  <a16:creationId xmlns:a16="http://schemas.microsoft.com/office/drawing/2014/main" id="{C5FF3D9F-F6F1-48D4-8A58-1C781C70CD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734377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OK</a:t>
              </a:r>
            </a:p>
          </p:txBody>
        </p:sp>
        <p:sp>
          <p:nvSpPr>
            <p:cNvPr id="312" name="inference-medrag-1-card">
              <a:extLst xmlns:a="http://schemas.openxmlformats.org/drawingml/2006/main">
                <a:ext uri="{FF2B5EF4-FFF2-40B4-BE49-F238E27FC236}">
                  <a16:creationId xmlns:a16="http://schemas.microsoft.com/office/drawing/2014/main" id="{56B177AE-4791-44CA-AF07-48D5491E4E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0" y="7629525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313" name="inference-medrag-1-icon" descr="inference-medrag-1-icon">
              <a:extLst xmlns:a="http://schemas.openxmlformats.org/drawingml/2006/main">
                <a:ext uri="{FF2B5EF4-FFF2-40B4-BE49-F238E27FC236}">
                  <a16:creationId xmlns:a16="http://schemas.microsoft.com/office/drawing/2014/main" id="{0D3671D3-E1AE-4497-94A5-0B6B708F702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b73281ad15b4afb"/>
            <a:stretch xmlns:a="http://schemas.openxmlformats.org/drawingml/2006/main"/>
          </p:blipFill>
          <p:spPr>
            <a:xfrm xmlns:a="http://schemas.openxmlformats.org/drawingml/2006/main">
              <a:off x="10039350" y="7695416"/>
              <a:ext cx="228600" cy="163492"/>
            </a:xfrm>
            <a:prstGeom xmlns:a="http://schemas.openxmlformats.org/drawingml/2006/main" prst="rect">
              <a:avLst/>
            </a:prstGeom>
          </p:spPr>
        </p:pic>
        <p:sp>
          <p:nvSpPr>
            <p:cNvPr id="314" name="inference-medrag-1-tool-label">
              <a:extLst xmlns:a="http://schemas.openxmlformats.org/drawingml/2006/main">
                <a:ext uri="{FF2B5EF4-FFF2-40B4-BE49-F238E27FC236}">
                  <a16:creationId xmlns:a16="http://schemas.microsoft.com/office/drawing/2014/main" id="{CBF2D60D-808C-4827-8384-D9C8AFF498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82200" y="7896225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MedRAG</a:t>
              </a:r>
            </a:p>
          </p:txBody>
        </p:sp>
        <p:sp>
          <p:nvSpPr>
            <p:cNvPr id="315" name="inference-medrag-1-act-prefix">
              <a:extLst xmlns:a="http://schemas.openxmlformats.org/drawingml/2006/main">
                <a:ext uri="{FF2B5EF4-FFF2-40B4-BE49-F238E27FC236}">
                  <a16:creationId xmlns:a16="http://schemas.microsoft.com/office/drawing/2014/main" id="{B0A030AF-472F-41AE-986F-EC3372180F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7648575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316" name="inference-medrag-1-act">
              <a:extLst xmlns:a="http://schemas.openxmlformats.org/drawingml/2006/main">
                <a:ext uri="{FF2B5EF4-FFF2-40B4-BE49-F238E27FC236}">
                  <a16:creationId xmlns:a16="http://schemas.microsoft.com/office/drawing/2014/main" id="{9AAA00F2-8D9A-4037-9D21-0010C90656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764857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pathogenesis of symptoms from foreign-manufactured fat [...]</a:t>
              </a:r>
            </a:p>
          </p:txBody>
        </p:sp>
        <p:sp>
          <p:nvSpPr>
            <p:cNvPr id="317" name="inference-medrag-1-obs-prefix">
              <a:extLst xmlns:a="http://schemas.openxmlformats.org/drawingml/2006/main">
                <a:ext uri="{FF2B5EF4-FFF2-40B4-BE49-F238E27FC236}">
                  <a16:creationId xmlns:a16="http://schemas.microsoft.com/office/drawing/2014/main" id="{DD7F30A4-60EB-4728-857D-CA60B5465D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7820025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318" name="inference-medrag-1-obs">
              <a:extLst xmlns:a="http://schemas.openxmlformats.org/drawingml/2006/main">
                <a:ext uri="{FF2B5EF4-FFF2-40B4-BE49-F238E27FC236}">
                  <a16:creationId xmlns:a16="http://schemas.microsoft.com/office/drawing/2014/main" id="{73557189-7ED4-4631-AFC0-F7946B5B5B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782002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Document [0] (Title: ietary supplements--surprise pills? [...]</a:t>
              </a:r>
            </a:p>
          </p:txBody>
        </p:sp>
        <p:sp>
          <p:nvSpPr>
            <p:cNvPr id="319" name="inference-think-1-card">
              <a:extLst xmlns:a="http://schemas.openxmlformats.org/drawingml/2006/main">
                <a:ext uri="{FF2B5EF4-FFF2-40B4-BE49-F238E27FC236}">
                  <a16:creationId xmlns:a16="http://schemas.microsoft.com/office/drawing/2014/main" id="{51654D0A-7C32-4874-841F-C5759D16F4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0" y="8105775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320" name="inference-think-1-icon" descr="inference-think-1-icon">
              <a:extLst xmlns:a="http://schemas.openxmlformats.org/drawingml/2006/main">
                <a:ext uri="{FF2B5EF4-FFF2-40B4-BE49-F238E27FC236}">
                  <a16:creationId xmlns:a16="http://schemas.microsoft.com/office/drawing/2014/main" id="{B535B89C-245F-4939-BA7C-64817295B564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f30da98c8061444c"/>
            <a:stretch xmlns:a="http://schemas.openxmlformats.org/drawingml/2006/main"/>
          </p:blipFill>
          <p:spPr>
            <a:xfrm xmlns:a="http://schemas.openxmlformats.org/drawingml/2006/main">
              <a:off x="10082660" y="8134350"/>
              <a:ext cx="141981" cy="238125"/>
            </a:xfrm>
            <a:prstGeom xmlns:a="http://schemas.openxmlformats.org/drawingml/2006/main" prst="rect">
              <a:avLst/>
            </a:prstGeom>
          </p:spPr>
        </p:pic>
        <p:sp>
          <p:nvSpPr>
            <p:cNvPr id="321" name="inference-think-1-tool-label">
              <a:extLst xmlns:a="http://schemas.openxmlformats.org/drawingml/2006/main">
                <a:ext uri="{FF2B5EF4-FFF2-40B4-BE49-F238E27FC236}">
                  <a16:creationId xmlns:a16="http://schemas.microsoft.com/office/drawing/2014/main" id="{D3A3057C-A487-41BE-877F-652971D7B0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82200" y="8372475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Think</a:t>
              </a:r>
            </a:p>
          </p:txBody>
        </p:sp>
        <p:sp>
          <p:nvSpPr>
            <p:cNvPr id="322" name="inference-think-1-act-prefix">
              <a:extLst xmlns:a="http://schemas.openxmlformats.org/drawingml/2006/main">
                <a:ext uri="{FF2B5EF4-FFF2-40B4-BE49-F238E27FC236}">
                  <a16:creationId xmlns:a16="http://schemas.microsoft.com/office/drawing/2014/main" id="{C993113B-C2DB-427D-9458-18E7503C4F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8124825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323" name="inference-think-1-act">
              <a:extLst xmlns:a="http://schemas.openxmlformats.org/drawingml/2006/main">
                <a:ext uri="{FF2B5EF4-FFF2-40B4-BE49-F238E27FC236}">
                  <a16:creationId xmlns:a16="http://schemas.microsoft.com/office/drawing/2014/main" id="{35CBC004-AE7E-4AF1-AACC-619B351285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812482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 information retrieved indicates that foreign-manufactur[...]</a:t>
              </a:r>
            </a:p>
          </p:txBody>
        </p:sp>
        <p:sp>
          <p:nvSpPr>
            <p:cNvPr id="324" name="inference-think-1-obs-prefix">
              <a:extLst xmlns:a="http://schemas.openxmlformats.org/drawingml/2006/main">
                <a:ext uri="{FF2B5EF4-FFF2-40B4-BE49-F238E27FC236}">
                  <a16:creationId xmlns:a16="http://schemas.microsoft.com/office/drawing/2014/main" id="{7BA50A6C-B0AB-494D-B9C1-DAC1D7DCC9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8296275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325" name="inference-think-1-obs">
              <a:extLst xmlns:a="http://schemas.openxmlformats.org/drawingml/2006/main">
                <a:ext uri="{FF2B5EF4-FFF2-40B4-BE49-F238E27FC236}">
                  <a16:creationId xmlns:a16="http://schemas.microsoft.com/office/drawing/2014/main" id="{62ADE3D7-AC5D-4877-A2BC-237A8C9069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829627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OK</a:t>
              </a:r>
            </a:p>
          </p:txBody>
        </p:sp>
        <p:sp>
          <p:nvSpPr>
            <p:cNvPr id="326" name="inference-medrag-2-card">
              <a:extLst xmlns:a="http://schemas.openxmlformats.org/drawingml/2006/main">
                <a:ext uri="{FF2B5EF4-FFF2-40B4-BE49-F238E27FC236}">
                  <a16:creationId xmlns:a16="http://schemas.microsoft.com/office/drawing/2014/main" id="{E976C818-B1A1-4B44-9BDA-7B6350C3B7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0" y="8582025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327" name="inference-medrag-2-icon" descr="inference-medrag-2-icon">
              <a:extLst xmlns:a="http://schemas.openxmlformats.org/drawingml/2006/main">
                <a:ext uri="{FF2B5EF4-FFF2-40B4-BE49-F238E27FC236}">
                  <a16:creationId xmlns:a16="http://schemas.microsoft.com/office/drawing/2014/main" id="{DB69BD22-9F06-4E01-9DBA-1D4275A58C7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dae10b5a1d34633"/>
            <a:stretch xmlns:a="http://schemas.openxmlformats.org/drawingml/2006/main"/>
          </p:blipFill>
          <p:spPr>
            <a:xfrm xmlns:a="http://schemas.openxmlformats.org/drawingml/2006/main">
              <a:off x="10039350" y="8647916"/>
              <a:ext cx="228600" cy="163492"/>
            </a:xfrm>
            <a:prstGeom xmlns:a="http://schemas.openxmlformats.org/drawingml/2006/main" prst="rect">
              <a:avLst/>
            </a:prstGeom>
          </p:spPr>
        </p:pic>
        <p:sp>
          <p:nvSpPr>
            <p:cNvPr id="328" name="inference-medrag-2-tool-label">
              <a:extLst xmlns:a="http://schemas.openxmlformats.org/drawingml/2006/main">
                <a:ext uri="{FF2B5EF4-FFF2-40B4-BE49-F238E27FC236}">
                  <a16:creationId xmlns:a16="http://schemas.microsoft.com/office/drawing/2014/main" id="{CD2ED80A-6962-411F-BD4F-2352FD379C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82200" y="8848725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54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MedRAG</a:t>
              </a:r>
            </a:p>
          </p:txBody>
        </p:sp>
        <p:sp>
          <p:nvSpPr>
            <p:cNvPr id="329" name="inference-medrag-2-act-prefix">
              <a:extLst xmlns:a="http://schemas.openxmlformats.org/drawingml/2006/main">
                <a:ext uri="{FF2B5EF4-FFF2-40B4-BE49-F238E27FC236}">
                  <a16:creationId xmlns:a16="http://schemas.microsoft.com/office/drawing/2014/main" id="{135CA9CE-A83D-4BA6-ACE5-C9FE408C3B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8601075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330" name="inference-medrag-2-act">
              <a:extLst xmlns:a="http://schemas.openxmlformats.org/drawingml/2006/main">
                <a:ext uri="{FF2B5EF4-FFF2-40B4-BE49-F238E27FC236}">
                  <a16:creationId xmlns:a16="http://schemas.microsoft.com/office/drawing/2014/main" id="{C03D7420-FDF5-44A6-8E40-8E80034B4F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860107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pathogenesis of ephedrine-induced symptoms</a:t>
              </a:r>
            </a:p>
          </p:txBody>
        </p:sp>
        <p:sp>
          <p:nvSpPr>
            <p:cNvPr id="331" name="inference-medrag-2-obs-prefix">
              <a:extLst xmlns:a="http://schemas.openxmlformats.org/drawingml/2006/main">
                <a:ext uri="{FF2B5EF4-FFF2-40B4-BE49-F238E27FC236}">
                  <a16:creationId xmlns:a16="http://schemas.microsoft.com/office/drawing/2014/main" id="{4E73E9DD-1422-4ABB-A98D-0D50FECDE8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8772525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332" name="inference-medrag-2-obs">
              <a:extLst xmlns:a="http://schemas.openxmlformats.org/drawingml/2006/main">
                <a:ext uri="{FF2B5EF4-FFF2-40B4-BE49-F238E27FC236}">
                  <a16:creationId xmlns:a16="http://schemas.microsoft.com/office/drawing/2014/main" id="{7499D849-44D7-48E8-BE15-4DB5389987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877252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Document [0] (Title: Ephedrine-induced cardiac ischemia: [...]</a:t>
              </a:r>
            </a:p>
          </p:txBody>
        </p:sp>
        <p:sp>
          <p:nvSpPr>
            <p:cNvPr id="333" name="inference-think-2-card">
              <a:extLst xmlns:a="http://schemas.openxmlformats.org/drawingml/2006/main">
                <a:ext uri="{FF2B5EF4-FFF2-40B4-BE49-F238E27FC236}">
                  <a16:creationId xmlns:a16="http://schemas.microsoft.com/office/drawing/2014/main" id="{D9378278-EBB1-4EDB-B579-F02C9BDCC5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0" y="9058275"/>
              <a:ext cx="304800" cy="409575"/>
            </a:xfrm>
            <a:prstGeom xmlns:a="http://schemas.openxmlformats.org/drawingml/2006/main" prst="roundRect">
              <a:avLst>
                <a:gd name="adj" fmla="val 1562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555555"/>
              </a:solidFill>
              <a:prstDash val="solid"/>
            </a:ln>
          </p:spPr>
        </p:sp>
        <p:pic>
          <p:nvPicPr>
            <p:cNvPr id="334" name="inference-think-2-icon" descr="inference-think-2-icon">
              <a:extLst xmlns:a="http://schemas.openxmlformats.org/drawingml/2006/main">
                <a:ext uri="{FF2B5EF4-FFF2-40B4-BE49-F238E27FC236}">
                  <a16:creationId xmlns:a16="http://schemas.microsoft.com/office/drawing/2014/main" id="{9FA0D62B-7027-4D35-A045-7274CFB5164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f08315fe4fc41f1"/>
            <a:stretch xmlns:a="http://schemas.openxmlformats.org/drawingml/2006/main"/>
          </p:blipFill>
          <p:spPr>
            <a:xfrm xmlns:a="http://schemas.openxmlformats.org/drawingml/2006/main">
              <a:off x="10082660" y="9086850"/>
              <a:ext cx="141981" cy="238125"/>
            </a:xfrm>
            <a:prstGeom xmlns:a="http://schemas.openxmlformats.org/drawingml/2006/main" prst="rect">
              <a:avLst/>
            </a:prstGeom>
          </p:spPr>
        </p:pic>
        <p:sp>
          <p:nvSpPr>
            <p:cNvPr id="335" name="inference-think-2-tool-label">
              <a:extLst xmlns:a="http://schemas.openxmlformats.org/drawingml/2006/main">
                <a:ext uri="{FF2B5EF4-FFF2-40B4-BE49-F238E27FC236}">
                  <a16:creationId xmlns:a16="http://schemas.microsoft.com/office/drawing/2014/main" id="{4921762D-F613-4A6E-9164-5F3CB2B68A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82200" y="9324975"/>
              <a:ext cx="3429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ctr">
                <a:lnSpc>
                  <a:spcPct val="100000"/>
                </a:lnSpc>
                <a:buNone/>
                <a:def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698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Think</a:t>
              </a:r>
            </a:p>
          </p:txBody>
        </p:sp>
        <p:sp>
          <p:nvSpPr>
            <p:cNvPr id="336" name="inference-think-2-act-prefix">
              <a:extLst xmlns:a="http://schemas.openxmlformats.org/drawingml/2006/main">
                <a:ext uri="{FF2B5EF4-FFF2-40B4-BE49-F238E27FC236}">
                  <a16:creationId xmlns:a16="http://schemas.microsoft.com/office/drawing/2014/main" id="{785099AB-270B-421C-818D-90B8DD83D9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9077325"/>
              <a:ext cx="390525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 ›</a:t>
              </a:r>
            </a:p>
          </p:txBody>
        </p:sp>
        <p:sp>
          <p:nvSpPr>
            <p:cNvPr id="337" name="inference-think-2-act">
              <a:extLst xmlns:a="http://schemas.openxmlformats.org/drawingml/2006/main">
                <a:ext uri="{FF2B5EF4-FFF2-40B4-BE49-F238E27FC236}">
                  <a16:creationId xmlns:a16="http://schemas.microsoft.com/office/drawing/2014/main" id="{5A995EC7-9052-4FE1-9D1C-1D9272574A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907732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 documents provide information on the pathogenesis [...]</a:t>
              </a:r>
            </a:p>
          </p:txBody>
        </p:sp>
        <p:sp>
          <p:nvSpPr>
            <p:cNvPr id="338" name="inference-think-2-obs-prefix">
              <a:extLst xmlns:a="http://schemas.openxmlformats.org/drawingml/2006/main">
                <a:ext uri="{FF2B5EF4-FFF2-40B4-BE49-F238E27FC236}">
                  <a16:creationId xmlns:a16="http://schemas.microsoft.com/office/drawing/2014/main" id="{ECC4232A-050F-465D-8101-00E6C136DE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01300" y="9248775"/>
              <a:ext cx="4000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Obs ›</a:t>
              </a:r>
            </a:p>
          </p:txBody>
        </p:sp>
        <p:sp>
          <p:nvSpPr>
            <p:cNvPr id="339" name="inference-think-2-obs">
              <a:extLst xmlns:a="http://schemas.openxmlformats.org/drawingml/2006/main">
                <a:ext uri="{FF2B5EF4-FFF2-40B4-BE49-F238E27FC236}">
                  <a16:creationId xmlns:a16="http://schemas.microsoft.com/office/drawing/2014/main" id="{7EE96531-64DB-4BA1-9E1B-05E0280BC7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9248775"/>
              <a:ext cx="36576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OK</a:t>
              </a:r>
            </a:p>
          </p:txBody>
        </p:sp>
        <p:sp>
          <p:nvSpPr>
            <p:cNvPr id="340" name="inference-finish-prefix">
              <a:extLst xmlns:a="http://schemas.openxmlformats.org/drawingml/2006/main">
                <a:ext uri="{FF2B5EF4-FFF2-40B4-BE49-F238E27FC236}">
                  <a16:creationId xmlns:a16="http://schemas.microsoft.com/office/drawing/2014/main" id="{175AABC0-1CBD-467C-A335-687774F910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0325" y="9525000"/>
              <a:ext cx="5810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63" b="1" i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Finish ›</a:t>
              </a:r>
            </a:p>
          </p:txBody>
        </p:sp>
        <p:sp>
          <p:nvSpPr>
            <p:cNvPr id="341" name="inference-finish-answer">
              <a:extLst xmlns:a="http://schemas.openxmlformats.org/drawingml/2006/main">
                <a:ext uri="{FF2B5EF4-FFF2-40B4-BE49-F238E27FC236}">
                  <a16:creationId xmlns:a16="http://schemas.microsoft.com/office/drawing/2014/main" id="{FE6E5FEB-3321-4BBE-98DB-FFFC6B0A52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9525000"/>
              <a:ext cx="35242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 algn="l">
                <a:lnSpc>
                  <a:spcPct val="100000"/>
                </a:lnSpc>
                <a:buNone/>
                <a:def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35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A. The patient's symptoms are caused by an increased [...]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3404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2026-10-27T01:45:30.0570000Z</dcterms:created>
  <dcterms:modified xsi:type="dcterms:W3CDTF">2026-10-27T01:45:30.0570000Z</dcterms:modified>
</coreProperties>
</file>