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b1f1e2657a4a40" /><Relationship Type="http://schemas.openxmlformats.org/officeDocument/2006/relationships/extended-properties" Target="/docProps/app.xml" Id="R756fb40b9bab4fb5" /><Relationship Type="http://schemas.openxmlformats.org/officeDocument/2006/relationships/officeDocument" Target="/ppt/presentation.xml" Id="R558176c100644a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9c98e335ec4203"/>
  </p:sldMasterIdLst>
  <p:notesMasterIdLst>
    <p:notesMasterId xmlns:r="http://schemas.openxmlformats.org/officeDocument/2006/relationships" r:id="R9156e3f03dfe4dde"/>
  </p:notesMasterIdLst>
  <p:sldIdLst>
    <p:sldId xmlns:r="http://schemas.openxmlformats.org/officeDocument/2006/relationships" id="256" r:id="Ra09117e07e574afa"/>
  </p:sldIdLst>
  <p:sldSz cx="17145000" cy="9563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02813d868a4300" /><Relationship Type="http://schemas.openxmlformats.org/officeDocument/2006/relationships/slideMaster" Target="/ppt/slideMasters/slideMaster1.xml" Id="Rd39c98e335ec4203" /><Relationship Type="http://schemas.openxmlformats.org/officeDocument/2006/relationships/notesMaster" Target="/ppt/notesMasters/notesMaster1.xml" Id="R9156e3f03dfe4dde" /><Relationship Type="http://schemas.openxmlformats.org/officeDocument/2006/relationships/presProps" Target="/ppt/presProps.xml" Id="Re52f906caeb84cc5" /><Relationship Type="http://schemas.openxmlformats.org/officeDocument/2006/relationships/tableStyles" Target="/ppt/tableStyles.xml" Id="R7e403dff79614324" /><Relationship Type="http://schemas.openxmlformats.org/officeDocument/2006/relationships/slide" Target="/ppt/slides/slide1.xml" Id="Ra09117e07e574a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a0e71cd2674c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6d58cba4f42bc" /><Relationship Type="http://schemas.openxmlformats.org/officeDocument/2006/relationships/notesMaster" Target="/ppt/notesMasters/notesMaster1.xml" Id="Rf41530e05dc8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source: https://arxiv.org/html/2412.19494v1/fraemwork.png (Figure 3); manuscript https://arxiv.org/html/2412.19494v1 . User-supplied screenshot preserved. Complete English wording reconstructed from original figure, with no method rewriting.</a:t>
            </a:r>
          </a:p>
          <a:p xmlns:a="http://schemas.openxmlformats.org/drawingml/2006/main">
            <a:r>
              <a:t>Visual asset credits: OpenMoji contributors, CC BY-SA 4.0 https://creativecommons.org/licenses/by-sa/4.0/ . Translation symbol: Pictogrammers Material Design Icons, Apache 2.0 https://pictogrammers.com/docs/general/license/ . Each independent icon is unmodified except raster format conversion, transparent-padding trim, and resizing. These picture objects can be moved/replaced, but their internal strokes are not native PowerPoint shapes.</a:t>
            </a:r>
          </a:p>
          <a:p xmlns:a="http://schemas.openxmlformats.org/drawingml/2006/main">
            <a:r>
              <a:t>phone: undefined; https://github.com/hfg-gmuend/openmoji/blob/master/color/svg/1F4F1.svg</a:t>
            </a:r>
          </a:p>
          <a:p xmlns:a="http://schemas.openxmlformats.org/drawingml/2006/main">
            <a:r>
              <a:t>robot: undefined; https://github.com/hfg-gmuend/openmoji/blob/master/color/svg/1F916.svg</a:t>
            </a:r>
          </a:p>
          <a:p xmlns:a="http://schemas.openxmlformats.org/drawingml/2006/main">
            <a:r>
              <a:t>speech: undefined; https://github.com/hfg-gmuend/openmoji/blob/master/color/svg/1F4AC.svg</a:t>
            </a:r>
          </a:p>
          <a:p xmlns:a="http://schemas.openxmlformats.org/drawingml/2006/main">
            <a:r>
              <a:t>brain: undefined; https://github.com/hfg-gmuend/openmoji/blob/master/color/svg/1F9E0.svg</a:t>
            </a:r>
          </a:p>
          <a:p xmlns:a="http://schemas.openxmlformats.org/drawingml/2006/main">
            <a:r>
              <a:t>doctor: undefined; https://github.com/hfg-gmuend/openmoji/blob/master/color/svg/1F468-200D-2695-FE0F.svg</a:t>
            </a:r>
          </a:p>
          <a:p xmlns:a="http://schemas.openxmlformats.org/drawingml/2006/main">
            <a:r>
              <a:t>office-worker: undefined; https://github.com/hfg-gmuend/openmoji/blob/master/color/svg/1F468-200D-1F4BC.svg</a:t>
            </a:r>
          </a:p>
          <a:p xmlns:a="http://schemas.openxmlformats.org/drawingml/2006/main">
            <a:r>
              <a:t>team: undefined; https://github.com/hfg-gmuend/openmoji/blob/master/color/svg/1F46A.svg</a:t>
            </a:r>
          </a:p>
          <a:p xmlns:a="http://schemas.openxmlformats.org/drawingml/2006/main">
            <a:r>
              <a:t>scales: undefined; https://github.com/hfg-gmuend/openmoji/blob/master/color/svg/2696.svg</a:t>
            </a:r>
          </a:p>
          <a:p xmlns:a="http://schemas.openxmlformats.org/drawingml/2006/main">
            <a:r>
              <a:t>science: undefined; https://github.com/hfg-gmuend/openmoji/blob/master/color/svg/1F52C.svg</a:t>
            </a:r>
          </a:p>
          <a:p xmlns:a="http://schemas.openxmlformats.org/drawingml/2006/main">
            <a:r>
              <a:t>books: undefined; https://github.com/hfg-gmuend/openmoji/blob/master/color/svg/1F4DA.svg</a:t>
            </a:r>
          </a:p>
          <a:p xmlns:a="http://schemas.openxmlformats.org/drawingml/2006/main">
            <a:r>
              <a:t>map: undefined; https://github.com/hfg-gmuend/openmoji/blob/master/color/svg/1F5FA.svg</a:t>
            </a:r>
          </a:p>
          <a:p xmlns:a="http://schemas.openxmlformats.org/drawingml/2006/main">
            <a:r>
              <a:t>taxi: undefined; https://github.com/hfg-gmuend/openmoji/blob/master/color/svg/1F695.svg</a:t>
            </a:r>
          </a:p>
          <a:p xmlns:a="http://schemas.openxmlformats.org/drawingml/2006/main">
            <a:r>
              <a:t>chart: undefined; https://github.com/hfg-gmuend/openmoji/blob/master/color/svg/1F4CA.svg</a:t>
            </a:r>
          </a:p>
          <a:p xmlns:a="http://schemas.openxmlformats.org/drawingml/2006/main">
            <a:r>
              <a:t>picture: undefined; https://github.com/hfg-gmuend/openmoji/blob/master/color/svg/1F5BC.svg</a:t>
            </a:r>
          </a:p>
          <a:p xmlns:a="http://schemas.openxmlformats.org/drawingml/2006/main">
            <a:r>
              <a:t>clipboard: undefined; https://github.com/hfg-gmuend/openmoji/blob/master/color/svg/1F4CB.svg</a:t>
            </a:r>
          </a:p>
          <a:p xmlns:a="http://schemas.openxmlformats.org/drawingml/2006/main">
            <a:r>
              <a:t>gear: undefined; https://github.com/hfg-gmuend/openmoji/blob/master/color/svg/2699.svg</a:t>
            </a:r>
          </a:p>
          <a:p xmlns:a="http://schemas.openxmlformats.org/drawingml/2006/main">
            <a:r>
              <a:t>hourglass: undefined; https://github.com/hfg-gmuend/openmoji/blob/master/color/svg/231B.svg</a:t>
            </a:r>
          </a:p>
          <a:p xmlns:a="http://schemas.openxmlformats.org/drawingml/2006/main">
            <a:r>
              <a:t>transmission: undefined; https://github.com/hfg-gmuend/openmoji/blob/master/color/svg/E0A1.svg</a:t>
            </a:r>
          </a:p>
          <a:p xmlns:a="http://schemas.openxmlformats.org/drawingml/2006/main">
            <a:r>
              <a:t>environment-globe: undefined; https://github.com/hfg-gmuend/openmoji/blob/master/color/svg/1F310.svg</a:t>
            </a:r>
          </a:p>
          <a:p xmlns:a="http://schemas.openxmlformats.org/drawingml/2006/main">
            <a:r>
              <a:t>storage-files: undefined; https://github.com/hfg-gmuend/openmoji/blob/master/color/svg/1F5C2.svg</a:t>
            </a:r>
          </a:p>
          <a:p xmlns:a="http://schemas.openxmlformats.org/drawingml/2006/main">
            <a:r>
              <a:t>translate-symbol: Pictogrammers Material Design Icons; https://pictogrammers.com/library/mdi/icon/translate/</a:t>
            </a:r>
          </a:p>
          <a:p xmlns:a="http://schemas.openxmlformats.org/drawingml/2006/main">
            <a:r>
              <a:t>Native text, module boundaries, title bands, GenAI trapezoids, braces, symbols, dividers, arrows and feedback paths are editable. Feedback paths are freeform native paths; automatic attachment on module movement is not asserted. Font: Arial (close visual match chosen from installed font).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163e9d6a141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6ea2ce7ac4e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e39408f5e47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0620a0f5649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125063ec946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566f970d54d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3996DF-D674-464A-AF3C-79F9220F4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3612727"/>
            <a:ext cx="13716000" cy="13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6DC918-F0F0-416A-B883-C3E9D69499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5259705"/>
            <a:ext cx="12001500" cy="106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011E11-06E6-468C-B8D0-B56E30111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3984625"/>
            <a:ext cx="13716000" cy="159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BD296A-5750-491C-98CC-96D2DCAAAF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743797"/>
            <a:ext cx="15216188" cy="116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498707-92BE-48F3-8D07-0BBF1DAF5F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656417"/>
            <a:ext cx="15216188" cy="5950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877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379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6882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9385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1887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4390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6893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9395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1898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33291E-9AA4-47C3-AC01-8C49F18CA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743797"/>
            <a:ext cx="15216188" cy="116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12BCAF-1039-4E2E-8920-53D4E9CCB9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656417"/>
            <a:ext cx="7072313" cy="5950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877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379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6882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9385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1887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4390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6893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9395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1898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ABB0D0-288F-4F1A-B871-456860A5FD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2656417"/>
            <a:ext cx="7072313" cy="5950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877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379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6882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9385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1887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4390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6893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9395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1898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2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E3C43B-2B6E-4563-B3F6-EB2FD74568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743797"/>
            <a:ext cx="15216188" cy="116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BFE496-2897-47F2-8CC3-949D10CB58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656417"/>
            <a:ext cx="7072313" cy="5950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877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379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6882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9385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1887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4390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68930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93957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18983" indent="-318770" algn="l">
              <a:lnSpc>
                <a:spcPct val="110000"/>
              </a:lnSpc>
              <a:spcBef>
                <a:spcPts val="0"/>
              </a:spcBef>
              <a:spcAft>
                <a:spcPts val="1673"/>
              </a:spcAft>
              <a:buChar char="•"/>
              <a:defRPr sz="31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f13ec395724db3" /><Relationship Type="http://schemas.openxmlformats.org/officeDocument/2006/relationships/slideLayout" Target="/ppt/slideLayouts/slideLayout1.xml" Id="R350e989e150e44ba" /><Relationship Type="http://schemas.openxmlformats.org/officeDocument/2006/relationships/slideLayout" Target="/ppt/slideLayouts/slideLayout2.xml" Id="Ra694682809d546ea" /><Relationship Type="http://schemas.openxmlformats.org/officeDocument/2006/relationships/slideLayout" Target="/ppt/slideLayouts/slideLayout3.xml" Id="R3ee72bafe4b64e50" /><Relationship Type="http://schemas.openxmlformats.org/officeDocument/2006/relationships/slideLayout" Target="/ppt/slideLayouts/slideLayout4.xml" Id="R0ffb8c599e7b4789" /><Relationship Type="http://schemas.openxmlformats.org/officeDocument/2006/relationships/slideLayout" Target="/ppt/slideLayouts/slideLayout5.xml" Id="R0086c9bf8b8c4919" /><Relationship Type="http://schemas.openxmlformats.org/officeDocument/2006/relationships/slideLayout" Target="/ppt/slideLayouts/slideLayout6.xml" Id="Rf25f1e47375e4a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0e989e150e44ba"/>
    <p:sldLayoutId xmlns:r="http://schemas.openxmlformats.org/officeDocument/2006/relationships" id="2147483650" r:id="Ra694682809d546ea"/>
    <p:sldLayoutId xmlns:r="http://schemas.openxmlformats.org/officeDocument/2006/relationships" id="2147483651" r:id="R3ee72bafe4b64e50"/>
    <p:sldLayoutId xmlns:r="http://schemas.openxmlformats.org/officeDocument/2006/relationships" id="2147483652" r:id="R0ffb8c599e7b4789"/>
    <p:sldLayoutId xmlns:r="http://schemas.openxmlformats.org/officeDocument/2006/relationships" id="2147483653" r:id="R0086c9bf8b8c4919"/>
    <p:sldLayoutId xmlns:r="http://schemas.openxmlformats.org/officeDocument/2006/relationships" id="2147483654" r:id="Rf25f1e47375e4a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66d2fa4194737" /><Relationship Type="http://schemas.openxmlformats.org/officeDocument/2006/relationships/image" Target="/ppt/media/image.png" Id="Rd85699cbc1a24504" /><Relationship Type="http://schemas.openxmlformats.org/officeDocument/2006/relationships/image" Target="/ppt/media/image2.png" Id="R0e576746312f4772" /><Relationship Type="http://schemas.openxmlformats.org/officeDocument/2006/relationships/image" Target="/ppt/media/image3.png" Id="Rd74bf0c4820d4ec3" /><Relationship Type="http://schemas.openxmlformats.org/officeDocument/2006/relationships/image" Target="/ppt/media/image4.png" Id="R5eab524955234b27" /><Relationship Type="http://schemas.openxmlformats.org/officeDocument/2006/relationships/image" Target="/ppt/media/image5.png" Id="Rb46f4677b8154255" /><Relationship Type="http://schemas.openxmlformats.org/officeDocument/2006/relationships/image" Target="/ppt/media/image6.png" Id="R75c4110b7c904353" /><Relationship Type="http://schemas.openxmlformats.org/officeDocument/2006/relationships/image" Target="/ppt/media/image7.png" Id="Rbc487eadccdb421e" /><Relationship Type="http://schemas.openxmlformats.org/officeDocument/2006/relationships/image" Target="/ppt/media/image8.png" Id="R0695a6f3c47c4dfc" /><Relationship Type="http://schemas.openxmlformats.org/officeDocument/2006/relationships/image" Target="/ppt/media/image9.png" Id="R795e3c2e208d4614" /><Relationship Type="http://schemas.openxmlformats.org/officeDocument/2006/relationships/image" Target="/ppt/media/image10.png" Id="R63dc7263bfef4097" /><Relationship Type="http://schemas.openxmlformats.org/officeDocument/2006/relationships/image" Target="/ppt/media/image11.png" Id="R162b16f89ca644c8" /><Relationship Type="http://schemas.openxmlformats.org/officeDocument/2006/relationships/image" Target="/ppt/media/image12.png" Id="R20e036f234f447c7" /><Relationship Type="http://schemas.openxmlformats.org/officeDocument/2006/relationships/image" Target="/ppt/media/image13.png" Id="Ra0f83e6167a14cd2" /><Relationship Type="http://schemas.openxmlformats.org/officeDocument/2006/relationships/image" Target="/ppt/media/image14.png" Id="Rce73ccbe6a074554" /><Relationship Type="http://schemas.openxmlformats.org/officeDocument/2006/relationships/image" Target="/ppt/media/image15.png" Id="Rd75194586f134104" /><Relationship Type="http://schemas.openxmlformats.org/officeDocument/2006/relationships/image" Target="/ppt/media/image16.png" Id="Rb4ae54dc3b2c436c" /><Relationship Type="http://schemas.openxmlformats.org/officeDocument/2006/relationships/image" Target="/ppt/media/image17.png" Id="Rf96c8684b1d14fd2" /><Relationship Type="http://schemas.openxmlformats.org/officeDocument/2006/relationships/image" Target="/ppt/media/image18.png" Id="Rc8c1e142d540429b" /><Relationship Type="http://schemas.openxmlformats.org/officeDocument/2006/relationships/image" Target="/ppt/media/image19.png" Id="R0674dd662f2a4ea4" /><Relationship Type="http://schemas.openxmlformats.org/officeDocument/2006/relationships/image" Target="/ppt/media/image20.png" Id="R49ff3d694c4e4f6f" /><Relationship Type="http://schemas.openxmlformats.org/officeDocument/2006/relationships/image" Target="/ppt/media/image21.png" Id="R40e52ca9ffe244b8" /><Relationship Type="http://schemas.openxmlformats.org/officeDocument/2006/relationships/image" Target="/ppt/media/image22.png" Id="Re2ff8ce0c2cd4e38" /><Relationship Type="http://schemas.openxmlformats.org/officeDocument/2006/relationships/image" Target="/ppt/media/image23.png" Id="Rfa7dd8858e15473e" /><Relationship Type="http://schemas.openxmlformats.org/officeDocument/2006/relationships/image" Target="/ppt/media/image24.png" Id="R13dc36dfdb764fc1" /><Relationship Type="http://schemas.openxmlformats.org/officeDocument/2006/relationships/image" Target="/ppt/media/image25.png" Id="R71ef914955c240f2" /><Relationship Type="http://schemas.openxmlformats.org/officeDocument/2006/relationships/image" Target="/ppt/media/image26.png" Id="Rd7efcbd31be24749" /><Relationship Type="http://schemas.openxmlformats.org/officeDocument/2006/relationships/image" Target="/ppt/media/image27.png" Id="Rb6841566a9304acb" /><Relationship Type="http://schemas.openxmlformats.org/officeDocument/2006/relationships/image" Target="/ppt/media/image28.png" Id="R2d1b95dd978e4fa9" /><Relationship Type="http://schemas.openxmlformats.org/officeDocument/2006/relationships/image" Target="/ppt/media/image29.png" Id="R284e0fa9f38249fa" /><Relationship Type="http://schemas.openxmlformats.org/officeDocument/2006/relationships/notesSlide" Target="/ppt/notesSlides/notesSlide1.xml" Id="R82d082a48ebd4e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emantic encoder boundary">
            <a:extLst xmlns:a="http://schemas.openxmlformats.org/drawingml/2006/main">
              <a:ext uri="{FF2B5EF4-FFF2-40B4-BE49-F238E27FC236}">
                <a16:creationId xmlns:a16="http://schemas.microsoft.com/office/drawing/2014/main" id="{A039BEA5-F381-45C0-8CC7-BAAD1583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9100"/>
            <a:ext cx="401002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3143"/>
            </a:solidFill>
            <a:prstDash val="solid"/>
          </a:ln>
        </p:spPr>
      </p:sp>
      <p:sp>
        <p:nvSpPr>
          <p:cNvPr id="2" name="Semantic decoder boundary">
            <a:extLst xmlns:a="http://schemas.openxmlformats.org/drawingml/2006/main">
              <a:ext uri="{FF2B5EF4-FFF2-40B4-BE49-F238E27FC236}">
                <a16:creationId xmlns:a16="http://schemas.microsoft.com/office/drawing/2014/main" id="{3EC3931C-23E9-435F-8B62-CD0B8A83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9575"/>
            <a:ext cx="401002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3143"/>
            </a:solidFill>
            <a:prstDash val="solid"/>
          </a:ln>
        </p:spPr>
      </p:sp>
      <p:sp>
        <p:nvSpPr>
          <p:cNvPr id="3" name="Source environment input">
            <a:extLst xmlns:a="http://schemas.openxmlformats.org/drawingml/2006/main">
              <a:ext uri="{FF2B5EF4-FFF2-40B4-BE49-F238E27FC236}">
                <a16:creationId xmlns:a16="http://schemas.microsoft.com/office/drawing/2014/main" id="{7F1A4053-5D91-4E86-90B3-AE1D59F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563100"/>
          </a:xfrm>
          <a:custGeom xmlns:a="http://schemas.openxmlformats.org/drawingml/2006/main">
            <a:pathLst>
              <a:path w="17145000" h="9563100">
                <a:moveTo>
                  <a:pt x="1047750" y="2238375"/>
                </a:moveTo>
                <a:cubicBezTo>
                  <a:pt x="1619250" y="3143250"/>
                  <a:pt x="7286625" y="2781300"/>
                  <a:pt x="8239125" y="3314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FCFCF"/>
            </a:solidFill>
            <a:prstDash val="dash"/>
          </a:ln>
        </p:spPr>
      </p:sp>
      <p:sp>
        <p:nvSpPr>
          <p:cNvPr id="4" name="source environment input arrow">
            <a:extLst xmlns:a="http://schemas.openxmlformats.org/drawingml/2006/main">
              <a:ext uri="{FF2B5EF4-FFF2-40B4-BE49-F238E27FC236}">
                <a16:creationId xmlns:a16="http://schemas.microsoft.com/office/drawing/2014/main" id="{3FD91495-44FE-4BAE-88EF-898B265F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0000">
            <a:off x="8177213" y="3252788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61913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eiver environment input">
            <a:extLst xmlns:a="http://schemas.openxmlformats.org/drawingml/2006/main">
              <a:ext uri="{FF2B5EF4-FFF2-40B4-BE49-F238E27FC236}">
                <a16:creationId xmlns:a16="http://schemas.microsoft.com/office/drawing/2014/main" id="{08198649-BFA2-447B-8600-CAAF1D8A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563100"/>
          </a:xfrm>
          <a:custGeom xmlns:a="http://schemas.openxmlformats.org/drawingml/2006/main">
            <a:pathLst>
              <a:path w="17145000" h="9563100">
                <a:moveTo>
                  <a:pt x="16040100" y="2628900"/>
                </a:moveTo>
                <a:cubicBezTo>
                  <a:pt x="15430500" y="3143250"/>
                  <a:pt x="9144000" y="2847975"/>
                  <a:pt x="8248650" y="3324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FCFCF"/>
            </a:solidFill>
            <a:prstDash val="dash"/>
          </a:ln>
        </p:spPr>
      </p:sp>
      <p:sp>
        <p:nvSpPr>
          <p:cNvPr id="6" name="receiver environment input arrow">
            <a:extLst xmlns:a="http://schemas.openxmlformats.org/drawingml/2006/main">
              <a:ext uri="{FF2B5EF4-FFF2-40B4-BE49-F238E27FC236}">
                <a16:creationId xmlns:a16="http://schemas.microsoft.com/office/drawing/2014/main" id="{B8EBD4E5-6BAD-4070-863D-243BE9B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500000">
            <a:off x="8186738" y="3262313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61913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urce-content environment input">
            <a:extLst xmlns:a="http://schemas.openxmlformats.org/drawingml/2006/main">
              <a:ext uri="{FF2B5EF4-FFF2-40B4-BE49-F238E27FC236}">
                <a16:creationId xmlns:a16="http://schemas.microsoft.com/office/drawing/2014/main" id="{60D7ADB3-B2B1-46E8-B4D6-C24B218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563100"/>
          </a:xfrm>
          <a:custGeom xmlns:a="http://schemas.openxmlformats.org/drawingml/2006/main">
            <a:pathLst>
              <a:path w="17145000" h="9563100">
                <a:moveTo>
                  <a:pt x="1047750" y="2714625"/>
                </a:moveTo>
                <a:cubicBezTo>
                  <a:pt x="2219325" y="3248025"/>
                  <a:pt x="7200900" y="2952750"/>
                  <a:pt x="8248650" y="3324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FCFCF"/>
            </a:solidFill>
            <a:prstDash val="dash"/>
          </a:ln>
        </p:spPr>
      </p:sp>
      <p:sp>
        <p:nvSpPr>
          <p:cNvPr id="8" name="Received-semantic environment input">
            <a:extLst xmlns:a="http://schemas.openxmlformats.org/drawingml/2006/main">
              <a:ext uri="{FF2B5EF4-FFF2-40B4-BE49-F238E27FC236}">
                <a16:creationId xmlns:a16="http://schemas.microsoft.com/office/drawing/2014/main" id="{B4EDC877-A0F2-4361-AA65-5EF399D3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563100"/>
          </a:xfrm>
          <a:custGeom xmlns:a="http://schemas.openxmlformats.org/drawingml/2006/main">
            <a:pathLst>
              <a:path w="17145000" h="9563100">
                <a:moveTo>
                  <a:pt x="10648950" y="2181225"/>
                </a:moveTo>
                <a:cubicBezTo>
                  <a:pt x="10715625" y="2914650"/>
                  <a:pt x="8743950" y="2552700"/>
                  <a:pt x="8248650" y="3324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FCFCF"/>
            </a:solidFill>
            <a:prstDash val="dash"/>
          </a:ln>
        </p:spPr>
      </p:sp>
      <p:sp>
        <p:nvSpPr>
          <p:cNvPr id="9" name="Knowledge to encoder">
            <a:extLst xmlns:a="http://schemas.openxmlformats.org/drawingml/2006/main">
              <a:ext uri="{FF2B5EF4-FFF2-40B4-BE49-F238E27FC236}">
                <a16:creationId xmlns:a16="http://schemas.microsoft.com/office/drawing/2014/main" id="{901AF7F1-41F0-4E54-A56B-B564DB47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563100"/>
          </a:xfrm>
          <a:custGeom xmlns:a="http://schemas.openxmlformats.org/drawingml/2006/main">
            <a:pathLst>
              <a:path w="17145000" h="9563100">
                <a:moveTo>
                  <a:pt x="8248650" y="3324225"/>
                </a:moveTo>
                <a:cubicBezTo>
                  <a:pt x="7620000" y="2714625"/>
                  <a:pt x="4953000" y="3048000"/>
                  <a:pt x="3990975" y="24860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BEA0"/>
            </a:solidFill>
            <a:prstDash val="dash"/>
          </a:ln>
        </p:spPr>
      </p:sp>
      <p:sp>
        <p:nvSpPr>
          <p:cNvPr id="10" name="Knowledge to encoder tip">
            <a:extLst xmlns:a="http://schemas.openxmlformats.org/drawingml/2006/main">
              <a:ext uri="{FF2B5EF4-FFF2-40B4-BE49-F238E27FC236}">
                <a16:creationId xmlns:a16="http://schemas.microsoft.com/office/drawing/2014/main" id="{69700FBE-1FCA-408C-8C15-61379863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700000">
            <a:off x="3910013" y="2405063"/>
            <a:ext cx="161925" cy="161925"/>
          </a:xfrm>
          <a:custGeom xmlns:a="http://schemas.openxmlformats.org/drawingml/2006/main">
            <a:pathLst>
              <a:path w="161925" h="161925">
                <a:moveTo>
                  <a:pt x="0" y="0"/>
                </a:moveTo>
                <a:lnTo>
                  <a:pt x="161925" y="80963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00B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Knowledge to decoder">
            <a:extLst xmlns:a="http://schemas.openxmlformats.org/drawingml/2006/main">
              <a:ext uri="{FF2B5EF4-FFF2-40B4-BE49-F238E27FC236}">
                <a16:creationId xmlns:a16="http://schemas.microsoft.com/office/drawing/2014/main" id="{7F6C64B9-378B-4B14-8B20-0C596F59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563100"/>
          </a:xfrm>
          <a:custGeom xmlns:a="http://schemas.openxmlformats.org/drawingml/2006/main">
            <a:pathLst>
              <a:path w="17145000" h="9563100">
                <a:moveTo>
                  <a:pt x="8248650" y="3324225"/>
                </a:moveTo>
                <a:cubicBezTo>
                  <a:pt x="9029700" y="2819400"/>
                  <a:pt x="11372850" y="3133725"/>
                  <a:pt x="12315825" y="24955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BEA0"/>
            </a:solidFill>
            <a:prstDash val="dash"/>
          </a:ln>
        </p:spPr>
      </p:sp>
      <p:sp>
        <p:nvSpPr>
          <p:cNvPr id="12" name="Knowledge to decoder tip">
            <a:extLst xmlns:a="http://schemas.openxmlformats.org/drawingml/2006/main">
              <a:ext uri="{FF2B5EF4-FFF2-40B4-BE49-F238E27FC236}">
                <a16:creationId xmlns:a16="http://schemas.microsoft.com/office/drawing/2014/main" id="{F02EF6B4-3F5E-4F3E-8805-81465A64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60000">
            <a:off x="12234863" y="2414588"/>
            <a:ext cx="161925" cy="161925"/>
          </a:xfrm>
          <a:custGeom xmlns:a="http://schemas.openxmlformats.org/drawingml/2006/main">
            <a:pathLst>
              <a:path w="161925" h="161925">
                <a:moveTo>
                  <a:pt x="0" y="0"/>
                </a:moveTo>
                <a:lnTo>
                  <a:pt x="161925" y="80963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00BEA0"/>
          </a:solidFill>
          <a:ln xmlns:a="http://schemas.openxmlformats.org/drawingml/2006/main" w="0">
            <a:noFill/>
            <a:prstDash val="solid"/>
          </a:ln>
        </p:spPr>
      </p:sp>
      <p:grpSp>
        <p:nvGrpSpPr>
          <p:cNvPr id="125" name="Encoder heading"/>
          <p:cNvGrpSpPr/>
          <p:nvPr/>
        </p:nvGrpSpPr>
        <p:grpSpPr>
          <ns1:xfrm xmlns:ns1="http://schemas.openxmlformats.org/drawingml/2006/main">
            <ns1:off x="3257550" y="28575"/>
            <ns1:ext cx="2943225" cy="762000"/>
            <ns1:chOff x="3257550" y="28575"/>
            <ns1:chExt cx="2943225" cy="762000"/>
          </ns1:xfrm>
        </p:grpSpPr>
        <p:sp>
          <p:nvSpPr>
            <p:cNvPr id="13" name="Encoder title background">
              <a:extLst xmlns:a="http://schemas.openxmlformats.org/drawingml/2006/main">
                <a:ext uri="{FF2B5EF4-FFF2-40B4-BE49-F238E27FC236}">
                  <a16:creationId xmlns:a16="http://schemas.microsoft.com/office/drawing/2014/main" id="{29E0F26C-E1CD-4011-A967-70B17AC33E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57550" y="28575"/>
              <a:ext cx="2943225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AE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5" name="Encoder title">
              <a:extLst xmlns:a="http://schemas.openxmlformats.org/drawingml/2006/main">
                <a:ext uri="{FF2B5EF4-FFF2-40B4-BE49-F238E27FC236}">
                  <a16:creationId xmlns:a16="http://schemas.microsoft.com/office/drawing/2014/main" id="{34734B6F-672B-4691-A661-854D1AC1BC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85725"/>
              <a:ext cx="2790825" cy="628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Knowledge-aware</a:t>
              </a:r>
            </a:p>
            <a:p xmlns:a="http://schemas.openxmlformats.org/drawingml/2006/main">
              <a: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Semantic Encoder</a:t>
              </a:r>
            </a:p>
          </p:txBody>
        </p:sp>
      </p:grpSp>
      <p:grpSp>
        <p:nvGrpSpPr>
          <p:cNvPr id="126" name="Decoder heading"/>
          <p:cNvGrpSpPr/>
          <p:nvPr/>
        </p:nvGrpSpPr>
        <p:grpSpPr>
          <ns1:xfrm xmlns:ns1="http://schemas.openxmlformats.org/drawingml/2006/main">
            <ns1:off x="10287000" y="19050"/>
            <ns1:ext cx="2943225" cy="762000"/>
            <ns1:chOff x="10287000" y="19050"/>
            <ns1:chExt cx="2943225" cy="762000"/>
          </ns1:xfrm>
        </p:grpSpPr>
        <p:sp>
          <p:nvSpPr>
            <p:cNvPr id="14" name="Decoder title background">
              <a:extLst xmlns:a="http://schemas.openxmlformats.org/drawingml/2006/main">
                <a:ext uri="{FF2B5EF4-FFF2-40B4-BE49-F238E27FC236}">
                  <a16:creationId xmlns:a16="http://schemas.microsoft.com/office/drawing/2014/main" id="{A1C2784E-9C38-4497-90E0-F5287B002D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19050"/>
              <a:ext cx="2943225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AE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6" name="Decoder title">
              <a:extLst xmlns:a="http://schemas.openxmlformats.org/drawingml/2006/main">
                <a:ext uri="{FF2B5EF4-FFF2-40B4-BE49-F238E27FC236}">
                  <a16:creationId xmlns:a16="http://schemas.microsoft.com/office/drawing/2014/main" id="{32EAE519-559A-4B6B-8CC1-E07A8DD1FC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63200" y="76200"/>
              <a:ext cx="2790825" cy="628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Knowledge-aware</a:t>
              </a:r>
            </a:p>
            <a:p xmlns:a="http://schemas.openxmlformats.org/drawingml/2006/main">
              <a:pPr algn="ctr">
                <a:buNone/>
                <a:def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Semantic Decoder</a:t>
              </a:r>
            </a:p>
          </p:txBody>
        </p:sp>
      </p:grpSp>
      <p:grpSp>
        <p:nvGrpSpPr>
          <p:cNvPr id="123" name="Encoder model"/>
          <p:cNvGrpSpPr/>
          <p:nvPr/>
        </p:nvGrpSpPr>
        <p:grpSpPr>
          <ns1:xfrm xmlns:ns1="http://schemas.openxmlformats.org/drawingml/2006/main">
            <ns1:off x="3124200" y="981075"/>
            <ns1:ext cx="1600200" cy="1647825"/>
            <ns1:chOff x="3124200" y="981075"/>
            <ns1:chExt cx="1600200" cy="1647825"/>
          </ns1:xfrm>
        </p:grpSpPr>
        <p:sp>
          <p:nvSpPr>
            <p:cNvPr id="17" name="Encoder GenAI model">
              <a:extLst xmlns:a="http://schemas.openxmlformats.org/drawingml/2006/main">
                <a:ext uri="{FF2B5EF4-FFF2-40B4-BE49-F238E27FC236}">
                  <a16:creationId xmlns:a16="http://schemas.microsoft.com/office/drawing/2014/main" id="{5AD5C340-86D6-466D-AA64-F3BAF9937B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24200" y="981075"/>
              <a:ext cx="1600200" cy="1647825"/>
            </a:xfrm>
            <a:custGeom xmlns:a="http://schemas.openxmlformats.org/drawingml/2006/main">
              <a:pathLst>
                <a:path w="1600200" h="1647825">
                  <a:moveTo>
                    <a:pt x="0" y="0"/>
                  </a:moveTo>
                  <a:lnTo>
                    <a:pt x="1600200" y="409575"/>
                  </a:lnTo>
                  <a:lnTo>
                    <a:pt x="1600200" y="1247775"/>
                  </a:lnTo>
                  <a:lnTo>
                    <a:pt x="0" y="1647825"/>
                  </a:lnTo>
                  <a:close/>
                </a:path>
              </a:pathLst>
            </a:custGeom>
            <a:solidFill xmlns:a="http://schemas.openxmlformats.org/drawingml/2006/main">
              <a:srgbClr val="F3A0D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9" name="Encoder model label">
              <a:extLst xmlns:a="http://schemas.openxmlformats.org/drawingml/2006/main">
                <a:ext uri="{FF2B5EF4-FFF2-40B4-BE49-F238E27FC236}">
                  <a16:creationId xmlns:a16="http://schemas.microsoft.com/office/drawing/2014/main" id="{DA957563-67D9-4A41-ABE4-95C3574C96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0" y="1466850"/>
              <a:ext cx="1362075" cy="695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GenAI</a:t>
              </a:r>
            </a:p>
            <a:p xmlns:a="http://schemas.openxmlformats.org/drawingml/2006/main">
              <a: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models</a:t>
              </a:r>
            </a:p>
          </p:txBody>
        </p:sp>
      </p:grpSp>
      <p:grpSp>
        <p:nvGrpSpPr>
          <p:cNvPr id="124" name="Decoder model"/>
          <p:cNvGrpSpPr/>
          <p:nvPr/>
        </p:nvGrpSpPr>
        <p:grpSpPr>
          <ns1:xfrm xmlns:ns1="http://schemas.openxmlformats.org/drawingml/2006/main">
            <ns1:off x="11620500" y="981075"/>
            <ns1:ext cx="1600200" cy="1647825"/>
            <ns1:chOff x="11620500" y="981075"/>
            <ns1:chExt cx="1600200" cy="1647825"/>
          </ns1:xfrm>
        </p:grpSpPr>
        <p:sp>
          <p:nvSpPr>
            <p:cNvPr id="18" name="Decoder GenAI model">
              <a:extLst xmlns:a="http://schemas.openxmlformats.org/drawingml/2006/main">
                <a:ext uri="{FF2B5EF4-FFF2-40B4-BE49-F238E27FC236}">
                  <a16:creationId xmlns:a16="http://schemas.microsoft.com/office/drawing/2014/main" id="{1835FCB7-85A3-4EEB-B9CC-A93916F1EC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981075"/>
              <a:ext cx="1600200" cy="1647825"/>
            </a:xfrm>
            <a:custGeom xmlns:a="http://schemas.openxmlformats.org/drawingml/2006/main">
              <a:pathLst>
                <a:path w="1600200" h="1647825">
                  <a:moveTo>
                    <a:pt x="0" y="409575"/>
                  </a:moveTo>
                  <a:lnTo>
                    <a:pt x="1600200" y="0"/>
                  </a:lnTo>
                  <a:lnTo>
                    <a:pt x="1600200" y="1647825"/>
                  </a:lnTo>
                  <a:lnTo>
                    <a:pt x="0" y="1247775"/>
                  </a:lnTo>
                  <a:close/>
                </a:path>
              </a:pathLst>
            </a:custGeom>
            <a:solidFill xmlns:a="http://schemas.openxmlformats.org/drawingml/2006/main">
              <a:srgbClr val="F3A0D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0" name="Decoder model label">
              <a:extLst xmlns:a="http://schemas.openxmlformats.org/drawingml/2006/main">
                <a:ext uri="{FF2B5EF4-FFF2-40B4-BE49-F238E27FC236}">
                  <a16:creationId xmlns:a16="http://schemas.microsoft.com/office/drawing/2014/main" id="{9EB95005-9C2F-4A24-8F97-2318BCEFE5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34800" y="1466850"/>
              <a:ext cx="1362075" cy="695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GenAI</a:t>
              </a:r>
            </a:p>
            <a:p xmlns:a="http://schemas.openxmlformats.org/drawingml/2006/main">
              <a:pPr algn="ctr">
                <a:buNone/>
                <a:def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models</a:t>
              </a:r>
            </a:p>
          </p:txBody>
        </p:sp>
      </p:grp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3F2ED-BBBF-454E-96F5-D16C8F2BFE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699cbc1a24504"/>
          <a:stretch xmlns:a="http://schemas.openxmlformats.org/drawingml/2006/main"/>
        </p:blipFill>
        <p:spPr>
          <a:xfrm xmlns:a="http://schemas.openxmlformats.org/drawingml/2006/main">
            <a:off x="759959" y="847725"/>
            <a:ext cx="470807" cy="762000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095CB-DC70-46CF-AC79-73EEF95BD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76746312f4772"/>
          <a:stretch xmlns:a="http://schemas.openxmlformats.org/drawingml/2006/main"/>
        </p:blipFill>
        <p:spPr>
          <a:xfrm xmlns:a="http://schemas.openxmlformats.org/drawingml/2006/main">
            <a:off x="759959" y="2009775"/>
            <a:ext cx="470807" cy="76200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7E385-6BCD-43BE-A6AB-27EC9C94D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bf0c4820d4ec3"/>
          <a:stretch xmlns:a="http://schemas.openxmlformats.org/drawingml/2006/main"/>
        </p:blipFill>
        <p:spPr>
          <a:xfrm xmlns:a="http://schemas.openxmlformats.org/drawingml/2006/main">
            <a:off x="15828509" y="847725"/>
            <a:ext cx="470807" cy="762000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D6976-CEC8-4751-A458-A0AAD9A93B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b524955234b27"/>
          <a:stretch xmlns:a="http://schemas.openxmlformats.org/drawingml/2006/main"/>
        </p:blipFill>
        <p:spPr>
          <a:xfrm xmlns:a="http://schemas.openxmlformats.org/drawingml/2006/main">
            <a:off x="15828509" y="2009775"/>
            <a:ext cx="470807" cy="762000"/>
          </a:xfrm>
          <a:prstGeom xmlns:a="http://schemas.openxmlformats.org/drawingml/2006/main" prst="rect">
            <a:avLst/>
          </a:prstGeom>
        </p:spPr>
      </p:pic>
      <p:cxnSp>
        <p:nvCxnSpPr>
          <p:cNvPr id="25" name="Source to encoder">
            <a:extLst xmlns:a="http://schemas.openxmlformats.org/drawingml/2006/main">
              <a:ext uri="{FF2B5EF4-FFF2-40B4-BE49-F238E27FC236}">
                <a16:creationId xmlns:a16="http://schemas.microsoft.com/office/drawing/2014/main" id="{8CFF3BE6-84B5-4ED3-AB3D-2680A7A714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00275" y="1809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6C8C"/>
            </a:solidFill>
            <a:prstDash val="solid"/>
            <a:tailEnd type="triangle" w="med" len="med"/>
          </a:ln>
        </p:spPr>
      </p:cxnSp>
      <p:sp>
        <p:nvSpPr>
          <p:cNvPr id="26" name="Source content">
            <a:extLst xmlns:a="http://schemas.openxmlformats.org/drawingml/2006/main">
              <a:ext uri="{FF2B5EF4-FFF2-40B4-BE49-F238E27FC236}">
                <a16:creationId xmlns:a16="http://schemas.microsoft.com/office/drawing/2014/main" id="{1F0F7D02-40C7-4CA9-B3E1-BAAD9ED1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54305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cxnSp>
        <p:nvCxnSpPr>
          <p:cNvPr id="27" name="Encoder to semantic information">
            <a:extLst xmlns:a="http://schemas.openxmlformats.org/drawingml/2006/main">
              <a:ext uri="{FF2B5EF4-FFF2-40B4-BE49-F238E27FC236}">
                <a16:creationId xmlns:a16="http://schemas.microsoft.com/office/drawing/2014/main" id="{89E1D3DD-DAA8-4E19-855C-D44A2DFAB3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33925" y="18097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6C8C"/>
            </a:solidFill>
            <a:prstDash val="solid"/>
            <a:tailEnd type="triangle" w="med" len="med"/>
          </a:ln>
        </p:spPr>
      </p:cxnSp>
      <p:sp>
        <p:nvSpPr>
          <p:cNvPr id="28" name="Semantic information">
            <a:extLst xmlns:a="http://schemas.openxmlformats.org/drawingml/2006/main">
              <a:ext uri="{FF2B5EF4-FFF2-40B4-BE49-F238E27FC236}">
                <a16:creationId xmlns:a16="http://schemas.microsoft.com/office/drawing/2014/main" id="{B08C6D5E-B45B-4700-8EA1-4D94DA8E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33525"/>
            <a:ext cx="138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cxnSp>
        <p:nvCxnSpPr>
          <p:cNvPr id="29" name="Semantic information to channel">
            <a:extLst xmlns:a="http://schemas.openxmlformats.org/drawingml/2006/main">
              <a:ext uri="{FF2B5EF4-FFF2-40B4-BE49-F238E27FC236}">
                <a16:creationId xmlns:a16="http://schemas.microsoft.com/office/drawing/2014/main" id="{83367A14-18C9-4749-B10E-C6DBCDDBAB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19875" y="18573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6C8C"/>
            </a:solidFill>
            <a:prstDash val="solid"/>
            <a:tailEnd type="triangle" w="med" len="med"/>
          </a:ln>
        </p:spPr>
      </p:cxn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22111-7266-4624-9285-858DECAB25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f4677b8154255"/>
          <a:stretch xmlns:a="http://schemas.openxmlformats.org/drawingml/2006/main"/>
        </p:blipFill>
        <p:spPr>
          <a:xfrm xmlns:a="http://schemas.openxmlformats.org/drawingml/2006/main">
            <a:off x="7449911" y="1085850"/>
            <a:ext cx="1464129" cy="1524000"/>
          </a:xfrm>
          <a:prstGeom xmlns:a="http://schemas.openxmlformats.org/drawingml/2006/main" prst="rect">
            <a:avLst/>
          </a:prstGeom>
        </p:spPr>
      </p:pic>
      <p:sp>
        <p:nvSpPr>
          <p:cNvPr id="31" name="Wireless channel label">
            <a:extLst xmlns:a="http://schemas.openxmlformats.org/drawingml/2006/main">
              <a:ext uri="{FF2B5EF4-FFF2-40B4-BE49-F238E27FC236}">
                <a16:creationId xmlns:a16="http://schemas.microsoft.com/office/drawing/2014/main" id="{493B2151-39EC-42A5-9E91-83C6C354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810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Wireless Channel</a:t>
            </a:r>
          </a:p>
        </p:txBody>
      </p:sp>
      <p:cxnSp>
        <p:nvCxnSpPr>
          <p:cNvPr id="32" name="Channel to received semantics">
            <a:extLst xmlns:a="http://schemas.openxmlformats.org/drawingml/2006/main">
              <a:ext uri="{FF2B5EF4-FFF2-40B4-BE49-F238E27FC236}">
                <a16:creationId xmlns:a16="http://schemas.microsoft.com/office/drawing/2014/main" id="{392B9D1E-5804-471C-807B-0FC123AD3A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53500" y="1857375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6C8C"/>
            </a:solidFill>
            <a:prstDash val="solid"/>
            <a:tailEnd type="triangle" w="med" len="med"/>
          </a:ln>
        </p:spPr>
      </p:cxnSp>
      <p:sp>
        <p:nvSpPr>
          <p:cNvPr id="33" name="Received semantic information">
            <a:extLst xmlns:a="http://schemas.openxmlformats.org/drawingml/2006/main">
              <a:ext uri="{FF2B5EF4-FFF2-40B4-BE49-F238E27FC236}">
                <a16:creationId xmlns:a16="http://schemas.microsoft.com/office/drawing/2014/main" id="{4338531B-16CB-4333-9335-7E6A8B07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276350"/>
            <a:ext cx="138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Received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cxnSp>
        <p:nvCxnSpPr>
          <p:cNvPr id="34" name="Received semantics to decoder">
            <a:extLst xmlns:a="http://schemas.openxmlformats.org/drawingml/2006/main">
              <a:ext uri="{FF2B5EF4-FFF2-40B4-BE49-F238E27FC236}">
                <a16:creationId xmlns:a16="http://schemas.microsoft.com/office/drawing/2014/main" id="{E1CDF194-51C3-4A89-962A-CCDBC4FE0A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6650" y="18097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6C8C"/>
            </a:solidFill>
            <a:prstDash val="solid"/>
            <a:tailEnd type="triangle" w="med" len="med"/>
          </a:ln>
        </p:spPr>
      </p:cxnSp>
      <p:cxnSp>
        <p:nvCxnSpPr>
          <p:cNvPr id="35" name="Decoder to reconstructed content">
            <a:extLst xmlns:a="http://schemas.openxmlformats.org/drawingml/2006/main">
              <a:ext uri="{FF2B5EF4-FFF2-40B4-BE49-F238E27FC236}">
                <a16:creationId xmlns:a16="http://schemas.microsoft.com/office/drawing/2014/main" id="{73287C0C-6DAF-490D-B1E9-3EDC191B46E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239750" y="1809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6C8C"/>
            </a:solidFill>
            <a:prstDash val="solid"/>
            <a:tailEnd type="triangle" w="med" len="med"/>
          </a:ln>
        </p:spPr>
      </p:cxnSp>
      <p:sp>
        <p:nvSpPr>
          <p:cNvPr id="36" name="Reconstructed content">
            <a:extLst xmlns:a="http://schemas.openxmlformats.org/drawingml/2006/main">
              <a:ext uri="{FF2B5EF4-FFF2-40B4-BE49-F238E27FC236}">
                <a16:creationId xmlns:a16="http://schemas.microsoft.com/office/drawing/2014/main" id="{2A055B81-3ACD-4FAD-B57B-E619A823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1538288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Reconstructed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37" name="Encoder environment label">
            <a:extLst xmlns:a="http://schemas.openxmlformats.org/drawingml/2006/main">
              <a:ext uri="{FF2B5EF4-FFF2-40B4-BE49-F238E27FC236}">
                <a16:creationId xmlns:a16="http://schemas.microsoft.com/office/drawing/2014/main" id="{55CF9AB8-0190-4B1F-BB64-B7BC5B9E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33725"/>
            <a:ext cx="3343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  Information</a:t>
            </a:r>
          </a:p>
        </p:txBody>
      </p:sp>
      <p:sp>
        <p:nvSpPr>
          <p:cNvPr id="38" name="Decoder environment label">
            <a:extLst xmlns:a="http://schemas.openxmlformats.org/drawingml/2006/main">
              <a:ext uri="{FF2B5EF4-FFF2-40B4-BE49-F238E27FC236}">
                <a16:creationId xmlns:a16="http://schemas.microsoft.com/office/drawing/2014/main" id="{054CBDAF-F667-4AA3-B804-136730E1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133725"/>
            <a:ext cx="3343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  Information</a:t>
            </a:r>
          </a:p>
        </p:txBody>
      </p:sp>
      <p:cxnSp>
        <p:nvCxnSpPr>
          <p:cNvPr id="39" name="Top layer divider">
            <a:extLst xmlns:a="http://schemas.openxmlformats.org/drawingml/2006/main">
              <a:ext uri="{FF2B5EF4-FFF2-40B4-BE49-F238E27FC236}">
                <a16:creationId xmlns:a16="http://schemas.microsoft.com/office/drawing/2014/main" id="{C15AE69F-88F5-47B8-8C20-D1D5FE131CF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6225" y="3600450"/>
            <a:ext cx="16611600" cy="0"/>
          </a:xfrm>
          <a:prstGeom xmlns:a="http://schemas.openxmlformats.org/drawingml/2006/main" prst="straightConnector1">
            <a:avLst/>
          </a:prstGeom>
          <a:ln xmlns:a="http://schemas.openxmlformats.org/drawingml/2006/main" w="32385">
            <a:solidFill>
              <a:srgbClr val="111111"/>
            </a:solidFill>
            <a:prstDash val="dash"/>
            <a:tailEnd type="none" w="med" len="med"/>
          </a:ln>
        </p:spPr>
      </p:cxnSp>
      <p:grpSp>
        <p:nvGrpSpPr>
          <p:cNvPr id="127" name="Retriever heading"/>
          <p:cNvGrpSpPr/>
          <p:nvPr/>
        </p:nvGrpSpPr>
        <p:grpSpPr>
          <ns1:xfrm xmlns:ns1="http://schemas.openxmlformats.org/drawingml/2006/main">
            <ns1:off x="6667500" y="3333750"/>
            <ns1:ext cx="3228975" cy="581025"/>
            <ns1:chOff x="6667500" y="3333750"/>
            <ns1:chExt cx="3228975" cy="581025"/>
          </ns1:xfrm>
        </p:grpSpPr>
        <p:sp>
          <p:nvSpPr>
            <p:cNvPr id="40" name="Intelligent retriever title background">
              <a:extLst xmlns:a="http://schemas.openxmlformats.org/drawingml/2006/main">
                <a:ext uri="{FF2B5EF4-FFF2-40B4-BE49-F238E27FC236}">
                  <a16:creationId xmlns:a16="http://schemas.microsoft.com/office/drawing/2014/main" id="{B0A9B16D-EB4D-445F-89A9-5391CC3168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0" y="3333750"/>
              <a:ext cx="3228975" cy="5810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AE"/>
            </a:solidFill>
            <a:ln xmlns:a="http://schemas.openxmlformats.org/drawingml/2006/main" w="19050">
              <a:solidFill>
                <a:srgbClr val="D2CBA9"/>
              </a:solidFill>
              <a:prstDash val="solid"/>
            </a:ln>
          </p:spPr>
        </p:sp>
        <p:sp>
          <p:nvSpPr>
            <p:cNvPr id="41" name="Intelligent retriever title">
              <a:extLst xmlns:a="http://schemas.openxmlformats.org/drawingml/2006/main">
                <a:ext uri="{FF2B5EF4-FFF2-40B4-BE49-F238E27FC236}">
                  <a16:creationId xmlns:a16="http://schemas.microsoft.com/office/drawing/2014/main" id="{78AAD5C7-151C-407B-9318-5206F59C9E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43700" y="3429000"/>
              <a:ext cx="3076575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Intelligent Retriever</a:t>
              </a:r>
            </a:p>
          </p:txBody>
        </p:sp>
      </p:grpSp>
      <p:grpSp>
        <p:nvGrpSpPr>
          <p:cNvPr id="135" name="Cross-model retrieval"/>
          <p:cNvGrpSpPr/>
          <p:nvPr/>
        </p:nvGrpSpPr>
        <p:grpSpPr>
          <ns1:xfrm xmlns:ns1="http://schemas.openxmlformats.org/drawingml/2006/main">
            <ns1:off x="2638425" y="3762375"/>
            <ns1:ext cx="2895600" cy="2076450"/>
            <ns1:chOff x="2638425" y="3762375"/>
            <ns1:chExt cx="2895600" cy="2076450"/>
          </ns1:xfrm>
        </p:grpSpPr>
        <p:sp>
          <p:nvSpPr>
            <p:cNvPr id="42" name="Cross-model retrieval module">
              <a:extLst xmlns:a="http://schemas.openxmlformats.org/drawingml/2006/main">
                <a:ext uri="{FF2B5EF4-FFF2-40B4-BE49-F238E27FC236}">
                  <a16:creationId xmlns:a16="http://schemas.microsoft.com/office/drawing/2014/main" id="{F6B3B5D0-80D7-4ED9-864E-DDA9DF6F7A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38425" y="3762375"/>
              <a:ext cx="2895600" cy="2076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CE3D9"/>
            </a:solidFill>
            <a:ln xmlns:a="http://schemas.openxmlformats.org/drawingml/2006/main" w="31433">
              <a:solidFill>
                <a:srgbClr val="083143"/>
              </a:solidFill>
              <a:prstDash val="solid"/>
            </a:ln>
          </p:spPr>
        </p:sp>
        <p:sp>
          <p:nvSpPr>
            <p:cNvPr id="43" name="Cross-model retrieval title">
              <a:extLst xmlns:a="http://schemas.openxmlformats.org/drawingml/2006/main">
                <a:ext uri="{FF2B5EF4-FFF2-40B4-BE49-F238E27FC236}">
                  <a16:creationId xmlns:a16="http://schemas.microsoft.com/office/drawing/2014/main" id="{4D0B4C7C-9113-4D44-B2B7-C9C2991DB9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52725" y="3857625"/>
              <a:ext cx="26670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Cross-Model Retrieval</a:t>
              </a:r>
            </a:p>
          </p:txBody>
        </p:sp>
        <p:sp>
          <p:nvSpPr>
            <p:cNvPr id="44" name="Sparse retriever box">
              <a:extLst xmlns:a="http://schemas.openxmlformats.org/drawingml/2006/main">
                <a:ext uri="{FF2B5EF4-FFF2-40B4-BE49-F238E27FC236}">
                  <a16:creationId xmlns:a16="http://schemas.microsoft.com/office/drawing/2014/main" id="{DA466202-C596-4802-926D-CD7CBEC087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76575" y="4191000"/>
              <a:ext cx="2019300" cy="466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8575">
              <a:solidFill>
                <a:srgbClr val="083143"/>
              </a:solidFill>
              <a:prstDash val="solid"/>
            </a:ln>
          </p:spPr>
        </p:sp>
        <p:sp>
          <p:nvSpPr>
            <p:cNvPr id="45" name="Sparse retriever label">
              <a:extLst xmlns:a="http://schemas.openxmlformats.org/drawingml/2006/main">
                <a:ext uri="{FF2B5EF4-FFF2-40B4-BE49-F238E27FC236}">
                  <a16:creationId xmlns:a16="http://schemas.microsoft.com/office/drawing/2014/main" id="{297D1DF4-D4AF-4263-99C6-CBE06C79BE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05150" y="4200525"/>
              <a:ext cx="1962150" cy="4476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Sparse</a:t>
              </a:r>
            </a:p>
            <a:p xmlns:a="http://schemas.openxmlformats.org/drawingml/2006/main">
              <a:pPr algn="ctr">
                <a:buNone/>
                <a:def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Retriever</a:t>
              </a:r>
            </a:p>
          </p:txBody>
        </p:sp>
        <p:sp>
          <p:nvSpPr>
            <p:cNvPr id="46" name="Dense retriever box">
              <a:extLst xmlns:a="http://schemas.openxmlformats.org/drawingml/2006/main">
                <a:ext uri="{FF2B5EF4-FFF2-40B4-BE49-F238E27FC236}">
                  <a16:creationId xmlns:a16="http://schemas.microsoft.com/office/drawing/2014/main" id="{8687376E-D3A4-4FE3-8958-8B4534163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76575" y="5267325"/>
              <a:ext cx="2019300" cy="466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8575">
              <a:solidFill>
                <a:srgbClr val="083143"/>
              </a:solidFill>
              <a:prstDash val="solid"/>
            </a:ln>
          </p:spPr>
        </p:sp>
        <p:sp>
          <p:nvSpPr>
            <p:cNvPr id="47" name="Dense retriever label">
              <a:extLst xmlns:a="http://schemas.openxmlformats.org/drawingml/2006/main">
                <a:ext uri="{FF2B5EF4-FFF2-40B4-BE49-F238E27FC236}">
                  <a16:creationId xmlns:a16="http://schemas.microsoft.com/office/drawing/2014/main" id="{FED01004-1578-4D49-8AD3-33D599BB16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05150" y="5267325"/>
              <a:ext cx="1962150" cy="4476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168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Dense</a:t>
              </a:r>
            </a:p>
            <a:p xmlns:a="http://schemas.openxmlformats.org/drawingml/2006/main">
              <a:pPr algn="ctr">
                <a:buNone/>
                <a:def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6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Retriever</a:t>
              </a:r>
            </a:p>
          </p:txBody>
        </p:sp>
      </p:grp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1BBF77-000C-4292-A144-408B74A1F4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4110b7c904353"/>
          <a:stretch xmlns:a="http://schemas.openxmlformats.org/drawingml/2006/main"/>
        </p:blipFill>
        <p:spPr>
          <a:xfrm xmlns:a="http://schemas.openxmlformats.org/drawingml/2006/main">
            <a:off x="3819525" y="4772569"/>
            <a:ext cx="504825" cy="389436"/>
          </a:xfrm>
          <a:prstGeom xmlns:a="http://schemas.openxmlformats.org/drawingml/2006/main" prst="rect">
            <a:avLst/>
          </a:prstGeom>
        </p:spPr>
      </p:pic>
      <p:sp>
        <p:nvSpPr>
          <p:cNvPr id="49" name="Retriever source input">
            <a:extLst xmlns:a="http://schemas.openxmlformats.org/drawingml/2006/main">
              <a:ext uri="{FF2B5EF4-FFF2-40B4-BE49-F238E27FC236}">
                <a16:creationId xmlns:a16="http://schemas.microsoft.com/office/drawing/2014/main" id="{DBADABD0-B26C-48AA-83D1-816CD4DC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90975"/>
            <a:ext cx="13620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50" name="Retriever task input">
            <a:extLst xmlns:a="http://schemas.openxmlformats.org/drawingml/2006/main">
              <a:ext uri="{FF2B5EF4-FFF2-40B4-BE49-F238E27FC236}">
                <a16:creationId xmlns:a16="http://schemas.microsoft.com/office/drawing/2014/main" id="{2B58B70B-4DFE-4898-A4B9-F61F40BA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51" name="Retriever environment input">
            <a:extLst xmlns:a="http://schemas.openxmlformats.org/drawingml/2006/main">
              <a:ext uri="{FF2B5EF4-FFF2-40B4-BE49-F238E27FC236}">
                <a16:creationId xmlns:a16="http://schemas.microsoft.com/office/drawing/2014/main" id="{197CBC48-AB23-4009-AB1A-534ACB37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8" y="54864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sp>
        <p:nvSpPr>
          <p:cNvPr id="52" name="Input aggregation brace">
            <a:extLst xmlns:a="http://schemas.openxmlformats.org/drawingml/2006/main">
              <a:ext uri="{FF2B5EF4-FFF2-40B4-BE49-F238E27FC236}">
                <a16:creationId xmlns:a16="http://schemas.microsoft.com/office/drawing/2014/main" id="{A7056154-D46D-46DD-BEC1-39F39503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81475"/>
            <a:ext cx="838200" cy="1714500"/>
          </a:xfrm>
          <a:custGeom xmlns:a="http://schemas.openxmlformats.org/drawingml/2006/main">
            <a:pathLst>
              <a:path w="838200" h="1714500">
                <a:moveTo>
                  <a:pt x="0" y="0"/>
                </a:moveTo>
                <a:cubicBezTo>
                  <a:pt x="409575" y="0"/>
                  <a:pt x="409575" y="9525"/>
                  <a:pt x="409575" y="133350"/>
                </a:cubicBezTo>
                <a:lnTo>
                  <a:pt x="409575" y="714375"/>
                </a:lnTo>
                <a:cubicBezTo>
                  <a:pt x="409575" y="819150"/>
                  <a:pt x="685800" y="828675"/>
                  <a:pt x="838200" y="828675"/>
                </a:cubicBezTo>
                <a:cubicBezTo>
                  <a:pt x="685800" y="828675"/>
                  <a:pt x="409575" y="847725"/>
                  <a:pt x="409575" y="962025"/>
                </a:cubicBezTo>
                <a:lnTo>
                  <a:pt x="409575" y="1581150"/>
                </a:lnTo>
                <a:cubicBezTo>
                  <a:pt x="409575" y="1704975"/>
                  <a:pt x="409575" y="1714500"/>
                  <a:pt x="0" y="1714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6C8C"/>
            </a:solidFill>
            <a:prstDash val="solid"/>
          </a:ln>
        </p:spPr>
      </p:sp>
      <p:cxnSp>
        <p:nvCxnSpPr>
          <p:cNvPr id="53" name="Retrieval to LLM review">
            <a:extLst xmlns:a="http://schemas.openxmlformats.org/drawingml/2006/main">
              <a:ext uri="{FF2B5EF4-FFF2-40B4-BE49-F238E27FC236}">
                <a16:creationId xmlns:a16="http://schemas.microsoft.com/office/drawing/2014/main" id="{64C5D18C-49F1-4973-8FC0-A2B97C939F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43550" y="4895850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6C8C"/>
            </a:solidFill>
            <a:prstDash val="solid"/>
            <a:tailEnd type="triangle" w="med" len="med"/>
          </a:ln>
        </p:spPr>
      </p:cxnSp>
      <p:sp>
        <p:nvSpPr>
          <p:cNvPr id="54" name="Interactive LLM review title">
            <a:extLst xmlns:a="http://schemas.openxmlformats.org/drawingml/2006/main">
              <a:ext uri="{FF2B5EF4-FFF2-40B4-BE49-F238E27FC236}">
                <a16:creationId xmlns:a16="http://schemas.microsoft.com/office/drawing/2014/main" id="{8DF79D6F-C714-49BD-867A-0D3F4AE8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4076700"/>
            <a:ext cx="276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Interactive LLM Review</a:t>
            </a:r>
          </a:p>
        </p:txBody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35BBAD-0AFF-4197-8295-BA9B37A4B4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87eadccdb421e"/>
          <a:stretch xmlns:a="http://schemas.openxmlformats.org/drawingml/2006/main"/>
        </p:blipFill>
        <p:spPr>
          <a:xfrm xmlns:a="http://schemas.openxmlformats.org/drawingml/2006/main">
            <a:off x="6694720" y="4533900"/>
            <a:ext cx="917111" cy="828675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179126-3B49-449E-9D86-829564DDC1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5a6f3c47c4dfc"/>
          <a:stretch xmlns:a="http://schemas.openxmlformats.org/drawingml/2006/main"/>
        </p:blipFill>
        <p:spPr>
          <a:xfrm xmlns:a="http://schemas.openxmlformats.org/drawingml/2006/main">
            <a:off x="7197770" y="4352925"/>
            <a:ext cx="368209" cy="419100"/>
          </a:xfrm>
          <a:prstGeom xmlns:a="http://schemas.openxmlformats.org/drawingml/2006/main" prst="rect">
            <a:avLst/>
          </a:prstGeom>
        </p:spPr>
      </p:pic>
      <p:sp>
        <p:nvSpPr>
          <p:cNvPr id="57" name="LLM review description">
            <a:extLst xmlns:a="http://schemas.openxmlformats.org/drawingml/2006/main">
              <a:ext uri="{FF2B5EF4-FFF2-40B4-BE49-F238E27FC236}">
                <a16:creationId xmlns:a16="http://schemas.microsoft.com/office/drawing/2014/main" id="{26423237-2D6E-4EA2-A73C-A93AB8CD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006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Validate and Improve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Semantic Relevance</a:t>
            </a:r>
          </a:p>
        </p:txBody>
      </p:sp>
      <p:cxnSp>
        <p:nvCxnSpPr>
          <p:cNvPr id="58" name="LLM review to decision">
            <a:extLst xmlns:a="http://schemas.openxmlformats.org/drawingml/2006/main">
              <a:ext uri="{FF2B5EF4-FFF2-40B4-BE49-F238E27FC236}">
                <a16:creationId xmlns:a16="http://schemas.microsoft.com/office/drawing/2014/main" id="{7B4D5439-9786-4D89-A3F6-344E38CA6C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62875" y="4895850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6C8C"/>
            </a:solidFill>
            <a:prstDash val="solid"/>
            <a:tailEnd type="triangle" w="med" len="med"/>
          </a:ln>
        </p:spPr>
      </p:cxn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800D91-D5E9-48A5-9F9F-93CE87BC6D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e3c2e208d4614"/>
          <a:stretch xmlns:a="http://schemas.openxmlformats.org/drawingml/2006/main"/>
        </p:blipFill>
        <p:spPr>
          <a:xfrm xmlns:a="http://schemas.openxmlformats.org/drawingml/2006/main">
            <a:off x="9170092" y="4257675"/>
            <a:ext cx="652667" cy="1009650"/>
          </a:xfrm>
          <a:prstGeom xmlns:a="http://schemas.openxmlformats.org/drawingml/2006/main" prst="rect">
            <a:avLst/>
          </a:prstGeom>
        </p:spPr>
      </p:pic>
      <p:grpSp>
        <p:nvGrpSpPr>
          <p:cNvPr id="130" name="Review rejection"/>
          <p:cNvGrpSpPr/>
          <p:nvPr/>
        </p:nvGrpSpPr>
        <p:grpSpPr>
          <ns1:xfrm xmlns:ns1="http://schemas.openxmlformats.org/drawingml/2006/main">
            <ns1:off x="8896350" y="4895850"/>
            <ns1:ext cx="542925" cy="619125"/>
            <ns1:chOff x="8896350" y="4895850"/>
            <ns1:chExt cx="542925" cy="619125"/>
          </ns1:xfrm>
        </p:grpSpPr>
        <p:sp>
          <p:nvSpPr>
            <p:cNvPr id="60" name="Review no result">
              <a:extLst xmlns:a="http://schemas.openxmlformats.org/drawingml/2006/main">
                <a:ext uri="{FF2B5EF4-FFF2-40B4-BE49-F238E27FC236}">
                  <a16:creationId xmlns:a16="http://schemas.microsoft.com/office/drawing/2014/main" id="{FD7D73E7-3A06-45BF-9F7C-01A5B03850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96350" y="4953000"/>
              <a:ext cx="542925" cy="5429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5A78"/>
            </a:solidFill>
            <a:ln xmlns:a="http://schemas.openxmlformats.org/drawingml/2006/main" w="19050">
              <a:solidFill>
                <a:srgbClr val="FFFFFF"/>
              </a:solidFill>
              <a:prstDash val="solid"/>
            </a:ln>
          </p:spPr>
        </p:sp>
        <p:sp>
          <p:nvSpPr>
            <p:cNvPr id="61" name="Review no symbol">
              <a:extLst xmlns:a="http://schemas.openxmlformats.org/drawingml/2006/main">
                <a:ext uri="{FF2B5EF4-FFF2-40B4-BE49-F238E27FC236}">
                  <a16:creationId xmlns:a16="http://schemas.microsoft.com/office/drawing/2014/main" id="{B0A76C63-5D2B-4452-A91A-8F5A88253B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96350" y="4895850"/>
              <a:ext cx="542925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3525" b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</p:grpSp>
      <p:grpSp>
        <p:nvGrpSpPr>
          <p:cNvPr id="131" name="Review approval"/>
          <p:cNvGrpSpPr/>
          <p:nvPr/>
        </p:nvGrpSpPr>
        <p:grpSpPr>
          <ns1:xfrm xmlns:ns1="http://schemas.openxmlformats.org/drawingml/2006/main">
            <ns1:off x="9563100" y="4943475"/>
            <ns1:ext cx="542925" cy="552450"/>
            <ns1:chOff x="9563100" y="4943475"/>
            <ns1:chExt cx="542925" cy="552450"/>
          </ns1:xfrm>
        </p:grpSpPr>
        <p:sp>
          <p:nvSpPr>
            <p:cNvPr id="62" name="Review yes result">
              <a:extLst xmlns:a="http://schemas.openxmlformats.org/drawingml/2006/main">
                <a:ext uri="{FF2B5EF4-FFF2-40B4-BE49-F238E27FC236}">
                  <a16:creationId xmlns:a16="http://schemas.microsoft.com/office/drawing/2014/main" id="{FF385C3C-F44F-44ED-B990-D0FA47B35B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63100" y="4953000"/>
              <a:ext cx="542925" cy="5429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00BEA0"/>
            </a:solidFill>
            <a:ln xmlns:a="http://schemas.openxmlformats.org/drawingml/2006/main" w="19050">
              <a:solidFill>
                <a:srgbClr val="FFFFFF"/>
              </a:solidFill>
              <a:prstDash val="solid"/>
            </a:ln>
          </p:spPr>
        </p:sp>
        <p:sp>
          <p:nvSpPr>
            <p:cNvPr id="63" name="Review yes symbol">
              <a:extLst xmlns:a="http://schemas.openxmlformats.org/drawingml/2006/main">
                <a:ext uri="{FF2B5EF4-FFF2-40B4-BE49-F238E27FC236}">
                  <a16:creationId xmlns:a16="http://schemas.microsoft.com/office/drawing/2014/main" id="{8D22BBA4-871B-4CB8-ACBD-60D60E9D2A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4943475"/>
              <a:ext cx="523875" cy="552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2850" b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</p:grpSp>
      <p:sp>
        <p:nvSpPr>
          <p:cNvPr id="64" name="Stop exploration strategy">
            <a:extLst xmlns:a="http://schemas.openxmlformats.org/drawingml/2006/main">
              <a:ext uri="{FF2B5EF4-FFF2-40B4-BE49-F238E27FC236}">
                <a16:creationId xmlns:a16="http://schemas.microsoft.com/office/drawing/2014/main" id="{A1403AD6-0E61-4D5F-91A7-C32FA0D1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43425"/>
            <a:ext cx="2047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Stop-Exploration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Strategy</a:t>
            </a:r>
          </a:p>
        </p:txBody>
      </p:sp>
      <p:sp>
        <p:nvSpPr>
          <p:cNvPr id="65" name="Strategy criteria brace">
            <a:extLst xmlns:a="http://schemas.openxmlformats.org/drawingml/2006/main">
              <a:ext uri="{FF2B5EF4-FFF2-40B4-BE49-F238E27FC236}">
                <a16:creationId xmlns:a16="http://schemas.microsoft.com/office/drawing/2014/main" id="{F595CC44-6212-49B7-BE7E-231078B2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600575"/>
            <a:ext cx="657225" cy="628650"/>
          </a:xfrm>
          <a:custGeom xmlns:a="http://schemas.openxmlformats.org/drawingml/2006/main">
            <a:pathLst>
              <a:path w="657225" h="628650">
                <a:moveTo>
                  <a:pt x="657225" y="0"/>
                </a:moveTo>
                <a:cubicBezTo>
                  <a:pt x="381000" y="0"/>
                  <a:pt x="333375" y="28575"/>
                  <a:pt x="333375" y="95250"/>
                </a:cubicBezTo>
                <a:lnTo>
                  <a:pt x="333375" y="219075"/>
                </a:lnTo>
                <a:cubicBezTo>
                  <a:pt x="333375" y="285750"/>
                  <a:pt x="161925" y="304800"/>
                  <a:pt x="0" y="304800"/>
                </a:cubicBezTo>
                <a:cubicBezTo>
                  <a:pt x="161925" y="304800"/>
                  <a:pt x="333375" y="333375"/>
                  <a:pt x="333375" y="400050"/>
                </a:cubicBezTo>
                <a:lnTo>
                  <a:pt x="333375" y="533400"/>
                </a:lnTo>
                <a:cubicBezTo>
                  <a:pt x="333375" y="600075"/>
                  <a:pt x="381000" y="628650"/>
                  <a:pt x="657225" y="6286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6C8C"/>
            </a:solidFill>
            <a:prstDash val="solid"/>
          </a:ln>
        </p:spPr>
      </p:sp>
      <p:sp>
        <p:nvSpPr>
          <p:cNvPr id="66" name="Knowledge coverage criterion">
            <a:extLst xmlns:a="http://schemas.openxmlformats.org/drawingml/2006/main">
              <a:ext uri="{FF2B5EF4-FFF2-40B4-BE49-F238E27FC236}">
                <a16:creationId xmlns:a16="http://schemas.microsoft.com/office/drawing/2014/main" id="{69686B2F-D8FD-4CE9-868A-64A8405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410075"/>
            <a:ext cx="119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5473"/>
                </a:solidFill>
                <a:latin typeface="Arial"/>
                <a:ea typeface="Arial"/>
                <a:cs typeface="Arial"/>
              </a:rPr>
              <a:t>Knowledge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5473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67" name="Computational overhead criterion">
            <a:extLst xmlns:a="http://schemas.openxmlformats.org/drawingml/2006/main">
              <a:ext uri="{FF2B5EF4-FFF2-40B4-BE49-F238E27FC236}">
                <a16:creationId xmlns:a16="http://schemas.microsoft.com/office/drawing/2014/main" id="{56648084-7329-4B63-A550-31C898FF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905375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5473"/>
                </a:solidFill>
                <a:latin typeface="Arial"/>
                <a:ea typeface="Arial"/>
                <a:cs typeface="Arial"/>
              </a:rPr>
              <a:t>Computational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754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5473"/>
                </a:solidFill>
                <a:latin typeface="Arial"/>
                <a:ea typeface="Arial"/>
                <a:cs typeface="Arial"/>
              </a:rPr>
              <a:t>Overhead</a:t>
            </a:r>
          </a:p>
        </p:txBody>
      </p:sp>
      <p:cxnSp>
        <p:nvCxnSpPr>
          <p:cNvPr id="68" name="Retrieval-success branch rise">
            <a:extLst xmlns:a="http://schemas.openxmlformats.org/drawingml/2006/main">
              <a:ext uri="{FF2B5EF4-FFF2-40B4-BE49-F238E27FC236}">
                <a16:creationId xmlns:a16="http://schemas.microsoft.com/office/drawing/2014/main" id="{FD128D6C-1BB5-4BA0-87A7-C89F48CFCF1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515475" y="40195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BEA0"/>
            </a:solidFill>
            <a:prstDash val="solid"/>
            <a:tailEnd type="none" w="med" len="med"/>
          </a:ln>
        </p:spPr>
      </p:cxnSp>
      <p:cxnSp>
        <p:nvCxnSpPr>
          <p:cNvPr id="69" name="Retrieval-success branch arrow">
            <a:extLst xmlns:a="http://schemas.openxmlformats.org/drawingml/2006/main">
              <a:ext uri="{FF2B5EF4-FFF2-40B4-BE49-F238E27FC236}">
                <a16:creationId xmlns:a16="http://schemas.microsoft.com/office/drawing/2014/main" id="{92BBDD61-9122-4F0D-A10E-E0F8AED1260A}"/>
              </a:ext>
            </a:extLst>
          </p:cNvPr>
          <p:cNvCxnSpPr>
            <ns0:endCxn xmlns:ns0="http://schemas.openxmlformats.org/drawingml/2006/main" id="70" idx="1"/>
          </p:cNvCxnSpPr>
          <p:nvPr/>
        </p:nvCxnSpPr>
        <p:spPr>
          <a:xfrm xmlns:a="http://schemas.openxmlformats.org/drawingml/2006/main" flipH="0" flipV="0">
            <a:off x="9515475" y="4019550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BEA0"/>
            </a:solidFill>
            <a:prstDash val="solid"/>
            <a:tailEnd type="triangle" w="med" len="med"/>
          </a:ln>
        </p:spPr>
      </p:cxnSp>
      <p:grpSp>
        <p:nvGrpSpPr>
          <p:cNvPr id="128" name="Retrieval results"/>
          <p:cNvGrpSpPr/>
          <p:nvPr/>
        </p:nvGrpSpPr>
        <p:grpSpPr>
          <ns1:xfrm xmlns:ns1="http://schemas.openxmlformats.org/drawingml/2006/main">
            <ns1:off x="10744200" y="3714750"/>
            <ns1:ext cx="1914525" cy="762000"/>
            <ns1:chOff x="10744200" y="3714750"/>
            <ns1:chExt cx="1914525" cy="762000"/>
          </ns1:xfrm>
        </p:grpSpPr>
        <p:sp>
          <p:nvSpPr>
            <p:cNvPr id="70" name="Retrieval results box">
              <a:extLst xmlns:a="http://schemas.openxmlformats.org/drawingml/2006/main">
                <a:ext uri="{FF2B5EF4-FFF2-40B4-BE49-F238E27FC236}">
                  <a16:creationId xmlns:a16="http://schemas.microsoft.com/office/drawing/2014/main" id="{B74D605B-0FF8-41FC-A3C9-2EC384F33C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44200" y="3714750"/>
              <a:ext cx="1914525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00BEA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71" name="Retrieval results text">
              <a:extLst xmlns:a="http://schemas.openxmlformats.org/drawingml/2006/main">
                <a:ext uri="{FF2B5EF4-FFF2-40B4-BE49-F238E27FC236}">
                  <a16:creationId xmlns:a16="http://schemas.microsoft.com/office/drawing/2014/main" id="{DC5F9E31-55CE-44E7-BF42-3E90258426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68025" y="3810000"/>
              <a:ext cx="1666875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Retrieval</a:t>
              </a:r>
            </a:p>
            <a:p xmlns:a="http://schemas.openxmlformats.org/drawingml/2006/main">
              <a: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Results</a:t>
              </a:r>
            </a:p>
          </p:txBody>
        </p:sp>
      </p:grpSp>
      <p:cxnSp>
        <p:nvCxnSpPr>
          <p:cNvPr id="72" name="Continue-search branch drop">
            <a:extLst xmlns:a="http://schemas.openxmlformats.org/drawingml/2006/main">
              <a:ext uri="{FF2B5EF4-FFF2-40B4-BE49-F238E27FC236}">
                <a16:creationId xmlns:a16="http://schemas.microsoft.com/office/drawing/2014/main" id="{0F0FEEC8-B9FA-4F90-8CD9-446AA6BBFA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15475" y="54673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5A78"/>
            </a:solidFill>
            <a:prstDash val="solid"/>
            <a:tailEnd type="none" w="med" len="med"/>
          </a:ln>
        </p:spPr>
      </p:cxnSp>
      <p:cxnSp>
        <p:nvCxnSpPr>
          <p:cNvPr id="73" name="Continue-search branch arrow">
            <a:extLst xmlns:a="http://schemas.openxmlformats.org/drawingml/2006/main">
              <a:ext uri="{FF2B5EF4-FFF2-40B4-BE49-F238E27FC236}">
                <a16:creationId xmlns:a16="http://schemas.microsoft.com/office/drawing/2014/main" id="{0BEA02F5-50CF-44F2-A0C9-23E7E7C9B012}"/>
              </a:ext>
            </a:extLst>
          </p:cNvPr>
          <p:cNvCxnSpPr>
            <ns1:endCxn xmlns:ns1="http://schemas.openxmlformats.org/drawingml/2006/main" id="74" idx="1"/>
          </p:cNvCxnSpPr>
          <p:nvPr/>
        </p:nvCxnSpPr>
        <p:spPr>
          <a:xfrm xmlns:a="http://schemas.openxmlformats.org/drawingml/2006/main" flipH="0" flipV="0">
            <a:off x="9515475" y="5724525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5A78"/>
            </a:solidFill>
            <a:prstDash val="solid"/>
            <a:tailEnd type="triangle" w="med" len="med"/>
          </a:ln>
        </p:spPr>
      </p:cxnSp>
      <p:grpSp>
        <p:nvGrpSpPr>
          <p:cNvPr id="129" name="Continue search"/>
          <p:cNvGrpSpPr/>
          <p:nvPr/>
        </p:nvGrpSpPr>
        <p:grpSpPr>
          <ns1:xfrm xmlns:ns1="http://schemas.openxmlformats.org/drawingml/2006/main">
            <ns1:off x="10744200" y="5334000"/>
            <ns1:ext cx="1914525" cy="819150"/>
            <ns1:chOff x="10744200" y="5334000"/>
            <ns1:chExt cx="1914525" cy="819150"/>
          </ns1:xfrm>
        </p:grpSpPr>
        <p:sp>
          <p:nvSpPr>
            <p:cNvPr id="74" name="Continue search box">
              <a:extLst xmlns:a="http://schemas.openxmlformats.org/drawingml/2006/main">
                <a:ext uri="{FF2B5EF4-FFF2-40B4-BE49-F238E27FC236}">
                  <a16:creationId xmlns:a16="http://schemas.microsoft.com/office/drawing/2014/main" id="{518DBDC3-E3A0-4A0B-832B-D642936450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44200" y="5334000"/>
              <a:ext cx="1914525" cy="819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5A7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75" name="Continue search text">
              <a:extLst xmlns:a="http://schemas.openxmlformats.org/drawingml/2006/main">
                <a:ext uri="{FF2B5EF4-FFF2-40B4-BE49-F238E27FC236}">
                  <a16:creationId xmlns:a16="http://schemas.microsoft.com/office/drawing/2014/main" id="{019E4939-28F7-47F5-BDA7-AE2BEF5B6F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68025" y="5467350"/>
              <a:ext cx="1666875" cy="533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Continue</a:t>
              </a:r>
            </a:p>
            <a:p xmlns:a="http://schemas.openxmlformats.org/drawingml/2006/main">
              <a:pPr algn="ctr">
                <a:buNone/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Search</a:t>
              </a:r>
            </a:p>
          </p:txBody>
        </p:sp>
      </p:grpSp>
      <p:sp>
        <p:nvSpPr>
          <p:cNvPr id="76" name="Retriever explanatory paragraph">
            <a:extLst xmlns:a="http://schemas.openxmlformats.org/drawingml/2006/main">
              <a:ext uri="{FF2B5EF4-FFF2-40B4-BE49-F238E27FC236}">
                <a16:creationId xmlns:a16="http://schemas.microsoft.com/office/drawing/2014/main" id="{0017DCFD-EA23-43E0-8FF1-75CBE505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724275"/>
            <a:ext cx="30003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The Intelligent Retriever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dynamically queries the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knowledge bases for cross-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modal information, refines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results via LLM review,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utilizes a stop-exploration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strategy to optimize retrieval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efficiency and semantic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relevance.</a:t>
            </a:r>
          </a:p>
        </p:txBody>
      </p:sp>
      <p:cxnSp>
        <p:nvCxnSpPr>
          <p:cNvPr id="77" name="Knowledge layer divider">
            <a:extLst xmlns:a="http://schemas.openxmlformats.org/drawingml/2006/main">
              <a:ext uri="{FF2B5EF4-FFF2-40B4-BE49-F238E27FC236}">
                <a16:creationId xmlns:a16="http://schemas.microsoft.com/office/drawing/2014/main" id="{4DD6E0EA-5676-403C-931A-F41C1CF1BB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6225" y="6267450"/>
            <a:ext cx="16611600" cy="0"/>
          </a:xfrm>
          <a:prstGeom xmlns:a="http://schemas.openxmlformats.org/drawingml/2006/main" prst="straightConnector1">
            <a:avLst/>
          </a:prstGeom>
          <a:ln xmlns:a="http://schemas.openxmlformats.org/drawingml/2006/main" w="32385">
            <a:solidFill>
              <a:srgbClr val="111111"/>
            </a:solidFill>
            <a:prstDash val="dash"/>
            <a:tailEnd type="none" w="med" len="med"/>
          </a:ln>
        </p:spPr>
      </p:cxnSp>
      <p:cxnSp>
        <p:nvCxnSpPr>
          <p:cNvPr id="78" name="Knowledge bottom border">
            <a:extLst xmlns:a="http://schemas.openxmlformats.org/drawingml/2006/main">
              <a:ext uri="{FF2B5EF4-FFF2-40B4-BE49-F238E27FC236}">
                <a16:creationId xmlns:a16="http://schemas.microsoft.com/office/drawing/2014/main" id="{78FDA007-CB89-42A1-A0B7-2D71268189E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" y="9525000"/>
            <a:ext cx="16887825" cy="0"/>
          </a:xfrm>
          <a:prstGeom xmlns:a="http://schemas.openxmlformats.org/drawingml/2006/main" prst="straightConnector1">
            <a:avLst/>
          </a:prstGeom>
          <a:ln xmlns:a="http://schemas.openxmlformats.org/drawingml/2006/main" w="32385">
            <a:solidFill>
              <a:srgbClr val="111111"/>
            </a:solidFill>
            <a:prstDash val="dash"/>
            <a:tailEnd type="none" w="med" len="med"/>
          </a:ln>
        </p:spPr>
      </p:cxnSp>
      <p:cxnSp>
        <p:nvCxnSpPr>
          <p:cNvPr id="79" name="Domain/task knowledge divider">
            <a:extLst xmlns:a="http://schemas.openxmlformats.org/drawingml/2006/main">
              <a:ext uri="{FF2B5EF4-FFF2-40B4-BE49-F238E27FC236}">
                <a16:creationId xmlns:a16="http://schemas.microsoft.com/office/drawing/2014/main" id="{D4466EF8-CADF-4F7C-94C2-40C3A17DA3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14900" y="6229350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11111"/>
            </a:solidFill>
            <a:prstDash val="dash"/>
            <a:tailEnd type="none" w="med" len="med"/>
          </a:ln>
        </p:spPr>
      </p:cxnSp>
      <p:cxnSp>
        <p:nvCxnSpPr>
          <p:cNvPr id="80" name="Task/environment knowledge divider">
            <a:extLst xmlns:a="http://schemas.openxmlformats.org/drawingml/2006/main">
              <a:ext uri="{FF2B5EF4-FFF2-40B4-BE49-F238E27FC236}">
                <a16:creationId xmlns:a16="http://schemas.microsoft.com/office/drawing/2014/main" id="{0E144E6D-0D56-4DB3-9482-2D6EAA69B3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115425" y="6229350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11111"/>
            </a:solidFill>
            <a:prstDash val="dash"/>
            <a:tailEnd type="none" w="med" len="med"/>
          </a:ln>
        </p:spPr>
      </p:cxnSp>
      <p:cxnSp>
        <p:nvCxnSpPr>
          <p:cNvPr id="81" name="Environment/history knowledge divider">
            <a:extLst xmlns:a="http://schemas.openxmlformats.org/drawingml/2006/main">
              <a:ext uri="{FF2B5EF4-FFF2-40B4-BE49-F238E27FC236}">
                <a16:creationId xmlns:a16="http://schemas.microsoft.com/office/drawing/2014/main" id="{796D37B5-19B1-4C4C-8324-C33F340F41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239750" y="6229350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11111"/>
            </a:solidFill>
            <a:prstDash val="dash"/>
            <a:tailEnd type="none" w="med" len="med"/>
          </a:ln>
        </p:spPr>
      </p:cxnSp>
      <p:grpSp>
        <p:nvGrpSpPr>
          <p:cNvPr id="132" name="Knowledge heading"/>
          <p:cNvGrpSpPr/>
          <p:nvPr/>
        </p:nvGrpSpPr>
        <p:grpSpPr>
          <ns1:xfrm xmlns:ns1="http://schemas.openxmlformats.org/drawingml/2006/main">
            <ns1:off x="6562725" y="5972175"/>
            <ns1:ext cx="3324225" cy="590550"/>
            <ns1:chOff x="6562725" y="5972175"/>
            <ns1:chExt cx="3324225" cy="590550"/>
          </ns1:xfrm>
        </p:grpSpPr>
        <p:sp>
          <p:nvSpPr>
            <p:cNvPr id="82" name="Knowledge bases title background">
              <a:extLst xmlns:a="http://schemas.openxmlformats.org/drawingml/2006/main">
                <a:ext uri="{FF2B5EF4-FFF2-40B4-BE49-F238E27FC236}">
                  <a16:creationId xmlns:a16="http://schemas.microsoft.com/office/drawing/2014/main" id="{183D969F-CA69-4C2F-B8DA-1D1760A322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62725" y="5972175"/>
              <a:ext cx="3324225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AE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83" name="Knowledge bases title">
              <a:extLst xmlns:a="http://schemas.openxmlformats.org/drawingml/2006/main">
                <a:ext uri="{FF2B5EF4-FFF2-40B4-BE49-F238E27FC236}">
                  <a16:creationId xmlns:a16="http://schemas.microsoft.com/office/drawing/2014/main" id="{A4371B05-C2F7-4217-A3BF-035C9D08CD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57975" y="6048375"/>
              <a:ext cx="3133725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Knowledge Bases</a:t>
              </a:r>
            </a:p>
          </p:txBody>
        </p:sp>
      </p:grpSp>
      <p:cxnSp>
        <p:nvCxnSpPr>
          <p:cNvPr id="84" name="Knowledge retrieval upward arrow">
            <a:extLst xmlns:a="http://schemas.openxmlformats.org/drawingml/2006/main">
              <a:ext uri="{FF2B5EF4-FFF2-40B4-BE49-F238E27FC236}">
                <a16:creationId xmlns:a16="http://schemas.microsoft.com/office/drawing/2014/main" id="{1CEB2CDA-4D4B-4864-AEA7-502734D8E09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181475" y="58959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19C9E7"/>
            </a:solidFill>
            <a:prstDash val="solid"/>
            <a:tailEnd type="triangle" w="med" len="med"/>
          </a:ln>
        </p:spPr>
      </p:cxnSp>
      <p:cxnSp>
        <p:nvCxnSpPr>
          <p:cNvPr id="85" name="Knowledge retrieval downward arrow">
            <a:extLst xmlns:a="http://schemas.openxmlformats.org/drawingml/2006/main">
              <a:ext uri="{FF2B5EF4-FFF2-40B4-BE49-F238E27FC236}">
                <a16:creationId xmlns:a16="http://schemas.microsoft.com/office/drawing/2014/main" id="{CE3FE88E-36D0-44D9-BEB7-6781A1A118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81450" y="59245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FA8958"/>
            </a:solidFill>
            <a:prstDash val="solid"/>
            <a:tailEnd type="triangle" w="med" len="med"/>
          </a:ln>
        </p:spPr>
      </p:cxn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7AF493B-71DA-4AA2-A227-6383FBBCC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c7263bfef4097"/>
          <a:stretch xmlns:a="http://schemas.openxmlformats.org/drawingml/2006/main"/>
        </p:blipFill>
        <p:spPr>
          <a:xfrm xmlns:a="http://schemas.openxmlformats.org/drawingml/2006/main">
            <a:off x="666750" y="6337799"/>
            <a:ext cx="657225" cy="507002"/>
          </a:xfrm>
          <a:prstGeom xmlns:a="http://schemas.openxmlformats.org/drawingml/2006/main" prst="rect">
            <a:avLst/>
          </a:prstGeom>
        </p:spPr>
      </p:pic>
      <p:sp>
        <p:nvSpPr>
          <p:cNvPr id="87" name="Domain-specific knowledge heading">
            <a:extLst xmlns:a="http://schemas.openxmlformats.org/drawingml/2006/main">
              <a:ext uri="{FF2B5EF4-FFF2-40B4-BE49-F238E27FC236}">
                <a16:creationId xmlns:a16="http://schemas.microsoft.com/office/drawing/2014/main" id="{206BC302-F7BD-4A59-9CA3-6D16C7EC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45795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8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Domain-specific knowledge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C69BC51-7E4E-484B-BE2D-D4ECE9D04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b16f89ca644c8"/>
          <a:stretch xmlns:a="http://schemas.openxmlformats.org/drawingml/2006/main"/>
        </p:blipFill>
        <p:spPr>
          <a:xfrm xmlns:a="http://schemas.openxmlformats.org/drawingml/2006/main">
            <a:off x="892333" y="6943725"/>
            <a:ext cx="834710" cy="781050"/>
          </a:xfrm>
          <a:prstGeom xmlns:a="http://schemas.openxmlformats.org/drawingml/2006/main" prst="rect">
            <a:avLst/>
          </a:prstGeom>
        </p:spPr>
      </p:pic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824713-1F42-4CF5-91AC-6D6CF3AFD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036f234f447c7"/>
          <a:stretch xmlns:a="http://schemas.openxmlformats.org/drawingml/2006/main"/>
        </p:blipFill>
        <p:spPr>
          <a:xfrm xmlns:a="http://schemas.openxmlformats.org/drawingml/2006/main">
            <a:off x="2333625" y="6852882"/>
            <a:ext cx="866775" cy="905586"/>
          </a:xfrm>
          <a:prstGeom xmlns:a="http://schemas.openxmlformats.org/drawingml/2006/main" prst="rect">
            <a:avLst/>
          </a:prstGeom>
        </p:spPr>
      </p:pic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241BA07-3345-4701-A0A9-B97D824A9F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83e6167a14cd2"/>
          <a:stretch xmlns:a="http://schemas.openxmlformats.org/drawingml/2006/main"/>
        </p:blipFill>
        <p:spPr>
          <a:xfrm xmlns:a="http://schemas.openxmlformats.org/drawingml/2006/main">
            <a:off x="3702589" y="6867525"/>
            <a:ext cx="757748" cy="942975"/>
          </a:xfrm>
          <a:prstGeom xmlns:a="http://schemas.openxmlformats.org/drawingml/2006/main" prst="rect">
            <a:avLst/>
          </a:prstGeom>
        </p:spPr>
      </p:pic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057B63-3540-417A-B71E-75136941B4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3ccbe6a074554"/>
          <a:stretch xmlns:a="http://schemas.openxmlformats.org/drawingml/2006/main"/>
        </p:blipFill>
        <p:spPr>
          <a:xfrm xmlns:a="http://schemas.openxmlformats.org/drawingml/2006/main">
            <a:off x="2186974" y="7229475"/>
            <a:ext cx="464752" cy="514350"/>
          </a:xfrm>
          <a:prstGeom xmlns:a="http://schemas.openxmlformats.org/drawingml/2006/main" prst="rect">
            <a:avLst/>
          </a:prstGeom>
        </p:spPr>
      </p:pic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F2BF52A-1F93-4E1F-A6FA-603EE6E26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194586f134104"/>
          <a:stretch xmlns:a="http://schemas.openxmlformats.org/drawingml/2006/main"/>
        </p:blipFill>
        <p:spPr>
          <a:xfrm xmlns:a="http://schemas.openxmlformats.org/drawingml/2006/main">
            <a:off x="4362450" y="7337285"/>
            <a:ext cx="333375" cy="413031"/>
          </a:xfrm>
          <a:prstGeom xmlns:a="http://schemas.openxmlformats.org/drawingml/2006/main" prst="rect">
            <a:avLst/>
          </a:prstGeom>
        </p:spPr>
      </p:pic>
      <p:sp>
        <p:nvSpPr>
          <p:cNvPr id="93" name="Domain knowledge description">
            <a:extLst xmlns:a="http://schemas.openxmlformats.org/drawingml/2006/main">
              <a:ext uri="{FF2B5EF4-FFF2-40B4-BE49-F238E27FC236}">
                <a16:creationId xmlns:a16="http://schemas.microsoft.com/office/drawing/2014/main" id="{19D892BB-ACEC-4CEF-923B-5EAF3EF6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20025"/>
            <a:ext cx="4038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6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6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6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6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6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6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6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6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6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Contains adaptation methods and expert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knowledge specific to the target application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domain, such as patterns, rules, and best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practices.</a:t>
            </a:r>
          </a:p>
        </p:txBody>
      </p:sp>
      <p:sp>
        <p:nvSpPr>
          <p:cNvPr id="94" name="Domain knowledge examples">
            <a:extLst xmlns:a="http://schemas.openxmlformats.org/drawingml/2006/main">
              <a:ext uri="{FF2B5EF4-FFF2-40B4-BE49-F238E27FC236}">
                <a16:creationId xmlns:a16="http://schemas.microsoft.com/office/drawing/2014/main" id="{D04258B9-2E15-4422-AB86-E9DC3F11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43950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Examples: Medical diagnostic report, Molecular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structure map, Wild Animal Illustrations,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Introduction of attractions, Recent News</a:t>
            </a:r>
          </a:p>
        </p:txBody>
      </p:sp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D4A51C-2E39-4EA2-826F-05722736D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54dc3b2c436c"/>
          <a:stretch xmlns:a="http://schemas.openxmlformats.org/drawingml/2006/main"/>
        </p:blipFill>
        <p:spPr>
          <a:xfrm xmlns:a="http://schemas.openxmlformats.org/drawingml/2006/main">
            <a:off x="5067300" y="6321504"/>
            <a:ext cx="514350" cy="501491"/>
          </a:xfrm>
          <a:prstGeom xmlns:a="http://schemas.openxmlformats.org/drawingml/2006/main" prst="rect">
            <a:avLst/>
          </a:prstGeom>
        </p:spPr>
      </p:pic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E1CD709-AAE9-4AA3-81F5-AA9BFD0F26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c8684b1d14fd2"/>
          <a:stretch xmlns:a="http://schemas.openxmlformats.org/drawingml/2006/main"/>
        </p:blipFill>
        <p:spPr>
          <a:xfrm xmlns:a="http://schemas.openxmlformats.org/drawingml/2006/main">
            <a:off x="5144691" y="6524625"/>
            <a:ext cx="464344" cy="371475"/>
          </a:xfrm>
          <a:prstGeom xmlns:a="http://schemas.openxmlformats.org/drawingml/2006/main" prst="rect">
            <a:avLst/>
          </a:prstGeom>
        </p:spPr>
      </p:pic>
      <p:sp>
        <p:nvSpPr>
          <p:cNvPr id="97" name="Task-specific knowledge heading">
            <a:extLst xmlns:a="http://schemas.openxmlformats.org/drawingml/2006/main">
              <a:ext uri="{FF2B5EF4-FFF2-40B4-BE49-F238E27FC236}">
                <a16:creationId xmlns:a16="http://schemas.microsoft.com/office/drawing/2014/main" id="{5A48A8B9-70CF-49AC-8251-28147E78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57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8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Task-specific knowledge</a:t>
            </a:r>
          </a:p>
        </p:txBody>
      </p:sp>
      <p:sp>
        <p:nvSpPr>
          <p:cNvPr id="98" name="Task knowledge description">
            <a:extLst xmlns:a="http://schemas.openxmlformats.org/drawingml/2006/main">
              <a:ext uri="{FF2B5EF4-FFF2-40B4-BE49-F238E27FC236}">
                <a16:creationId xmlns:a16="http://schemas.microsoft.com/office/drawing/2014/main" id="{66DDE816-7C12-4F3C-9618-8A342BE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067550"/>
            <a:ext cx="3705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3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3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3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3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3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3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3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3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30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Focuses on knowledge related to processing,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encoding, transmitting, and decoding multi-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modal data according to the task.</a:t>
            </a:r>
          </a:p>
        </p:txBody>
      </p:sp>
      <p:sp>
        <p:nvSpPr>
          <p:cNvPr id="99" name="Task knowledge examples">
            <a:extLst xmlns:a="http://schemas.openxmlformats.org/drawingml/2006/main">
              <a:ext uri="{FF2B5EF4-FFF2-40B4-BE49-F238E27FC236}">
                <a16:creationId xmlns:a16="http://schemas.microsoft.com/office/drawing/2014/main" id="{FC8FB91D-6216-4F23-9454-E0E83475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886700"/>
            <a:ext cx="3705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30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Examples: Task Workflow, Task Priority,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Semantic Importance,</a:t>
            </a:r>
          </a:p>
        </p:txBody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D33CD4B-C5AD-4EC9-AC36-5626F57319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1e142d540429b"/>
          <a:stretch xmlns:a="http://schemas.openxmlformats.org/drawingml/2006/main"/>
        </p:blipFill>
        <p:spPr>
          <a:xfrm xmlns:a="http://schemas.openxmlformats.org/drawingml/2006/main">
            <a:off x="5454423" y="8420100"/>
            <a:ext cx="492579" cy="762000"/>
          </a:xfrm>
          <a:prstGeom xmlns:a="http://schemas.openxmlformats.org/drawingml/2006/main" prst="rect">
            <a:avLst/>
          </a:prstGeom>
        </p:spPr>
      </p:pic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89D79EC-B7BB-4B7E-A7F2-56E80CEDF6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4dd662f2a4ea4"/>
          <a:stretch xmlns:a="http://schemas.openxmlformats.org/drawingml/2006/main"/>
        </p:blipFill>
        <p:spPr>
          <a:xfrm xmlns:a="http://schemas.openxmlformats.org/drawingml/2006/main">
            <a:off x="6600825" y="8382000"/>
            <a:ext cx="800100" cy="800100"/>
          </a:xfrm>
          <a:prstGeom xmlns:a="http://schemas.openxmlformats.org/drawingml/2006/main" prst="rect">
            <a:avLst/>
          </a:prstGeom>
        </p:spPr>
      </p:pic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C29D856-DFAE-41FE-9FA4-4D655BDEC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f3d694c4e4f6f"/>
          <a:stretch xmlns:a="http://schemas.openxmlformats.org/drawingml/2006/main"/>
        </p:blipFill>
        <p:spPr>
          <a:xfrm xmlns:a="http://schemas.openxmlformats.org/drawingml/2006/main">
            <a:off x="7699058" y="8382000"/>
            <a:ext cx="765810" cy="800100"/>
          </a:xfrm>
          <a:prstGeom xmlns:a="http://schemas.openxmlformats.org/drawingml/2006/main" prst="rect">
            <a:avLst/>
          </a:prstGeom>
        </p:spPr>
      </p:pic>
      <p:grpSp>
        <p:nvGrpSpPr>
          <p:cNvPr id="133" name="Task rejection"/>
          <p:cNvGrpSpPr/>
          <p:nvPr/>
        </p:nvGrpSpPr>
        <p:grpSpPr>
          <ns1:xfrm xmlns:ns1="http://schemas.openxmlformats.org/drawingml/2006/main">
            <ns1:off x="7639050" y="8296275"/>
            <ns1:ext cx="323850" cy="342900"/>
            <ns1:chOff x="7639050" y="8296275"/>
            <ns1:chExt cx="323850" cy="342900"/>
          </ns1:xfrm>
        </p:grpSpPr>
        <p:sp>
          <p:nvSpPr>
            <p:cNvPr id="103" name="Task rejection badge">
              <a:extLst xmlns:a="http://schemas.openxmlformats.org/drawingml/2006/main">
                <a:ext uri="{FF2B5EF4-FFF2-40B4-BE49-F238E27FC236}">
                  <a16:creationId xmlns:a16="http://schemas.microsoft.com/office/drawing/2014/main" id="{D74A877D-BF12-4F9A-B50B-D2C45EB09F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39050" y="8315325"/>
              <a:ext cx="323850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5A7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04" name="Task rejection cross">
              <a:extLst xmlns:a="http://schemas.openxmlformats.org/drawingml/2006/main">
                <a:ext uri="{FF2B5EF4-FFF2-40B4-BE49-F238E27FC236}">
                  <a16:creationId xmlns:a16="http://schemas.microsoft.com/office/drawing/2014/main" id="{98296A45-B12F-471C-B234-002A8915C0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48575" y="8296275"/>
              <a:ext cx="314325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2250" b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</p:grpSp>
      <p:grpSp>
        <p:nvGrpSpPr>
          <p:cNvPr id="134" name="Task approval"/>
          <p:cNvGrpSpPr/>
          <p:nvPr/>
        </p:nvGrpSpPr>
        <p:grpSpPr>
          <ns1:xfrm xmlns:ns1="http://schemas.openxmlformats.org/drawingml/2006/main">
            <ns1:off x="8210550" y="8315325"/>
            <ns1:ext cx="323850" cy="323850"/>
            <ns1:chOff x="8210550" y="8315325"/>
            <ns1:chExt cx="323850" cy="323850"/>
          </ns1:xfrm>
        </p:grpSpPr>
        <p:sp>
          <p:nvSpPr>
            <p:cNvPr id="105" name="Task approval badge">
              <a:extLst xmlns:a="http://schemas.openxmlformats.org/drawingml/2006/main">
                <a:ext uri="{FF2B5EF4-FFF2-40B4-BE49-F238E27FC236}">
                  <a16:creationId xmlns:a16="http://schemas.microsoft.com/office/drawing/2014/main" id="{C42185CB-5F09-4DAC-9234-597C5365DA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10550" y="8315325"/>
              <a:ext cx="323850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00BEA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06" name="Task approval check">
              <a:extLst xmlns:a="http://schemas.openxmlformats.org/drawingml/2006/main">
                <a:ext uri="{FF2B5EF4-FFF2-40B4-BE49-F238E27FC236}">
                  <a16:creationId xmlns:a16="http://schemas.microsoft.com/office/drawing/2014/main" id="{8C533FC6-56C4-4986-AAD3-9D34EB9927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29600" y="8315325"/>
              <a:ext cx="2857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defPPr>
              <a:lvl1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buNone/>
                <a:def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875" b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</p:grp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4EF210-6DF8-48B7-92CE-D523B00C4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52ca9ffe244b8"/>
          <a:stretch xmlns:a="http://schemas.openxmlformats.org/drawingml/2006/main"/>
        </p:blipFill>
        <p:spPr>
          <a:xfrm xmlns:a="http://schemas.openxmlformats.org/drawingml/2006/main">
            <a:off x="9391650" y="63627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108" name="Environmental knowledge heading">
            <a:extLst xmlns:a="http://schemas.openxmlformats.org/drawingml/2006/main">
              <a:ext uri="{FF2B5EF4-FFF2-40B4-BE49-F238E27FC236}">
                <a16:creationId xmlns:a16="http://schemas.microsoft.com/office/drawing/2014/main" id="{F054A89D-D0B2-412E-9001-73F20F62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8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Environmental knowledge</a:t>
            </a:r>
          </a:p>
        </p:txBody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9A6DA34-3C5C-4C16-8999-7F7DD0845C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f8ce0c2cd4e38"/>
          <a:stretch xmlns:a="http://schemas.openxmlformats.org/drawingml/2006/main"/>
        </p:blipFill>
        <p:spPr>
          <a:xfrm xmlns:a="http://schemas.openxmlformats.org/drawingml/2006/main">
            <a:off x="9725144" y="6896100"/>
            <a:ext cx="704612" cy="733425"/>
          </a:xfrm>
          <a:prstGeom xmlns:a="http://schemas.openxmlformats.org/drawingml/2006/main" prst="rect">
            <a:avLst/>
          </a:prstGeom>
        </p:spPr>
      </p:pic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02D8F17-1950-4761-B98E-73B4AF9F8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dd8858e15473e"/>
          <a:stretch xmlns:a="http://schemas.openxmlformats.org/drawingml/2006/main"/>
        </p:blipFill>
        <p:spPr>
          <a:xfrm xmlns:a="http://schemas.openxmlformats.org/drawingml/2006/main">
            <a:off x="10668000" y="6938367"/>
            <a:ext cx="962025" cy="601266"/>
          </a:xfrm>
          <a:prstGeom xmlns:a="http://schemas.openxmlformats.org/drawingml/2006/main" prst="rect">
            <a:avLst/>
          </a:prstGeom>
        </p:spPr>
      </p:pic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FA83803-F5F1-4942-9FA9-D2205FF26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c36dfdb764fc1"/>
          <a:stretch xmlns:a="http://schemas.openxmlformats.org/drawingml/2006/main"/>
        </p:blipFill>
        <p:spPr>
          <a:xfrm xmlns:a="http://schemas.openxmlformats.org/drawingml/2006/main">
            <a:off x="11858625" y="7041747"/>
            <a:ext cx="962025" cy="470705"/>
          </a:xfrm>
          <a:prstGeom xmlns:a="http://schemas.openxmlformats.org/drawingml/2006/main" prst="rect">
            <a:avLst/>
          </a:prstGeom>
        </p:spPr>
      </p:pic>
      <p:sp>
        <p:nvSpPr>
          <p:cNvPr id="112" name="Environmental knowledge description">
            <a:extLst xmlns:a="http://schemas.openxmlformats.org/drawingml/2006/main">
              <a:ext uri="{FF2B5EF4-FFF2-40B4-BE49-F238E27FC236}">
                <a16:creationId xmlns:a16="http://schemas.microsoft.com/office/drawing/2014/main" id="{FE6DB304-0C3B-46C0-AFB2-F3EFFB9B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686675"/>
            <a:ext cx="3857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83C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63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63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63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63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63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63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63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63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63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83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83C5"/>
                </a:solidFill>
                <a:latin typeface="Arial"/>
                <a:ea typeface="Arial"/>
                <a:cs typeface="Arial"/>
              </a:rPr>
              <a:t>Information about the environment, including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83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83C5"/>
                </a:solidFill>
                <a:latin typeface="Arial"/>
                <a:ea typeface="Arial"/>
                <a:cs typeface="Arial"/>
              </a:rPr>
              <a:t>location related information, signal propagation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83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83C5"/>
                </a:solidFill>
                <a:latin typeface="Arial"/>
                <a:ea typeface="Arial"/>
                <a:cs typeface="Arial"/>
              </a:rPr>
              <a:t>channel conditions, and dynamic factors that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83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83C5"/>
                </a:solidFill>
                <a:latin typeface="Arial"/>
                <a:ea typeface="Arial"/>
                <a:cs typeface="Arial"/>
              </a:rPr>
              <a:t>can provide extra knowledge or influence the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83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83C5"/>
                </a:solidFill>
                <a:latin typeface="Arial"/>
                <a:ea typeface="Arial"/>
                <a:cs typeface="Arial"/>
              </a:rPr>
              <a:t>communication processes.</a:t>
            </a:r>
          </a:p>
        </p:txBody>
      </p:sp>
      <p:sp>
        <p:nvSpPr>
          <p:cNvPr id="113" name="Environmental knowledge examples">
            <a:extLst xmlns:a="http://schemas.openxmlformats.org/drawingml/2006/main">
              <a:ext uri="{FF2B5EF4-FFF2-40B4-BE49-F238E27FC236}">
                <a16:creationId xmlns:a16="http://schemas.microsoft.com/office/drawing/2014/main" id="{BF3A237F-434A-4ED7-ADC8-79925676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8943975"/>
            <a:ext cx="3857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63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63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63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63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63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63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63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63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63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Examples: Geographical and Spatial Data,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Channel Knowledge Maps, Mobility Patterns</a:t>
            </a:r>
          </a:p>
        </p:txBody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D59DAD3-E46B-4F1C-BB34-5830DEC379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f914955c240f2"/>
          <a:stretch xmlns:a="http://schemas.openxmlformats.org/drawingml/2006/main"/>
        </p:blipFill>
        <p:spPr>
          <a:xfrm xmlns:a="http://schemas.openxmlformats.org/drawingml/2006/main">
            <a:off x="13463502" y="6315075"/>
            <a:ext cx="400220" cy="619125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7E030F6-6599-45A6-9EEA-20EAB3826E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fcbd31be24749"/>
          <a:stretch xmlns:a="http://schemas.openxmlformats.org/drawingml/2006/main"/>
        </p:blipFill>
        <p:spPr>
          <a:xfrm xmlns:a="http://schemas.openxmlformats.org/drawingml/2006/main">
            <a:off x="13750868" y="6648450"/>
            <a:ext cx="196963" cy="285750"/>
          </a:xfrm>
          <a:prstGeom xmlns:a="http://schemas.openxmlformats.org/drawingml/2006/main" prst="rect">
            <a:avLst/>
          </a:prstGeom>
        </p:spPr>
      </p:pic>
      <p:sp>
        <p:nvSpPr>
          <p:cNvPr id="116" name="Historical experience heading">
            <a:extLst xmlns:a="http://schemas.openxmlformats.org/drawingml/2006/main">
              <a:ext uri="{FF2B5EF4-FFF2-40B4-BE49-F238E27FC236}">
                <a16:creationId xmlns:a16="http://schemas.microsoft.com/office/drawing/2014/main" id="{F1E1E6E4-30BB-40A8-B730-85ADB494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6457950"/>
            <a:ext cx="2886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8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Historical Experience</a:t>
            </a:r>
          </a:p>
        </p:txBody>
      </p:sp>
      <p:sp>
        <p:nvSpPr>
          <p:cNvPr id="117" name="Historical experience description">
            <a:extLst xmlns:a="http://schemas.openxmlformats.org/drawingml/2006/main">
              <a:ext uri="{FF2B5EF4-FFF2-40B4-BE49-F238E27FC236}">
                <a16:creationId xmlns:a16="http://schemas.microsoft.com/office/drawing/2014/main" id="{A37CE9D1-FED8-45E6-A667-A69FF1C4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7048500"/>
            <a:ext cx="3552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48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48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48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48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48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48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48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48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48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Knowledge accumulated from previously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completed communication sessions, acts as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a specialized cache, enabling the system to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BD"/>
                </a:solidFill>
                <a:latin typeface="Arial"/>
                <a:ea typeface="Arial"/>
                <a:cs typeface="Arial"/>
              </a:rPr>
              <a:t>reuse past data.</a:t>
            </a:r>
          </a:p>
        </p:txBody>
      </p:sp>
      <p:sp>
        <p:nvSpPr>
          <p:cNvPr id="118" name="Historical experience examples">
            <a:extLst xmlns:a="http://schemas.openxmlformats.org/drawingml/2006/main">
              <a:ext uri="{FF2B5EF4-FFF2-40B4-BE49-F238E27FC236}">
                <a16:creationId xmlns:a16="http://schemas.microsoft.com/office/drawing/2014/main" id="{9B0137C2-3AC6-44DD-9E06-8416238D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8048625"/>
            <a:ext cx="3552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48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48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48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48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48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48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48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48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48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Examples: Encoded Results, Semantic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Cache, Intermediate Outputs of GenAI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EE68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68D2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83E2792-4535-40FB-B0DB-22608282BC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41566a9304acb"/>
          <a:stretch xmlns:a="http://schemas.openxmlformats.org/drawingml/2006/main"/>
        </p:blipFill>
        <p:spPr>
          <a:xfrm xmlns:a="http://schemas.openxmlformats.org/drawingml/2006/main">
            <a:off x="13549313" y="8772525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F9EF089-FC85-48CB-92D5-A56AAA57E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b95dd978e4fa9"/>
          <a:stretch xmlns:a="http://schemas.openxmlformats.org/drawingml/2006/main"/>
        </p:blipFill>
        <p:spPr>
          <a:xfrm xmlns:a="http://schemas.openxmlformats.org/drawingml/2006/main">
            <a:off x="14601379" y="8724900"/>
            <a:ext cx="677168" cy="619125"/>
          </a:xfrm>
          <a:prstGeom xmlns:a="http://schemas.openxmlformats.org/drawingml/2006/main" prst="rect">
            <a:avLst/>
          </a:prstGeom>
        </p:spPr>
      </p:pic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734D5F0-B38C-466B-9FAD-A9F33A2D4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e0fa9f38249fa"/>
          <a:stretch xmlns:a="http://schemas.openxmlformats.org/drawingml/2006/main"/>
        </p:blipFill>
        <p:spPr>
          <a:xfrm xmlns:a="http://schemas.openxmlformats.org/drawingml/2006/main">
            <a:off x="15747288" y="8705850"/>
            <a:ext cx="804698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73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2026-10-22T15:39:35.9110000Z</dcterms:created>
  <dcterms:modified xsi:type="dcterms:W3CDTF">2026-10-22T15:39:35.9110000Z</dcterms:modified>
</coreProperties>
</file>